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257" r:id="rId5"/>
    <p:sldId id="283" r:id="rId6"/>
    <p:sldId id="258" r:id="rId7"/>
    <p:sldId id="266" r:id="rId8"/>
    <p:sldId id="267" r:id="rId9"/>
    <p:sldId id="269" r:id="rId10"/>
    <p:sldId id="270" r:id="rId11"/>
    <p:sldId id="282" r:id="rId12"/>
    <p:sldId id="281" r:id="rId13"/>
    <p:sldId id="271" r:id="rId14"/>
    <p:sldId id="272" r:id="rId15"/>
    <p:sldId id="274" r:id="rId16"/>
    <p:sldId id="273" r:id="rId17"/>
    <p:sldId id="275" r:id="rId18"/>
    <p:sldId id="276" r:id="rId19"/>
    <p:sldId id="285" r:id="rId20"/>
    <p:sldId id="284" r:id="rId21"/>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96DF0D-9FB4-E7B8-CB12-896773CA32FB}" name="LAU Yi Meng" initials="LM" userId="S::ymlau@smu.edu.sg::e79adfab-fcb3-4181-8bc0-9e7892d33c58" providerId="AD"/>
  <p188:author id="{3BE586B8-DE96-D439-EFF7-49CCE02CA80E}" name="Christopher Michael POSKITT" initials="CMP" userId="S::cposkitt@smu.edu.sg::4bd18c9c-05ca-44c7-aeca-cc78c750a4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B7942"/>
    <a:srgbClr val="997D4E"/>
    <a:srgbClr val="102B72"/>
    <a:srgbClr val="7030A0"/>
    <a:srgbClr val="00B050"/>
    <a:srgbClr val="D5A10F"/>
    <a:srgbClr val="E5AB11"/>
    <a:srgbClr val="9E7A43"/>
    <a:srgbClr val="637F8E"/>
    <a:srgbClr val="607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913291-89C0-85A1-C4CC-603639BB8B62}" v="99" dt="2026-10-25T17:06:21.253"/>
    <p1510:client id="{2C526B42-2572-7969-4B37-D57B9DE3D8C6}" v="3" dt="2026-10-26T08:34:45.444"/>
    <p1510:client id="{5B997F57-CE89-5D49-A47B-F8C5BA4E5442}" v="600" dt="2026-10-26T09:00:07.8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58"/>
    <p:restoredTop sz="94658"/>
  </p:normalViewPr>
  <p:slideViewPr>
    <p:cSldViewPr snapToGrid="0">
      <p:cViewPr varScale="1">
        <p:scale>
          <a:sx n="96" d="100"/>
          <a:sy n="96" d="100"/>
        </p:scale>
        <p:origin x="200" y="6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TAN Wei Han" userId="S::ivantan@smu.edu.sg::bcdc89b8-56cc-41dd-ba78-e55d4e5121a0" providerId="AD" clId="Web-{B27AD464-C249-7C21-401E-3715E34F184A}"/>
    <pc:docChg chg="modSld">
      <pc:chgData name="Ivan TAN Wei Han" userId="S::ivantan@smu.edu.sg::bcdc89b8-56cc-41dd-ba78-e55d4e5121a0" providerId="AD" clId="Web-{B27AD464-C249-7C21-401E-3715E34F184A}" dt="2026-10-24T20:40:45.859" v="122" actId="1076"/>
      <pc:docMkLst>
        <pc:docMk/>
      </pc:docMkLst>
      <pc:sldChg chg="modSp modCm">
        <pc:chgData name="Ivan TAN Wei Han" userId="S::ivantan@smu.edu.sg::bcdc89b8-56cc-41dd-ba78-e55d4e5121a0" providerId="AD" clId="Web-{B27AD464-C249-7C21-401E-3715E34F184A}" dt="2026-10-24T20:36:33.050" v="78" actId="1076"/>
        <pc:sldMkLst>
          <pc:docMk/>
          <pc:sldMk cId="2708235050" sldId="269"/>
        </pc:sldMkLst>
        <pc:spChg chg="mod">
          <ac:chgData name="Ivan TAN Wei Han" userId="S::ivantan@smu.edu.sg::bcdc89b8-56cc-41dd-ba78-e55d4e5121a0" providerId="AD" clId="Web-{B27AD464-C249-7C21-401E-3715E34F184A}" dt="2026-10-24T20:36:28.316" v="77" actId="20577"/>
          <ac:spMkLst>
            <pc:docMk/>
            <pc:sldMk cId="2708235050" sldId="269"/>
            <ac:spMk id="10" creationId="{52608CCB-5933-4B21-A305-5FE73D162E2B}"/>
          </ac:spMkLst>
        </pc:spChg>
        <pc:graphicFrameChg chg="mod modGraphic">
          <ac:chgData name="Ivan TAN Wei Han" userId="S::ivantan@smu.edu.sg::bcdc89b8-56cc-41dd-ba78-e55d4e5121a0" providerId="AD" clId="Web-{B27AD464-C249-7C21-401E-3715E34F184A}" dt="2026-10-24T20:36:33.050" v="78" actId="1076"/>
          <ac:graphicFrameMkLst>
            <pc:docMk/>
            <pc:sldMk cId="2708235050" sldId="269"/>
            <ac:graphicFrameMk id="2" creationId="{489BFAE8-521E-D3BA-48E5-CCB691E26288}"/>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B27AD464-C249-7C21-401E-3715E34F184A}" dt="2026-10-24T20:36:28.316" v="77" actId="20577"/>
              <pc2:cmMkLst xmlns:pc2="http://schemas.microsoft.com/office/powerpoint/2019/9/main/command">
                <pc:docMk/>
                <pc:sldMk cId="2708235050" sldId="269"/>
                <pc2:cmMk id="{315ED6E1-C3E2-4DDD-B428-3C50AB0D0467}"/>
              </pc2:cmMkLst>
            </pc226:cmChg>
          </p:ext>
        </pc:extLst>
      </pc:sldChg>
    </pc:docChg>
  </pc:docChgLst>
  <pc:docChgLst>
    <pc:chgData name="Ivan TAN Wei Han" userId="S::ivantan@smu.edu.sg::bcdc89b8-56cc-41dd-ba78-e55d4e5121a0" providerId="AD" clId="Web-{00000000-0000-0000-0000-000000000000}"/>
    <pc:docChg chg="delSld">
      <pc:chgData name="Ivan TAN Wei Han" userId="S::ivantan@smu.edu.sg::bcdc89b8-56cc-41dd-ba78-e55d4e5121a0" providerId="AD" clId="Web-{00000000-0000-0000-0000-000000000000}" dt="2026-10-25T07:26:32.648" v="9"/>
      <pc:docMkLst>
        <pc:docMk/>
      </pc:docMkLst>
      <pc:sldChg chg="del">
        <pc:chgData name="Ivan TAN Wei Han" userId="S::ivantan@smu.edu.sg::bcdc89b8-56cc-41dd-ba78-e55d4e5121a0" providerId="AD" clId="Web-{00000000-0000-0000-0000-000000000000}" dt="2026-10-25T07:25:58.991" v="0"/>
        <pc:sldMkLst>
          <pc:docMk/>
          <pc:sldMk cId="1501528402" sldId="259"/>
        </pc:sldMkLst>
      </pc:sldChg>
      <pc:sldChg chg="del">
        <pc:chgData name="Ivan TAN Wei Han" userId="S::ivantan@smu.edu.sg::bcdc89b8-56cc-41dd-ba78-e55d4e5121a0" providerId="AD" clId="Web-{00000000-0000-0000-0000-000000000000}" dt="2026-10-25T07:26:06.491" v="3"/>
        <pc:sldMkLst>
          <pc:docMk/>
          <pc:sldMk cId="3790706018" sldId="260"/>
        </pc:sldMkLst>
      </pc:sldChg>
      <pc:sldChg chg="del">
        <pc:chgData name="Ivan TAN Wei Han" userId="S::ivantan@smu.edu.sg::bcdc89b8-56cc-41dd-ba78-e55d4e5121a0" providerId="AD" clId="Web-{00000000-0000-0000-0000-000000000000}" dt="2026-10-25T07:26:00.459" v="1"/>
        <pc:sldMkLst>
          <pc:docMk/>
          <pc:sldMk cId="1962571277" sldId="261"/>
        </pc:sldMkLst>
      </pc:sldChg>
      <pc:sldChg chg="del">
        <pc:chgData name="Ivan TAN Wei Han" userId="S::ivantan@smu.edu.sg::bcdc89b8-56cc-41dd-ba78-e55d4e5121a0" providerId="AD" clId="Web-{00000000-0000-0000-0000-000000000000}" dt="2026-10-25T07:26:10.319" v="4"/>
        <pc:sldMkLst>
          <pc:docMk/>
          <pc:sldMk cId="1054199481" sldId="262"/>
        </pc:sldMkLst>
      </pc:sldChg>
      <pc:sldChg chg="del">
        <pc:chgData name="Ivan TAN Wei Han" userId="S::ivantan@smu.edu.sg::bcdc89b8-56cc-41dd-ba78-e55d4e5121a0" providerId="AD" clId="Web-{00000000-0000-0000-0000-000000000000}" dt="2026-10-25T07:26:11.491" v="5"/>
        <pc:sldMkLst>
          <pc:docMk/>
          <pc:sldMk cId="3088936750" sldId="263"/>
        </pc:sldMkLst>
      </pc:sldChg>
      <pc:sldChg chg="del">
        <pc:chgData name="Ivan TAN Wei Han" userId="S::ivantan@smu.edu.sg::bcdc89b8-56cc-41dd-ba78-e55d4e5121a0" providerId="AD" clId="Web-{00000000-0000-0000-0000-000000000000}" dt="2026-10-25T07:26:12.772" v="6"/>
        <pc:sldMkLst>
          <pc:docMk/>
          <pc:sldMk cId="2388298255" sldId="264"/>
        </pc:sldMkLst>
      </pc:sldChg>
      <pc:sldChg chg="del">
        <pc:chgData name="Ivan TAN Wei Han" userId="S::ivantan@smu.edu.sg::bcdc89b8-56cc-41dd-ba78-e55d4e5121a0" providerId="AD" clId="Web-{00000000-0000-0000-0000-000000000000}" dt="2026-10-25T07:26:14.023" v="7"/>
        <pc:sldMkLst>
          <pc:docMk/>
          <pc:sldMk cId="2055485165" sldId="265"/>
        </pc:sldMkLst>
      </pc:sldChg>
      <pc:sldChg chg="del">
        <pc:chgData name="Ivan TAN Wei Han" userId="S::ivantan@smu.edu.sg::bcdc89b8-56cc-41dd-ba78-e55d4e5121a0" providerId="AD" clId="Web-{00000000-0000-0000-0000-000000000000}" dt="2026-10-25T07:26:19.054" v="8"/>
        <pc:sldMkLst>
          <pc:docMk/>
          <pc:sldMk cId="3594027622" sldId="268"/>
        </pc:sldMkLst>
      </pc:sldChg>
      <pc:sldChg chg="del">
        <pc:chgData name="Ivan TAN Wei Han" userId="S::ivantan@smu.edu.sg::bcdc89b8-56cc-41dd-ba78-e55d4e5121a0" providerId="AD" clId="Web-{00000000-0000-0000-0000-000000000000}" dt="2026-10-25T07:26:32.648" v="9"/>
        <pc:sldMkLst>
          <pc:docMk/>
          <pc:sldMk cId="1513630709" sldId="278"/>
        </pc:sldMkLst>
      </pc:sldChg>
      <pc:sldChg chg="del">
        <pc:chgData name="Ivan TAN Wei Han" userId="S::ivantan@smu.edu.sg::bcdc89b8-56cc-41dd-ba78-e55d4e5121a0" providerId="AD" clId="Web-{00000000-0000-0000-0000-000000000000}" dt="2026-10-25T07:26:05.163" v="2"/>
        <pc:sldMkLst>
          <pc:docMk/>
          <pc:sldMk cId="4252927841" sldId="285"/>
        </pc:sldMkLst>
      </pc:sldChg>
    </pc:docChg>
  </pc:docChgLst>
  <pc:docChgLst>
    <pc:chgData name="Ivan TAN Wei Han" userId="S::ivantan@smu.edu.sg::bcdc89b8-56cc-41dd-ba78-e55d4e5121a0" providerId="AD" clId="Web-{69E17700-5DA3-6599-EAD8-1A44D5045FB6}"/>
    <pc:docChg chg="addSld delSld modSld">
      <pc:chgData name="Ivan TAN Wei Han" userId="S::ivantan@smu.edu.sg::bcdc89b8-56cc-41dd-ba78-e55d4e5121a0" providerId="AD" clId="Web-{69E17700-5DA3-6599-EAD8-1A44D5045FB6}" dt="2026-10-25T07:19:02.013" v="244"/>
      <pc:docMkLst>
        <pc:docMk/>
      </pc:docMkLst>
      <pc:sldChg chg="modSp">
        <pc:chgData name="Ivan TAN Wei Han" userId="S::ivantan@smu.edu.sg::bcdc89b8-56cc-41dd-ba78-e55d4e5121a0" providerId="AD" clId="Web-{69E17700-5DA3-6599-EAD8-1A44D5045FB6}" dt="2026-10-25T05:06:46.245" v="109" actId="1076"/>
        <pc:sldMkLst>
          <pc:docMk/>
          <pc:sldMk cId="62309270" sldId="258"/>
        </pc:sldMkLst>
        <pc:spChg chg="mod">
          <ac:chgData name="Ivan TAN Wei Han" userId="S::ivantan@smu.edu.sg::bcdc89b8-56cc-41dd-ba78-e55d4e5121a0" providerId="AD" clId="Web-{69E17700-5DA3-6599-EAD8-1A44D5045FB6}" dt="2026-10-25T05:06:46.245" v="109" actId="1076"/>
          <ac:spMkLst>
            <pc:docMk/>
            <pc:sldMk cId="62309270" sldId="258"/>
            <ac:spMk id="4" creationId="{E2919FD3-9E94-05A3-79BC-230E344C9A9C}"/>
          </ac:spMkLst>
        </pc:spChg>
      </pc:sldChg>
      <pc:sldChg chg="modSp">
        <pc:chgData name="Ivan TAN Wei Han" userId="S::ivantan@smu.edu.sg::bcdc89b8-56cc-41dd-ba78-e55d4e5121a0" providerId="AD" clId="Web-{69E17700-5DA3-6599-EAD8-1A44D5045FB6}" dt="2026-10-25T05:06:40.698" v="108" actId="1076"/>
        <pc:sldMkLst>
          <pc:docMk/>
          <pc:sldMk cId="1501528402" sldId="259"/>
        </pc:sldMkLst>
        <pc:spChg chg="mod">
          <ac:chgData name="Ivan TAN Wei Han" userId="S::ivantan@smu.edu.sg::bcdc89b8-56cc-41dd-ba78-e55d4e5121a0" providerId="AD" clId="Web-{69E17700-5DA3-6599-EAD8-1A44D5045FB6}" dt="2026-10-25T05:06:40.698" v="108" actId="1076"/>
          <ac:spMkLst>
            <pc:docMk/>
            <pc:sldMk cId="1501528402" sldId="259"/>
            <ac:spMk id="4" creationId="{4EAD807C-3653-47E4-7BE5-7786955E311C}"/>
          </ac:spMkLst>
        </pc:spChg>
      </pc:sldChg>
      <pc:sldChg chg="mod modShow">
        <pc:chgData name="Ivan TAN Wei Han" userId="S::ivantan@smu.edu.sg::bcdc89b8-56cc-41dd-ba78-e55d4e5121a0" providerId="AD" clId="Web-{69E17700-5DA3-6599-EAD8-1A44D5045FB6}" dt="2026-10-25T07:19:02.013" v="244"/>
        <pc:sldMkLst>
          <pc:docMk/>
          <pc:sldMk cId="1962571277" sldId="261"/>
        </pc:sldMkLst>
      </pc:sldChg>
      <pc:sldChg chg="delSp">
        <pc:chgData name="Ivan TAN Wei Han" userId="S::ivantan@smu.edu.sg::bcdc89b8-56cc-41dd-ba78-e55d4e5121a0" providerId="AD" clId="Web-{69E17700-5DA3-6599-EAD8-1A44D5045FB6}" dt="2026-10-25T07:17:52.398" v="203"/>
        <pc:sldMkLst>
          <pc:docMk/>
          <pc:sldMk cId="1054199481" sldId="262"/>
        </pc:sldMkLst>
        <pc:spChg chg="del">
          <ac:chgData name="Ivan TAN Wei Han" userId="S::ivantan@smu.edu.sg::bcdc89b8-56cc-41dd-ba78-e55d4e5121a0" providerId="AD" clId="Web-{69E17700-5DA3-6599-EAD8-1A44D5045FB6}" dt="2026-10-25T07:17:52.398" v="203"/>
          <ac:spMkLst>
            <pc:docMk/>
            <pc:sldMk cId="1054199481" sldId="262"/>
            <ac:spMk id="9" creationId="{CBEF17C9-1ECA-B715-6FD9-F15AE4D05C98}"/>
          </ac:spMkLst>
        </pc:spChg>
        <pc:spChg chg="del">
          <ac:chgData name="Ivan TAN Wei Han" userId="S::ivantan@smu.edu.sg::bcdc89b8-56cc-41dd-ba78-e55d4e5121a0" providerId="AD" clId="Web-{69E17700-5DA3-6599-EAD8-1A44D5045FB6}" dt="2026-10-25T07:17:49.242" v="201"/>
          <ac:spMkLst>
            <pc:docMk/>
            <pc:sldMk cId="1054199481" sldId="262"/>
            <ac:spMk id="10" creationId="{650DDF89-03EC-8C43-65BE-ED32B0805AD6}"/>
          </ac:spMkLst>
        </pc:spChg>
        <pc:spChg chg="del">
          <ac:chgData name="Ivan TAN Wei Han" userId="S::ivantan@smu.edu.sg::bcdc89b8-56cc-41dd-ba78-e55d4e5121a0" providerId="AD" clId="Web-{69E17700-5DA3-6599-EAD8-1A44D5045FB6}" dt="2026-10-25T07:17:50.289" v="202"/>
          <ac:spMkLst>
            <pc:docMk/>
            <pc:sldMk cId="1054199481" sldId="262"/>
            <ac:spMk id="13" creationId="{C5C035EE-03B5-C456-DB22-E80A9A59DD87}"/>
          </ac:spMkLst>
        </pc:spChg>
      </pc:sldChg>
      <pc:sldChg chg="modSp">
        <pc:chgData name="Ivan TAN Wei Han" userId="S::ivantan@smu.edu.sg::bcdc89b8-56cc-41dd-ba78-e55d4e5121a0" providerId="AD" clId="Web-{69E17700-5DA3-6599-EAD8-1A44D5045FB6}" dt="2026-10-25T05:09:23.140" v="118" actId="20577"/>
        <pc:sldMkLst>
          <pc:docMk/>
          <pc:sldMk cId="192733176" sldId="271"/>
        </pc:sldMkLst>
        <pc:spChg chg="mod">
          <ac:chgData name="Ivan TAN Wei Han" userId="S::ivantan@smu.edu.sg::bcdc89b8-56cc-41dd-ba78-e55d4e5121a0" providerId="AD" clId="Web-{69E17700-5DA3-6599-EAD8-1A44D5045FB6}" dt="2026-10-25T05:09:23.140" v="118" actId="20577"/>
          <ac:spMkLst>
            <pc:docMk/>
            <pc:sldMk cId="192733176" sldId="271"/>
            <ac:spMk id="12" creationId="{7CBBB8C8-CDC8-BA80-2C99-AD22CEDBE960}"/>
          </ac:spMkLst>
        </pc:spChg>
      </pc:sldChg>
      <pc:sldChg chg="modSp">
        <pc:chgData name="Ivan TAN Wei Han" userId="S::ivantan@smu.edu.sg::bcdc89b8-56cc-41dd-ba78-e55d4e5121a0" providerId="AD" clId="Web-{69E17700-5DA3-6599-EAD8-1A44D5045FB6}" dt="2026-10-25T05:09:25.969" v="123" actId="20577"/>
        <pc:sldMkLst>
          <pc:docMk/>
          <pc:sldMk cId="1700897261" sldId="272"/>
        </pc:sldMkLst>
        <pc:spChg chg="mod">
          <ac:chgData name="Ivan TAN Wei Han" userId="S::ivantan@smu.edu.sg::bcdc89b8-56cc-41dd-ba78-e55d4e5121a0" providerId="AD" clId="Web-{69E17700-5DA3-6599-EAD8-1A44D5045FB6}" dt="2026-10-25T05:09:25.969" v="123" actId="20577"/>
          <ac:spMkLst>
            <pc:docMk/>
            <pc:sldMk cId="1700897261" sldId="272"/>
            <ac:spMk id="12" creationId="{38B4F90C-61C3-40B1-405B-5A0DF476054C}"/>
          </ac:spMkLst>
        </pc:spChg>
      </pc:sldChg>
      <pc:sldChg chg="modSp">
        <pc:chgData name="Ivan TAN Wei Han" userId="S::ivantan@smu.edu.sg::bcdc89b8-56cc-41dd-ba78-e55d4e5121a0" providerId="AD" clId="Web-{69E17700-5DA3-6599-EAD8-1A44D5045FB6}" dt="2026-10-25T05:09:42.750" v="141" actId="20577"/>
        <pc:sldMkLst>
          <pc:docMk/>
          <pc:sldMk cId="803399215" sldId="273"/>
        </pc:sldMkLst>
        <pc:spChg chg="mod">
          <ac:chgData name="Ivan TAN Wei Han" userId="S::ivantan@smu.edu.sg::bcdc89b8-56cc-41dd-ba78-e55d4e5121a0" providerId="AD" clId="Web-{69E17700-5DA3-6599-EAD8-1A44D5045FB6}" dt="2026-10-25T05:09:42.750" v="141" actId="20577"/>
          <ac:spMkLst>
            <pc:docMk/>
            <pc:sldMk cId="803399215" sldId="273"/>
            <ac:spMk id="12" creationId="{C436970A-98E9-4F1A-F676-98D1F8B3ACD8}"/>
          </ac:spMkLst>
        </pc:spChg>
      </pc:sldChg>
      <pc:sldChg chg="modSp modCm">
        <pc:chgData name="Ivan TAN Wei Han" userId="S::ivantan@smu.edu.sg::bcdc89b8-56cc-41dd-ba78-e55d4e5121a0" providerId="AD" clId="Web-{69E17700-5DA3-6599-EAD8-1A44D5045FB6}" dt="2026-10-25T05:13:16.786" v="200"/>
        <pc:sldMkLst>
          <pc:docMk/>
          <pc:sldMk cId="3674628644" sldId="274"/>
        </pc:sldMkLst>
        <pc:spChg chg="mod">
          <ac:chgData name="Ivan TAN Wei Han" userId="S::ivantan@smu.edu.sg::bcdc89b8-56cc-41dd-ba78-e55d4e5121a0" providerId="AD" clId="Web-{69E17700-5DA3-6599-EAD8-1A44D5045FB6}" dt="2026-10-25T05:09:36.313" v="131" actId="20577"/>
          <ac:spMkLst>
            <pc:docMk/>
            <pc:sldMk cId="3674628644" sldId="274"/>
            <ac:spMk id="12" creationId="{BB5A0505-EFAD-BBF3-5F8F-9C9B99C24390}"/>
          </ac:spMkLst>
        </pc:spChg>
        <pc:graphicFrameChg chg="mod modGraphic">
          <ac:chgData name="Ivan TAN Wei Han" userId="S::ivantan@smu.edu.sg::bcdc89b8-56cc-41dd-ba78-e55d4e5121a0" providerId="AD" clId="Web-{69E17700-5DA3-6599-EAD8-1A44D5045FB6}" dt="2026-10-25T05:13:16.786" v="200"/>
          <ac:graphicFrameMkLst>
            <pc:docMk/>
            <pc:sldMk cId="3674628644" sldId="274"/>
            <ac:graphicFrameMk id="2" creationId="{539EA8CD-2DB7-12C9-3AD5-5FCF98B8D6F5}"/>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69E17700-5DA3-6599-EAD8-1A44D5045FB6}" dt="2026-10-25T05:09:36.313" v="131" actId="20577"/>
              <pc2:cmMkLst xmlns:pc2="http://schemas.microsoft.com/office/powerpoint/2019/9/main/command">
                <pc:docMk/>
                <pc:sldMk cId="3674628644" sldId="274"/>
                <pc2:cmMk id="{331A6367-BAA8-41F3-9189-48198208A1A9}"/>
              </pc2:cmMkLst>
            </pc226:cmChg>
          </p:ext>
        </pc:extLst>
      </pc:sldChg>
      <pc:sldChg chg="modSp">
        <pc:chgData name="Ivan TAN Wei Han" userId="S::ivantan@smu.edu.sg::bcdc89b8-56cc-41dd-ba78-e55d4e5121a0" providerId="AD" clId="Web-{69E17700-5DA3-6599-EAD8-1A44D5045FB6}" dt="2026-10-25T05:09:51.219" v="147" actId="20577"/>
        <pc:sldMkLst>
          <pc:docMk/>
          <pc:sldMk cId="1179733485" sldId="275"/>
        </pc:sldMkLst>
        <pc:spChg chg="mod">
          <ac:chgData name="Ivan TAN Wei Han" userId="S::ivantan@smu.edu.sg::bcdc89b8-56cc-41dd-ba78-e55d4e5121a0" providerId="AD" clId="Web-{69E17700-5DA3-6599-EAD8-1A44D5045FB6}" dt="2026-10-25T05:09:51.219" v="147" actId="20577"/>
          <ac:spMkLst>
            <pc:docMk/>
            <pc:sldMk cId="1179733485" sldId="275"/>
            <ac:spMk id="12" creationId="{631D5E13-BE4A-373B-6AF5-6AEBB5373862}"/>
          </ac:spMkLst>
        </pc:spChg>
      </pc:sldChg>
      <pc:sldChg chg="modSp">
        <pc:chgData name="Ivan TAN Wei Han" userId="S::ivantan@smu.edu.sg::bcdc89b8-56cc-41dd-ba78-e55d4e5121a0" providerId="AD" clId="Web-{69E17700-5DA3-6599-EAD8-1A44D5045FB6}" dt="2026-10-25T05:05:47.367" v="107"/>
        <pc:sldMkLst>
          <pc:docMk/>
          <pc:sldMk cId="3225245449" sldId="276"/>
        </pc:sldMkLst>
        <pc:graphicFrameChg chg="mod modGraphic">
          <ac:chgData name="Ivan TAN Wei Han" userId="S::ivantan@smu.edu.sg::bcdc89b8-56cc-41dd-ba78-e55d4e5121a0" providerId="AD" clId="Web-{69E17700-5DA3-6599-EAD8-1A44D5045FB6}" dt="2026-10-25T05:05:47.367" v="107"/>
          <ac:graphicFrameMkLst>
            <pc:docMk/>
            <pc:sldMk cId="3225245449" sldId="276"/>
            <ac:graphicFrameMk id="2" creationId="{120B8A19-1E3B-D3CE-3C77-875832D1F7F0}"/>
          </ac:graphicFrameMkLst>
        </pc:graphicFrameChg>
      </pc:sldChg>
      <pc:sldChg chg="addSp delSp modSp modCm">
        <pc:chgData name="Ivan TAN Wei Han" userId="S::ivantan@smu.edu.sg::bcdc89b8-56cc-41dd-ba78-e55d4e5121a0" providerId="AD" clId="Web-{69E17700-5DA3-6599-EAD8-1A44D5045FB6}" dt="2026-10-25T05:05:25.413" v="101" actId="1076"/>
        <pc:sldMkLst>
          <pc:docMk/>
          <pc:sldMk cId="2721407761" sldId="282"/>
        </pc:sldMkLst>
        <pc:spChg chg="add del mod">
          <ac:chgData name="Ivan TAN Wei Han" userId="S::ivantan@smu.edu.sg::bcdc89b8-56cc-41dd-ba78-e55d4e5121a0" providerId="AD" clId="Web-{69E17700-5DA3-6599-EAD8-1A44D5045FB6}" dt="2026-10-25T05:04:16.082" v="54"/>
          <ac:spMkLst>
            <pc:docMk/>
            <pc:sldMk cId="2721407761" sldId="282"/>
            <ac:spMk id="2" creationId="{5B176314-5673-7395-A776-B62DD704E0ED}"/>
          </ac:spMkLst>
        </pc:spChg>
        <pc:spChg chg="mod">
          <ac:chgData name="Ivan TAN Wei Han" userId="S::ivantan@smu.edu.sg::bcdc89b8-56cc-41dd-ba78-e55d4e5121a0" providerId="AD" clId="Web-{69E17700-5DA3-6599-EAD8-1A44D5045FB6}" dt="2026-10-25T05:04:52.490" v="85" actId="20577"/>
          <ac:spMkLst>
            <pc:docMk/>
            <pc:sldMk cId="2721407761" sldId="282"/>
            <ac:spMk id="3" creationId="{78A62D57-BEE2-ED31-02BB-39CCC4B64776}"/>
          </ac:spMkLst>
        </pc:spChg>
        <pc:spChg chg="add mod">
          <ac:chgData name="Ivan TAN Wei Han" userId="S::ivantan@smu.edu.sg::bcdc89b8-56cc-41dd-ba78-e55d4e5121a0" providerId="AD" clId="Web-{69E17700-5DA3-6599-EAD8-1A44D5045FB6}" dt="2026-10-25T05:03:30.766" v="8" actId="20577"/>
          <ac:spMkLst>
            <pc:docMk/>
            <pc:sldMk cId="2721407761" sldId="282"/>
            <ac:spMk id="5" creationId="{8391B689-97B8-AADB-334B-53EE933E5532}"/>
          </ac:spMkLst>
        </pc:spChg>
        <pc:spChg chg="add mod">
          <ac:chgData name="Ivan TAN Wei Han" userId="S::ivantan@smu.edu.sg::bcdc89b8-56cc-41dd-ba78-e55d4e5121a0" providerId="AD" clId="Web-{69E17700-5DA3-6599-EAD8-1A44D5045FB6}" dt="2026-10-25T05:05:13.944" v="95" actId="1076"/>
          <ac:spMkLst>
            <pc:docMk/>
            <pc:sldMk cId="2721407761" sldId="282"/>
            <ac:spMk id="7" creationId="{6967DC35-833E-9AB0-195D-9AD5818E161F}"/>
          </ac:spMkLst>
        </pc:spChg>
        <pc:spChg chg="add mod">
          <ac:chgData name="Ivan TAN Wei Han" userId="S::ivantan@smu.edu.sg::bcdc89b8-56cc-41dd-ba78-e55d4e5121a0" providerId="AD" clId="Web-{69E17700-5DA3-6599-EAD8-1A44D5045FB6}" dt="2026-10-25T05:05:19.397" v="97" actId="1076"/>
          <ac:spMkLst>
            <pc:docMk/>
            <pc:sldMk cId="2721407761" sldId="282"/>
            <ac:spMk id="8" creationId="{39B1A658-4D18-83C6-406E-A61C13B68E4D}"/>
          </ac:spMkLst>
        </pc:spChg>
        <pc:spChg chg="add mod">
          <ac:chgData name="Ivan TAN Wei Han" userId="S::ivantan@smu.edu.sg::bcdc89b8-56cc-41dd-ba78-e55d4e5121a0" providerId="AD" clId="Web-{69E17700-5DA3-6599-EAD8-1A44D5045FB6}" dt="2026-10-25T05:05:22.491" v="99" actId="1076"/>
          <ac:spMkLst>
            <pc:docMk/>
            <pc:sldMk cId="2721407761" sldId="282"/>
            <ac:spMk id="9" creationId="{3E00B8D5-1E98-6929-F0FC-F9EA96CEB261}"/>
          </ac:spMkLst>
        </pc:spChg>
        <pc:spChg chg="add mod">
          <ac:chgData name="Ivan TAN Wei Han" userId="S::ivantan@smu.edu.sg::bcdc89b8-56cc-41dd-ba78-e55d4e5121a0" providerId="AD" clId="Web-{69E17700-5DA3-6599-EAD8-1A44D5045FB6}" dt="2026-10-25T05:05:25.413" v="101" actId="1076"/>
          <ac:spMkLst>
            <pc:docMk/>
            <pc:sldMk cId="2721407761" sldId="282"/>
            <ac:spMk id="10" creationId="{5760AE81-FFD7-21B4-FAC3-B931956E26C3}"/>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69E17700-5DA3-6599-EAD8-1A44D5045FB6}" dt="2026-10-25T05:05:09.694" v="93" actId="20577"/>
              <pc2:cmMkLst xmlns:pc2="http://schemas.microsoft.com/office/powerpoint/2019/9/main/command">
                <pc:docMk/>
                <pc:sldMk cId="2721407761" sldId="282"/>
                <pc2:cmMk id="{38F8DAF1-A6A7-401F-BAAF-5DAC9564373C}"/>
              </pc2:cmMkLst>
            </pc226:cmChg>
          </p:ext>
        </pc:extLst>
      </pc:sldChg>
      <pc:sldChg chg="addSp delSp modSp add replId">
        <pc:chgData name="Ivan TAN Wei Han" userId="S::ivantan@smu.edu.sg::bcdc89b8-56cc-41dd-ba78-e55d4e5121a0" providerId="AD" clId="Web-{69E17700-5DA3-6599-EAD8-1A44D5045FB6}" dt="2026-10-25T05:12:29.207" v="197" actId="20577"/>
        <pc:sldMkLst>
          <pc:docMk/>
          <pc:sldMk cId="2509515700" sldId="284"/>
        </pc:sldMkLst>
        <pc:spChg chg="add del">
          <ac:chgData name="Ivan TAN Wei Han" userId="S::ivantan@smu.edu.sg::bcdc89b8-56cc-41dd-ba78-e55d4e5121a0" providerId="AD" clId="Web-{69E17700-5DA3-6599-EAD8-1A44D5045FB6}" dt="2026-10-25T05:10:29.658" v="150"/>
          <ac:spMkLst>
            <pc:docMk/>
            <pc:sldMk cId="2509515700" sldId="284"/>
            <ac:spMk id="2" creationId="{5A1B79CA-EC89-114B-E7D3-BCFA1B25521B}"/>
          </ac:spMkLst>
        </pc:spChg>
        <pc:spChg chg="mod">
          <ac:chgData name="Ivan TAN Wei Han" userId="S::ivantan@smu.edu.sg::bcdc89b8-56cc-41dd-ba78-e55d4e5121a0" providerId="AD" clId="Web-{69E17700-5DA3-6599-EAD8-1A44D5045FB6}" dt="2026-10-25T05:12:29.207" v="197" actId="20577"/>
          <ac:spMkLst>
            <pc:docMk/>
            <pc:sldMk cId="2509515700" sldId="284"/>
            <ac:spMk id="3" creationId="{463DD74E-E046-BF6D-CFE2-624693B19FE6}"/>
          </ac:spMkLst>
        </pc:spChg>
      </pc:sldChg>
      <pc:sldChg chg="new del">
        <pc:chgData name="Ivan TAN Wei Han" userId="S::ivantan@smu.edu.sg::bcdc89b8-56cc-41dd-ba78-e55d4e5121a0" providerId="AD" clId="Web-{69E17700-5DA3-6599-EAD8-1A44D5045FB6}" dt="2026-10-25T07:18:26.088" v="205"/>
        <pc:sldMkLst>
          <pc:docMk/>
          <pc:sldMk cId="1610592235" sldId="285"/>
        </pc:sldMkLst>
      </pc:sldChg>
      <pc:sldChg chg="delSp modSp add replId">
        <pc:chgData name="Ivan TAN Wei Han" userId="S::ivantan@smu.edu.sg::bcdc89b8-56cc-41dd-ba78-e55d4e5121a0" providerId="AD" clId="Web-{69E17700-5DA3-6599-EAD8-1A44D5045FB6}" dt="2026-10-25T07:18:55.356" v="243"/>
        <pc:sldMkLst>
          <pc:docMk/>
          <pc:sldMk cId="4252927841" sldId="285"/>
        </pc:sldMkLst>
        <pc:spChg chg="mod">
          <ac:chgData name="Ivan TAN Wei Han" userId="S::ivantan@smu.edu.sg::bcdc89b8-56cc-41dd-ba78-e55d4e5121a0" providerId="AD" clId="Web-{69E17700-5DA3-6599-EAD8-1A44D5045FB6}" dt="2026-10-25T07:18:44.668" v="236" actId="20577"/>
          <ac:spMkLst>
            <pc:docMk/>
            <pc:sldMk cId="4252927841" sldId="285"/>
            <ac:spMk id="5" creationId="{1C49CE6E-9BD6-8C12-5BE4-58B9CA4B9569}"/>
          </ac:spMkLst>
        </pc:spChg>
        <pc:spChg chg="del">
          <ac:chgData name="Ivan TAN Wei Han" userId="S::ivantan@smu.edu.sg::bcdc89b8-56cc-41dd-ba78-e55d4e5121a0" providerId="AD" clId="Web-{69E17700-5DA3-6599-EAD8-1A44D5045FB6}" dt="2026-10-25T07:18:55.356" v="243"/>
          <ac:spMkLst>
            <pc:docMk/>
            <pc:sldMk cId="4252927841" sldId="285"/>
            <ac:spMk id="9" creationId="{6CC25636-4D79-7B07-C0B9-4BA29BA9BA26}"/>
          </ac:spMkLst>
        </pc:spChg>
        <pc:spChg chg="del">
          <ac:chgData name="Ivan TAN Wei Han" userId="S::ivantan@smu.edu.sg::bcdc89b8-56cc-41dd-ba78-e55d4e5121a0" providerId="AD" clId="Web-{69E17700-5DA3-6599-EAD8-1A44D5045FB6}" dt="2026-10-25T07:18:53.903" v="242"/>
          <ac:spMkLst>
            <pc:docMk/>
            <pc:sldMk cId="4252927841" sldId="285"/>
            <ac:spMk id="10" creationId="{99EF34D2-9D15-EB94-0B6F-F230503FAD81}"/>
          </ac:spMkLst>
        </pc:spChg>
        <pc:graphicFrameChg chg="del mod modGraphic">
          <ac:chgData name="Ivan TAN Wei Han" userId="S::ivantan@smu.edu.sg::bcdc89b8-56cc-41dd-ba78-e55d4e5121a0" providerId="AD" clId="Web-{69E17700-5DA3-6599-EAD8-1A44D5045FB6}" dt="2026-10-25T07:18:52.559" v="241"/>
          <ac:graphicFrameMkLst>
            <pc:docMk/>
            <pc:sldMk cId="4252927841" sldId="285"/>
            <ac:graphicFrameMk id="2" creationId="{C2DB6DD9-E333-94B3-4828-D712B67CDB17}"/>
          </ac:graphicFrameMkLst>
        </pc:graphicFrameChg>
      </pc:sldChg>
    </pc:docChg>
  </pc:docChgLst>
  <pc:docChgLst>
    <pc:chgData name="Christopher Michael POSKITT" userId="4bd18c9c-05ca-44c7-aeca-cc78c750a47e" providerId="ADAL" clId="{7B141A95-E539-59F1-A1E4-CD0859CEB3EE}"/>
    <pc:docChg chg="undo custSel addSld modSld">
      <pc:chgData name="Christopher Michael POSKITT" userId="4bd18c9c-05ca-44c7-aeca-cc78c750a47e" providerId="ADAL" clId="{7B141A95-E539-59F1-A1E4-CD0859CEB3EE}" dt="2026-10-26T09:00:08.084" v="1509" actId="20577"/>
      <pc:docMkLst>
        <pc:docMk/>
      </pc:docMkLst>
      <pc:sldChg chg="modSp mod">
        <pc:chgData name="Christopher Michael POSKITT" userId="4bd18c9c-05ca-44c7-aeca-cc78c750a47e" providerId="ADAL" clId="{7B141A95-E539-59F1-A1E4-CD0859CEB3EE}" dt="2026-10-26T08:35:42.890" v="399" actId="20577"/>
        <pc:sldMkLst>
          <pc:docMk/>
          <pc:sldMk cId="62309270" sldId="258"/>
        </pc:sldMkLst>
        <pc:spChg chg="mod">
          <ac:chgData name="Christopher Michael POSKITT" userId="4bd18c9c-05ca-44c7-aeca-cc78c750a47e" providerId="ADAL" clId="{7B141A95-E539-59F1-A1E4-CD0859CEB3EE}" dt="2026-10-26T08:35:42.890" v="399" actId="20577"/>
          <ac:spMkLst>
            <pc:docMk/>
            <pc:sldMk cId="62309270" sldId="258"/>
            <ac:spMk id="3" creationId="{E7DA8B45-FD63-2AF7-E6C3-CA68DA63B13A}"/>
          </ac:spMkLst>
        </pc:spChg>
      </pc:sldChg>
      <pc:sldChg chg="modSp mod">
        <pc:chgData name="Christopher Michael POSKITT" userId="4bd18c9c-05ca-44c7-aeca-cc78c750a47e" providerId="ADAL" clId="{7B141A95-E539-59F1-A1E4-CD0859CEB3EE}" dt="2026-10-26T08:34:25.709" v="265" actId="20577"/>
        <pc:sldMkLst>
          <pc:docMk/>
          <pc:sldMk cId="1394506334" sldId="266"/>
        </pc:sldMkLst>
        <pc:spChg chg="mod">
          <ac:chgData name="Christopher Michael POSKITT" userId="4bd18c9c-05ca-44c7-aeca-cc78c750a47e" providerId="ADAL" clId="{7B141A95-E539-59F1-A1E4-CD0859CEB3EE}" dt="2026-10-26T08:34:25.709" v="265" actId="20577"/>
          <ac:spMkLst>
            <pc:docMk/>
            <pc:sldMk cId="1394506334" sldId="266"/>
            <ac:spMk id="3" creationId="{559B88C5-EAD0-C571-42F7-8A17AE7DAE54}"/>
          </ac:spMkLst>
        </pc:spChg>
        <pc:spChg chg="mod">
          <ac:chgData name="Christopher Michael POSKITT" userId="4bd18c9c-05ca-44c7-aeca-cc78c750a47e" providerId="ADAL" clId="{7B141A95-E539-59F1-A1E4-CD0859CEB3EE}" dt="2026-10-26T08:33:52.082" v="263" actId="20577"/>
          <ac:spMkLst>
            <pc:docMk/>
            <pc:sldMk cId="1394506334" sldId="266"/>
            <ac:spMk id="10" creationId="{F394F906-2072-545D-27BE-D172B0E4394F}"/>
          </ac:spMkLst>
        </pc:spChg>
      </pc:sldChg>
      <pc:sldChg chg="modSp mod">
        <pc:chgData name="Christopher Michael POSKITT" userId="4bd18c9c-05ca-44c7-aeca-cc78c750a47e" providerId="ADAL" clId="{7B141A95-E539-59F1-A1E4-CD0859CEB3EE}" dt="2026-10-26T08:35:03.639" v="273" actId="20577"/>
        <pc:sldMkLst>
          <pc:docMk/>
          <pc:sldMk cId="1949106433" sldId="267"/>
        </pc:sldMkLst>
        <pc:spChg chg="mod">
          <ac:chgData name="Christopher Michael POSKITT" userId="4bd18c9c-05ca-44c7-aeca-cc78c750a47e" providerId="ADAL" clId="{7B141A95-E539-59F1-A1E4-CD0859CEB3EE}" dt="2026-10-26T08:35:03.639" v="273" actId="20577"/>
          <ac:spMkLst>
            <pc:docMk/>
            <pc:sldMk cId="1949106433" sldId="267"/>
            <ac:spMk id="10" creationId="{723157CC-C155-A981-CD6B-F603456109E5}"/>
          </ac:spMkLst>
        </pc:spChg>
      </pc:sldChg>
      <pc:sldChg chg="modSp mod">
        <pc:chgData name="Christopher Michael POSKITT" userId="4bd18c9c-05ca-44c7-aeca-cc78c750a47e" providerId="ADAL" clId="{7B141A95-E539-59F1-A1E4-CD0859CEB3EE}" dt="2026-10-26T08:37:51.719" v="411" actId="20577"/>
        <pc:sldMkLst>
          <pc:docMk/>
          <pc:sldMk cId="2708235050" sldId="269"/>
        </pc:sldMkLst>
        <pc:spChg chg="mod">
          <ac:chgData name="Christopher Michael POSKITT" userId="4bd18c9c-05ca-44c7-aeca-cc78c750a47e" providerId="ADAL" clId="{7B141A95-E539-59F1-A1E4-CD0859CEB3EE}" dt="2026-10-26T08:37:51.719" v="411" actId="20577"/>
          <ac:spMkLst>
            <pc:docMk/>
            <pc:sldMk cId="2708235050" sldId="269"/>
            <ac:spMk id="12" creationId="{EC0C83F2-486B-943F-791A-A1D8ED803B42}"/>
          </ac:spMkLst>
        </pc:spChg>
      </pc:sldChg>
      <pc:sldChg chg="modSp mod">
        <pc:chgData name="Christopher Michael POSKITT" userId="4bd18c9c-05ca-44c7-aeca-cc78c750a47e" providerId="ADAL" clId="{7B141A95-E539-59F1-A1E4-CD0859CEB3EE}" dt="2026-10-26T08:38:47.352" v="427" actId="20577"/>
        <pc:sldMkLst>
          <pc:docMk/>
          <pc:sldMk cId="1262598354" sldId="270"/>
        </pc:sldMkLst>
        <pc:spChg chg="mod">
          <ac:chgData name="Christopher Michael POSKITT" userId="4bd18c9c-05ca-44c7-aeca-cc78c750a47e" providerId="ADAL" clId="{7B141A95-E539-59F1-A1E4-CD0859CEB3EE}" dt="2026-10-26T08:38:24.073" v="417" actId="20577"/>
          <ac:spMkLst>
            <pc:docMk/>
            <pc:sldMk cId="1262598354" sldId="270"/>
            <ac:spMk id="4" creationId="{A0AA96AF-D918-44A0-6441-E67838EA7511}"/>
          </ac:spMkLst>
        </pc:spChg>
        <pc:spChg chg="mod">
          <ac:chgData name="Christopher Michael POSKITT" userId="4bd18c9c-05ca-44c7-aeca-cc78c750a47e" providerId="ADAL" clId="{7B141A95-E539-59F1-A1E4-CD0859CEB3EE}" dt="2026-10-26T08:38:38.802" v="422" actId="20577"/>
          <ac:spMkLst>
            <pc:docMk/>
            <pc:sldMk cId="1262598354" sldId="270"/>
            <ac:spMk id="6" creationId="{9BE95E68-C7E0-C4A8-BBB2-0B57BCA9F82E}"/>
          </ac:spMkLst>
        </pc:spChg>
        <pc:spChg chg="mod">
          <ac:chgData name="Christopher Michael POSKITT" userId="4bd18c9c-05ca-44c7-aeca-cc78c750a47e" providerId="ADAL" clId="{7B141A95-E539-59F1-A1E4-CD0859CEB3EE}" dt="2026-10-26T08:38:47.352" v="427" actId="20577"/>
          <ac:spMkLst>
            <pc:docMk/>
            <pc:sldMk cId="1262598354" sldId="270"/>
            <ac:spMk id="9" creationId="{69D81FF1-1C49-9CFC-94A6-52E09B3D2BE9}"/>
          </ac:spMkLst>
        </pc:spChg>
        <pc:spChg chg="mod">
          <ac:chgData name="Christopher Michael POSKITT" userId="4bd18c9c-05ca-44c7-aeca-cc78c750a47e" providerId="ADAL" clId="{7B141A95-E539-59F1-A1E4-CD0859CEB3EE}" dt="2026-10-26T08:37:48.712" v="407" actId="20577"/>
          <ac:spMkLst>
            <pc:docMk/>
            <pc:sldMk cId="1262598354" sldId="270"/>
            <ac:spMk id="12" creationId="{621406ED-C52B-6F63-2D8A-D1C9B90F7B4C}"/>
          </ac:spMkLst>
        </pc:spChg>
        <pc:spChg chg="mod">
          <ac:chgData name="Christopher Michael POSKITT" userId="4bd18c9c-05ca-44c7-aeca-cc78c750a47e" providerId="ADAL" clId="{7B141A95-E539-59F1-A1E4-CD0859CEB3EE}" dt="2026-10-25T16:25:36.416" v="3" actId="13926"/>
          <ac:spMkLst>
            <pc:docMk/>
            <pc:sldMk cId="1262598354" sldId="270"/>
            <ac:spMk id="14" creationId="{0F9E59B9-8873-DAA9-DB90-DB306448F409}"/>
          </ac:spMkLst>
        </pc:spChg>
      </pc:sldChg>
      <pc:sldChg chg="modSp mod">
        <pc:chgData name="Christopher Michael POSKITT" userId="4bd18c9c-05ca-44c7-aeca-cc78c750a47e" providerId="ADAL" clId="{7B141A95-E539-59F1-A1E4-CD0859CEB3EE}" dt="2026-10-26T08:45:14.411" v="654" actId="20577"/>
        <pc:sldMkLst>
          <pc:docMk/>
          <pc:sldMk cId="192733176" sldId="271"/>
        </pc:sldMkLst>
        <pc:spChg chg="mod">
          <ac:chgData name="Christopher Michael POSKITT" userId="4bd18c9c-05ca-44c7-aeca-cc78c750a47e" providerId="ADAL" clId="{7B141A95-E539-59F1-A1E4-CD0859CEB3EE}" dt="2026-10-26T08:45:14.411" v="654" actId="20577"/>
          <ac:spMkLst>
            <pc:docMk/>
            <pc:sldMk cId="192733176" sldId="271"/>
            <ac:spMk id="4" creationId="{769D1187-DDDA-7E13-D6AA-2E7C7FEEA573}"/>
          </ac:spMkLst>
        </pc:spChg>
        <pc:graphicFrameChg chg="mod modGraphic">
          <ac:chgData name="Christopher Michael POSKITT" userId="4bd18c9c-05ca-44c7-aeca-cc78c750a47e" providerId="ADAL" clId="{7B141A95-E539-59F1-A1E4-CD0859CEB3EE}" dt="2026-10-26T08:44:32.045" v="584" actId="20577"/>
          <ac:graphicFrameMkLst>
            <pc:docMk/>
            <pc:sldMk cId="192733176" sldId="271"/>
            <ac:graphicFrameMk id="2" creationId="{EBD23CCC-25B0-50A5-D420-106D3AF20D51}"/>
          </ac:graphicFrameMkLst>
        </pc:graphicFrameChg>
      </pc:sldChg>
      <pc:sldChg chg="modSp mod">
        <pc:chgData name="Christopher Michael POSKITT" userId="4bd18c9c-05ca-44c7-aeca-cc78c750a47e" providerId="ADAL" clId="{7B141A95-E539-59F1-A1E4-CD0859CEB3EE}" dt="2026-10-26T08:50:10.745" v="880" actId="14100"/>
        <pc:sldMkLst>
          <pc:docMk/>
          <pc:sldMk cId="1700897261" sldId="272"/>
        </pc:sldMkLst>
        <pc:spChg chg="mod">
          <ac:chgData name="Christopher Michael POSKITT" userId="4bd18c9c-05ca-44c7-aeca-cc78c750a47e" providerId="ADAL" clId="{7B141A95-E539-59F1-A1E4-CD0859CEB3EE}" dt="2026-10-26T08:46:25.796" v="683" actId="20577"/>
          <ac:spMkLst>
            <pc:docMk/>
            <pc:sldMk cId="1700897261" sldId="272"/>
            <ac:spMk id="6" creationId="{6CA2D952-52D5-9DB8-3BB8-7DBDFD16BB63}"/>
          </ac:spMkLst>
        </pc:spChg>
        <pc:spChg chg="mod">
          <ac:chgData name="Christopher Michael POSKITT" userId="4bd18c9c-05ca-44c7-aeca-cc78c750a47e" providerId="ADAL" clId="{7B141A95-E539-59F1-A1E4-CD0859CEB3EE}" dt="2026-10-26T08:50:10.745" v="880" actId="14100"/>
          <ac:spMkLst>
            <pc:docMk/>
            <pc:sldMk cId="1700897261" sldId="272"/>
            <ac:spMk id="9" creationId="{576587D8-F5B6-E2CD-CBF0-E197A2250317}"/>
          </ac:spMkLst>
        </pc:spChg>
      </pc:sldChg>
      <pc:sldChg chg="modSp mod">
        <pc:chgData name="Christopher Michael POSKITT" userId="4bd18c9c-05ca-44c7-aeca-cc78c750a47e" providerId="ADAL" clId="{7B141A95-E539-59F1-A1E4-CD0859CEB3EE}" dt="2026-10-26T08:56:10.138" v="1363" actId="20577"/>
        <pc:sldMkLst>
          <pc:docMk/>
          <pc:sldMk cId="803399215" sldId="273"/>
        </pc:sldMkLst>
        <pc:spChg chg="mod">
          <ac:chgData name="Christopher Michael POSKITT" userId="4bd18c9c-05ca-44c7-aeca-cc78c750a47e" providerId="ADAL" clId="{7B141A95-E539-59F1-A1E4-CD0859CEB3EE}" dt="2026-10-26T08:55:47.979" v="1281" actId="1076"/>
          <ac:spMkLst>
            <pc:docMk/>
            <pc:sldMk cId="803399215" sldId="273"/>
            <ac:spMk id="3" creationId="{A64087E2-7504-89B0-7410-B3910D87F06F}"/>
          </ac:spMkLst>
        </pc:spChg>
        <pc:spChg chg="mod">
          <ac:chgData name="Christopher Michael POSKITT" userId="4bd18c9c-05ca-44c7-aeca-cc78c750a47e" providerId="ADAL" clId="{7B141A95-E539-59F1-A1E4-CD0859CEB3EE}" dt="2026-10-26T08:56:10.138" v="1363" actId="20577"/>
          <ac:spMkLst>
            <pc:docMk/>
            <pc:sldMk cId="803399215" sldId="273"/>
            <ac:spMk id="4" creationId="{401011E2-9499-268D-7732-D86CB00DF1F4}"/>
          </ac:spMkLst>
        </pc:spChg>
      </pc:sldChg>
      <pc:sldChg chg="modSp mod modCm">
        <pc:chgData name="Christopher Michael POSKITT" userId="4bd18c9c-05ca-44c7-aeca-cc78c750a47e" providerId="ADAL" clId="{7B141A95-E539-59F1-A1E4-CD0859CEB3EE}" dt="2026-10-26T08:55:01.289" v="1234" actId="20577"/>
        <pc:sldMkLst>
          <pc:docMk/>
          <pc:sldMk cId="3674628644" sldId="274"/>
        </pc:sldMkLst>
        <pc:graphicFrameChg chg="modGraphic">
          <ac:chgData name="Christopher Michael POSKITT" userId="4bd18c9c-05ca-44c7-aeca-cc78c750a47e" providerId="ADAL" clId="{7B141A95-E539-59F1-A1E4-CD0859CEB3EE}" dt="2026-10-26T08:55:01.289" v="1234" actId="20577"/>
          <ac:graphicFrameMkLst>
            <pc:docMk/>
            <pc:sldMk cId="3674628644" sldId="274"/>
            <ac:graphicFrameMk id="2" creationId="{539EA8CD-2DB7-12C9-3AD5-5FCF98B8D6F5}"/>
          </ac:graphicFrameMkLst>
        </pc:graphicFrameChg>
        <pc:extLst>
          <p:ext xmlns:p="http://schemas.openxmlformats.org/presentationml/2006/main" uri="{D6D511B9-2390-475A-947B-AFAB55BFBCF1}">
            <pc226:cmChg xmlns:pc226="http://schemas.microsoft.com/office/powerpoint/2022/06/main/command" chg="mod">
              <pc226:chgData name="Christopher Michael POSKITT" userId="4bd18c9c-05ca-44c7-aeca-cc78c750a47e" providerId="ADAL" clId="{7B141A95-E539-59F1-A1E4-CD0859CEB3EE}" dt="2026-10-26T08:53:04.441" v="1010" actId="20577"/>
              <pc2:cmMkLst xmlns:pc2="http://schemas.microsoft.com/office/powerpoint/2019/9/main/command">
                <pc:docMk/>
                <pc:sldMk cId="3674628644" sldId="274"/>
                <pc2:cmMk id="{8C286977-3006-A642-9FA2-0C3C928F5E52}"/>
              </pc2:cmMkLst>
            </pc226:cmChg>
          </p:ext>
        </pc:extLst>
      </pc:sldChg>
      <pc:sldChg chg="modSp mod">
        <pc:chgData name="Christopher Michael POSKITT" userId="4bd18c9c-05ca-44c7-aeca-cc78c750a47e" providerId="ADAL" clId="{7B141A95-E539-59F1-A1E4-CD0859CEB3EE}" dt="2026-10-26T08:56:39.824" v="1366" actId="20577"/>
        <pc:sldMkLst>
          <pc:docMk/>
          <pc:sldMk cId="1179733485" sldId="275"/>
        </pc:sldMkLst>
        <pc:spChg chg="mod">
          <ac:chgData name="Christopher Michael POSKITT" userId="4bd18c9c-05ca-44c7-aeca-cc78c750a47e" providerId="ADAL" clId="{7B141A95-E539-59F1-A1E4-CD0859CEB3EE}" dt="2026-10-26T08:56:39.824" v="1366" actId="20577"/>
          <ac:spMkLst>
            <pc:docMk/>
            <pc:sldMk cId="1179733485" sldId="275"/>
            <ac:spMk id="13" creationId="{987675FD-A4AB-F30F-3A5D-84521B58D19B}"/>
          </ac:spMkLst>
        </pc:spChg>
      </pc:sldChg>
      <pc:sldChg chg="modSp mod">
        <pc:chgData name="Christopher Michael POSKITT" userId="4bd18c9c-05ca-44c7-aeca-cc78c750a47e" providerId="ADAL" clId="{7B141A95-E539-59F1-A1E4-CD0859CEB3EE}" dt="2026-10-26T08:41:57.290" v="493" actId="20577"/>
        <pc:sldMkLst>
          <pc:docMk/>
          <pc:sldMk cId="3706894185" sldId="281"/>
        </pc:sldMkLst>
        <pc:spChg chg="mod">
          <ac:chgData name="Christopher Michael POSKITT" userId="4bd18c9c-05ca-44c7-aeca-cc78c750a47e" providerId="ADAL" clId="{7B141A95-E539-59F1-A1E4-CD0859CEB3EE}" dt="2026-10-26T08:41:57.290" v="493" actId="20577"/>
          <ac:spMkLst>
            <pc:docMk/>
            <pc:sldMk cId="3706894185" sldId="281"/>
            <ac:spMk id="4" creationId="{BFA8763B-6073-B4C6-8DF9-36B40B39E9F6}"/>
          </ac:spMkLst>
        </pc:spChg>
      </pc:sldChg>
      <pc:sldChg chg="modSp mod modCm">
        <pc:chgData name="Christopher Michael POSKITT" userId="4bd18c9c-05ca-44c7-aeca-cc78c750a47e" providerId="ADAL" clId="{7B141A95-E539-59F1-A1E4-CD0859CEB3EE}" dt="2026-10-26T08:39:36.538" v="463" actId="20577"/>
        <pc:sldMkLst>
          <pc:docMk/>
          <pc:sldMk cId="2721407761" sldId="282"/>
        </pc:sldMkLst>
        <pc:spChg chg="mod">
          <ac:chgData name="Christopher Michael POSKITT" userId="4bd18c9c-05ca-44c7-aeca-cc78c750a47e" providerId="ADAL" clId="{7B141A95-E539-59F1-A1E4-CD0859CEB3EE}" dt="2026-10-26T08:39:36.538" v="463" actId="20577"/>
          <ac:spMkLst>
            <pc:docMk/>
            <pc:sldMk cId="2721407761" sldId="282"/>
            <ac:spMk id="3" creationId="{78A62D57-BEE2-ED31-02BB-39CCC4B64776}"/>
          </ac:spMkLst>
        </pc:spChg>
        <pc:extLst>
          <p:ext xmlns:p="http://schemas.openxmlformats.org/presentationml/2006/main" uri="{D6D511B9-2390-475A-947B-AFAB55BFBCF1}">
            <pc226:cmChg xmlns:pc226="http://schemas.microsoft.com/office/powerpoint/2022/06/main/command" chg="mod">
              <pc226:chgData name="Christopher Michael POSKITT" userId="4bd18c9c-05ca-44c7-aeca-cc78c750a47e" providerId="ADAL" clId="{7B141A95-E539-59F1-A1E4-CD0859CEB3EE}" dt="2026-10-26T08:39:36.538" v="463" actId="20577"/>
              <pc2:cmMkLst xmlns:pc2="http://schemas.microsoft.com/office/powerpoint/2019/9/main/command">
                <pc:docMk/>
                <pc:sldMk cId="2721407761" sldId="282"/>
                <pc2:cmMk id="{38F8DAF1-A6A7-401F-BAAF-5DAC9564373C}"/>
              </pc2:cmMkLst>
            </pc226:cmChg>
          </p:ext>
        </pc:extLst>
      </pc:sldChg>
      <pc:sldChg chg="modSp mod">
        <pc:chgData name="Christopher Michael POSKITT" userId="4bd18c9c-05ca-44c7-aeca-cc78c750a47e" providerId="ADAL" clId="{7B141A95-E539-59F1-A1E4-CD0859CEB3EE}" dt="2026-10-26T08:32:54.798" v="246" actId="2165"/>
        <pc:sldMkLst>
          <pc:docMk/>
          <pc:sldMk cId="1111323446" sldId="283"/>
        </pc:sldMkLst>
        <pc:graphicFrameChg chg="mod modGraphic">
          <ac:chgData name="Christopher Michael POSKITT" userId="4bd18c9c-05ca-44c7-aeca-cc78c750a47e" providerId="ADAL" clId="{7B141A95-E539-59F1-A1E4-CD0859CEB3EE}" dt="2026-10-26T08:32:54.798" v="246" actId="2165"/>
          <ac:graphicFrameMkLst>
            <pc:docMk/>
            <pc:sldMk cId="1111323446" sldId="283"/>
            <ac:graphicFrameMk id="6" creationId="{E0E7A347-10AC-03FB-10E2-56AA362B959B}"/>
          </ac:graphicFrameMkLst>
        </pc:graphicFrameChg>
      </pc:sldChg>
      <pc:sldChg chg="modSp add mod">
        <pc:chgData name="Christopher Michael POSKITT" userId="4bd18c9c-05ca-44c7-aeca-cc78c750a47e" providerId="ADAL" clId="{7B141A95-E539-59F1-A1E4-CD0859CEB3EE}" dt="2026-10-26T09:00:08.084" v="1509" actId="20577"/>
        <pc:sldMkLst>
          <pc:docMk/>
          <pc:sldMk cId="2194179436" sldId="285"/>
        </pc:sldMkLst>
        <pc:spChg chg="mod">
          <ac:chgData name="Christopher Michael POSKITT" userId="4bd18c9c-05ca-44c7-aeca-cc78c750a47e" providerId="ADAL" clId="{7B141A95-E539-59F1-A1E4-CD0859CEB3EE}" dt="2026-10-26T09:00:08.084" v="1509" actId="20577"/>
          <ac:spMkLst>
            <pc:docMk/>
            <pc:sldMk cId="2194179436" sldId="285"/>
            <ac:spMk id="4" creationId="{6313351F-AF89-CE0A-C10A-68A536A990F8}"/>
          </ac:spMkLst>
        </pc:spChg>
        <pc:spChg chg="mod">
          <ac:chgData name="Christopher Michael POSKITT" userId="4bd18c9c-05ca-44c7-aeca-cc78c750a47e" providerId="ADAL" clId="{7B141A95-E539-59F1-A1E4-CD0859CEB3EE}" dt="2026-10-26T08:59:29.994" v="1385" actId="20577"/>
          <ac:spMkLst>
            <pc:docMk/>
            <pc:sldMk cId="2194179436" sldId="285"/>
            <ac:spMk id="12" creationId="{8B08CC57-8B55-6D81-5798-9356D8FB6A9A}"/>
          </ac:spMkLst>
        </pc:spChg>
      </pc:sldChg>
    </pc:docChg>
  </pc:docChgLst>
  <pc:docChgLst>
    <pc:chgData name="LAU Yi Meng" userId="S::ymlau@smu.edu.sg::e79adfab-fcb3-4181-8bc0-9e7892d33c58" providerId="AD" clId="Web-{5111EF8B-9874-4FA5-3996-D728DF6D3849}"/>
    <pc:docChg chg="mod">
      <pc:chgData name="LAU Yi Meng" userId="S::ymlau@smu.edu.sg::e79adfab-fcb3-4181-8bc0-9e7892d33c58" providerId="AD" clId="Web-{5111EF8B-9874-4FA5-3996-D728DF6D3849}" dt="2026-10-23T09:55:06.899" v="0"/>
      <pc:docMkLst>
        <pc:docMk/>
      </pc:docMkLst>
    </pc:docChg>
  </pc:docChgLst>
  <pc:docChgLst>
    <pc:chgData name="Nitendra KUMAR" userId="S::nitendrak@smu.edu.sg::46da4551-a3da-4111-80e7-068ca2c04424" providerId="AD" clId="Web-{CA4A71BA-9058-B71E-ECA4-7CD9AEE9C919}"/>
    <pc:docChg chg="modSld">
      <pc:chgData name="Nitendra KUMAR" userId="S::nitendrak@smu.edu.sg::46da4551-a3da-4111-80e7-068ca2c04424" providerId="AD" clId="Web-{CA4A71BA-9058-B71E-ECA4-7CD9AEE9C919}" dt="2026-10-23T07:58:50.455" v="191"/>
      <pc:docMkLst>
        <pc:docMk/>
      </pc:docMkLst>
      <pc:sldChg chg="modSp">
        <pc:chgData name="Nitendra KUMAR" userId="S::nitendrak@smu.edu.sg::46da4551-a3da-4111-80e7-068ca2c04424" providerId="AD" clId="Web-{CA4A71BA-9058-B71E-ECA4-7CD9AEE9C919}" dt="2026-10-23T07:58:50.455" v="191"/>
        <pc:sldMkLst>
          <pc:docMk/>
          <pc:sldMk cId="1111323446" sldId="283"/>
        </pc:sldMkLst>
        <pc:graphicFrameChg chg="mod modGraphic">
          <ac:chgData name="Nitendra KUMAR" userId="S::nitendrak@smu.edu.sg::46da4551-a3da-4111-80e7-068ca2c04424" providerId="AD" clId="Web-{CA4A71BA-9058-B71E-ECA4-7CD9AEE9C919}" dt="2026-10-23T07:58:50.455" v="191"/>
          <ac:graphicFrameMkLst>
            <pc:docMk/>
            <pc:sldMk cId="1111323446" sldId="283"/>
            <ac:graphicFrameMk id="6" creationId="{E0E7A347-10AC-03FB-10E2-56AA362B959B}"/>
          </ac:graphicFrameMkLst>
        </pc:graphicFrameChg>
      </pc:sldChg>
    </pc:docChg>
  </pc:docChgLst>
  <pc:docChgLst>
    <pc:chgData name="Ivan TAN Wei Han" userId="S::ivantan@smu.edu.sg::bcdc89b8-56cc-41dd-ba78-e55d4e5121a0" providerId="AD" clId="Web-{05913291-89C0-85A1-C4CC-603639BB8B62}"/>
    <pc:docChg chg="modSld">
      <pc:chgData name="Ivan TAN Wei Han" userId="S::ivantan@smu.edu.sg::bcdc89b8-56cc-41dd-ba78-e55d4e5121a0" providerId="AD" clId="Web-{05913291-89C0-85A1-C4CC-603639BB8B62}" dt="2026-10-25T17:06:18.785" v="155"/>
      <pc:docMkLst>
        <pc:docMk/>
      </pc:docMkLst>
      <pc:sldChg chg="modSp modCm">
        <pc:chgData name="Ivan TAN Wei Han" userId="S::ivantan@smu.edu.sg::bcdc89b8-56cc-41dd-ba78-e55d4e5121a0" providerId="AD" clId="Web-{05913291-89C0-85A1-C4CC-603639BB8B62}" dt="2026-10-25T17:04:15" v="1" actId="20577"/>
        <pc:sldMkLst>
          <pc:docMk/>
          <pc:sldMk cId="1394506334" sldId="266"/>
        </pc:sldMkLst>
        <pc:spChg chg="mod">
          <ac:chgData name="Ivan TAN Wei Han" userId="S::ivantan@smu.edu.sg::bcdc89b8-56cc-41dd-ba78-e55d4e5121a0" providerId="AD" clId="Web-{05913291-89C0-85A1-C4CC-603639BB8B62}" dt="2026-10-25T17:04:15" v="1" actId="20577"/>
          <ac:spMkLst>
            <pc:docMk/>
            <pc:sldMk cId="1394506334" sldId="266"/>
            <ac:spMk id="8" creationId="{9CA05C5D-904D-DB93-C403-026146120B5E}"/>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15" v="1" actId="20577"/>
              <pc2:cmMkLst xmlns:pc2="http://schemas.microsoft.com/office/powerpoint/2019/9/main/command">
                <pc:docMk/>
                <pc:sldMk cId="1394506334" sldId="266"/>
                <pc2:cmMk id="{0C26CCD8-EC46-BB4D-A1A3-E77CE3F7C3B3}"/>
              </pc2:cmMkLst>
            </pc226:cmChg>
          </p:ext>
        </pc:extLst>
      </pc:sldChg>
      <pc:sldChg chg="modSp modCm">
        <pc:chgData name="Ivan TAN Wei Han" userId="S::ivantan@smu.edu.sg::bcdc89b8-56cc-41dd-ba78-e55d4e5121a0" providerId="AD" clId="Web-{05913291-89C0-85A1-C4CC-603639BB8B62}" dt="2026-10-25T17:04:23.532" v="3" actId="20577"/>
        <pc:sldMkLst>
          <pc:docMk/>
          <pc:sldMk cId="1949106433" sldId="267"/>
        </pc:sldMkLst>
        <pc:spChg chg="mod">
          <ac:chgData name="Ivan TAN Wei Han" userId="S::ivantan@smu.edu.sg::bcdc89b8-56cc-41dd-ba78-e55d4e5121a0" providerId="AD" clId="Web-{05913291-89C0-85A1-C4CC-603639BB8B62}" dt="2026-10-25T17:04:23.532" v="3" actId="20577"/>
          <ac:spMkLst>
            <pc:docMk/>
            <pc:sldMk cId="1949106433" sldId="267"/>
            <ac:spMk id="8" creationId="{189DA051-3389-4020-DA87-716B3ADB2604}"/>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23.532" v="3" actId="20577"/>
              <pc2:cmMkLst xmlns:pc2="http://schemas.microsoft.com/office/powerpoint/2019/9/main/command">
                <pc:docMk/>
                <pc:sldMk cId="1949106433" sldId="267"/>
                <pc2:cmMk id="{96186A05-F8E6-CA46-B3A7-B52E048ADA6A}"/>
              </pc2:cmMkLst>
            </pc226:cmChg>
          </p:ext>
        </pc:extLst>
      </pc:sldChg>
      <pc:sldChg chg="modSp modCm">
        <pc:chgData name="Ivan TAN Wei Han" userId="S::ivantan@smu.edu.sg::bcdc89b8-56cc-41dd-ba78-e55d4e5121a0" providerId="AD" clId="Web-{05913291-89C0-85A1-C4CC-603639BB8B62}" dt="2026-10-25T17:04:46.126" v="34"/>
        <pc:sldMkLst>
          <pc:docMk/>
          <pc:sldMk cId="192733176" sldId="271"/>
        </pc:sldMkLst>
        <pc:spChg chg="mod">
          <ac:chgData name="Ivan TAN Wei Han" userId="S::ivantan@smu.edu.sg::bcdc89b8-56cc-41dd-ba78-e55d4e5121a0" providerId="AD" clId="Web-{05913291-89C0-85A1-C4CC-603639BB8B62}" dt="2026-10-25T17:04:31.329" v="4" actId="20577"/>
          <ac:spMkLst>
            <pc:docMk/>
            <pc:sldMk cId="192733176" sldId="271"/>
            <ac:spMk id="5" creationId="{D2674F16-F327-9437-BF58-DD6F5C618F0A}"/>
          </ac:spMkLst>
        </pc:spChg>
        <pc:graphicFrameChg chg="mod modGraphic">
          <ac:chgData name="Ivan TAN Wei Han" userId="S::ivantan@smu.edu.sg::bcdc89b8-56cc-41dd-ba78-e55d4e5121a0" providerId="AD" clId="Web-{05913291-89C0-85A1-C4CC-603639BB8B62}" dt="2026-10-25T17:04:46.126" v="34"/>
          <ac:graphicFrameMkLst>
            <pc:docMk/>
            <pc:sldMk cId="192733176" sldId="271"/>
            <ac:graphicFrameMk id="2" creationId="{EBD23CCC-25B0-50A5-D420-106D3AF20D51}"/>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46.126" v="33"/>
              <pc2:cmMkLst xmlns:pc2="http://schemas.microsoft.com/office/powerpoint/2019/9/main/command">
                <pc:docMk/>
                <pc:sldMk cId="192733176" sldId="271"/>
                <pc2:cmMk id="{0781A05B-E5A7-6E4B-8552-5F015FF3ACBA}"/>
              </pc2:cmMkLst>
            </pc226:cmChg>
          </p:ext>
        </pc:extLst>
      </pc:sldChg>
      <pc:sldChg chg="modSp modCm">
        <pc:chgData name="Ivan TAN Wei Han" userId="S::ivantan@smu.edu.sg::bcdc89b8-56cc-41dd-ba78-e55d4e5121a0" providerId="AD" clId="Web-{05913291-89C0-85A1-C4CC-603639BB8B62}" dt="2026-10-25T17:04:56.033" v="39" actId="20577"/>
        <pc:sldMkLst>
          <pc:docMk/>
          <pc:sldMk cId="1700897261" sldId="272"/>
        </pc:sldMkLst>
        <pc:spChg chg="mod">
          <ac:chgData name="Ivan TAN Wei Han" userId="S::ivantan@smu.edu.sg::bcdc89b8-56cc-41dd-ba78-e55d4e5121a0" providerId="AD" clId="Web-{05913291-89C0-85A1-C4CC-603639BB8B62}" dt="2026-10-25T17:04:56.033" v="39" actId="20577"/>
          <ac:spMkLst>
            <pc:docMk/>
            <pc:sldMk cId="1700897261" sldId="272"/>
            <ac:spMk id="4" creationId="{10487658-DD80-FD75-1EE7-3E6753B34BF5}"/>
          </ac:spMkLst>
        </pc:sp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4:56.033" v="39" actId="20577"/>
              <pc2:cmMkLst xmlns:pc2="http://schemas.microsoft.com/office/powerpoint/2019/9/main/command">
                <pc:docMk/>
                <pc:sldMk cId="1700897261" sldId="272"/>
                <pc2:cmMk id="{5440B4D6-91A3-7A40-A556-0FF893E58F3E}"/>
              </pc2:cmMkLst>
            </pc226:cmChg>
          </p:ext>
        </pc:extLst>
      </pc:sldChg>
      <pc:sldChg chg="modSp modCm">
        <pc:chgData name="Ivan TAN Wei Han" userId="S::ivantan@smu.edu.sg::bcdc89b8-56cc-41dd-ba78-e55d4e5121a0" providerId="AD" clId="Web-{05913291-89C0-85A1-C4CC-603639BB8B62}" dt="2026-10-25T17:06:18.785" v="155"/>
        <pc:sldMkLst>
          <pc:docMk/>
          <pc:sldMk cId="3674628644" sldId="274"/>
        </pc:sldMkLst>
        <pc:graphicFrameChg chg="mod modGraphic">
          <ac:chgData name="Ivan TAN Wei Han" userId="S::ivantan@smu.edu.sg::bcdc89b8-56cc-41dd-ba78-e55d4e5121a0" providerId="AD" clId="Web-{05913291-89C0-85A1-C4CC-603639BB8B62}" dt="2026-10-25T17:06:18.785" v="155"/>
          <ac:graphicFrameMkLst>
            <pc:docMk/>
            <pc:sldMk cId="3674628644" sldId="274"/>
            <ac:graphicFrameMk id="2" creationId="{539EA8CD-2DB7-12C9-3AD5-5FCF98B8D6F5}"/>
          </ac:graphicFrameMkLst>
        </pc:graphicFrameChg>
        <pc:extLst>
          <p:ext xmlns:p="http://schemas.openxmlformats.org/presentationml/2006/main" uri="{D6D511B9-2390-475A-947B-AFAB55BFBCF1}">
            <pc226:cmChg xmlns:pc226="http://schemas.microsoft.com/office/powerpoint/2022/06/main/command" chg="mod">
              <pc226:chgData name="Ivan TAN Wei Han" userId="S::ivantan@smu.edu.sg::bcdc89b8-56cc-41dd-ba78-e55d4e5121a0" providerId="AD" clId="Web-{05913291-89C0-85A1-C4CC-603639BB8B62}" dt="2026-10-25T17:06:18.785" v="154"/>
              <pc2:cmMkLst xmlns:pc2="http://schemas.microsoft.com/office/powerpoint/2019/9/main/command">
                <pc:docMk/>
                <pc:sldMk cId="3674628644" sldId="274"/>
                <pc2:cmMk id="{AB36BC71-4550-6247-BAF1-67E98FE7D447}"/>
              </pc2:cmMkLst>
            </pc226:cmChg>
            <pc226:cmChg xmlns:pc226="http://schemas.microsoft.com/office/powerpoint/2022/06/main/command" chg="mod">
              <pc226:chgData name="Ivan TAN Wei Han" userId="S::ivantan@smu.edu.sg::bcdc89b8-56cc-41dd-ba78-e55d4e5121a0" providerId="AD" clId="Web-{05913291-89C0-85A1-C4CC-603639BB8B62}" dt="2026-10-25T17:05:02.955" v="40"/>
              <pc2:cmMkLst xmlns:pc2="http://schemas.microsoft.com/office/powerpoint/2019/9/main/command">
                <pc:docMk/>
                <pc:sldMk cId="3674628644" sldId="274"/>
                <pc2:cmMk id="{8C286977-3006-A642-9FA2-0C3C928F5E52}"/>
              </pc2:cmMkLst>
            </pc226:cmChg>
          </p:ext>
        </pc:extLst>
      </pc:sldChg>
    </pc:docChg>
  </pc:docChgLst>
  <pc:docChgLst>
    <pc:chgData name="Rajesh Krishna BALAN" userId="S::rajesh@smu.edu.sg::18290a93-1287-40e3-b20f-c7f59a18016f" providerId="AD" clId="Web-{2C526B42-2572-7969-4B37-D57B9DE3D8C6}"/>
    <pc:docChg chg="modSld">
      <pc:chgData name="Rajesh Krishna BALAN" userId="S::rajesh@smu.edu.sg::18290a93-1287-40e3-b20f-c7f59a18016f" providerId="AD" clId="Web-{2C526B42-2572-7969-4B37-D57B9DE3D8C6}" dt="2026-10-26T08:34:45.444" v="2" actId="14100"/>
      <pc:docMkLst>
        <pc:docMk/>
      </pc:docMkLst>
      <pc:sldChg chg="modSp">
        <pc:chgData name="Rajesh Krishna BALAN" userId="S::rajesh@smu.edu.sg::18290a93-1287-40e3-b20f-c7f59a18016f" providerId="AD" clId="Web-{2C526B42-2572-7969-4B37-D57B9DE3D8C6}" dt="2026-10-26T08:34:45.444" v="2" actId="14100"/>
        <pc:sldMkLst>
          <pc:docMk/>
          <pc:sldMk cId="1394506334" sldId="266"/>
        </pc:sldMkLst>
        <pc:spChg chg="mod">
          <ac:chgData name="Rajesh Krishna BALAN" userId="S::rajesh@smu.edu.sg::18290a93-1287-40e3-b20f-c7f59a18016f" providerId="AD" clId="Web-{2C526B42-2572-7969-4B37-D57B9DE3D8C6}" dt="2026-10-26T08:34:45.444" v="2" actId="14100"/>
          <ac:spMkLst>
            <pc:docMk/>
            <pc:sldMk cId="1394506334" sldId="266"/>
            <ac:spMk id="9" creationId="{3C05F446-7E48-C388-5966-4A32DBE5EBC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AA46ED6-AC80-4E9E-9326-F4554046674A}" type="datetimeFigureOut">
              <a:rPr lang="en-US" smtClean="0"/>
              <a:t>10/30/2026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7F7853E0-55EB-47E7-85EC-456363FC200E}" type="slidenum">
              <a:rPr lang="en-US" smtClean="0"/>
              <a:t>‹#›</a:t>
            </a:fld>
            <a:endParaRPr lang="en-US"/>
          </a:p>
        </p:txBody>
      </p:sp>
    </p:spTree>
    <p:extLst>
      <p:ext uri="{BB962C8B-B14F-4D97-AF65-F5344CB8AC3E}">
        <p14:creationId xmlns:p14="http://schemas.microsoft.com/office/powerpoint/2010/main" val="2032814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CB35AC7-6991-4DF6-9B8D-80726AB1065E}"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BB403-3C91-4F9A-B9F9-99CD09F48044}" type="slidenum">
              <a:rPr lang="en-US" smtClean="0"/>
              <a:t>‹#›</a:t>
            </a:fld>
            <a:endParaRPr lang="en-US"/>
          </a:p>
        </p:txBody>
      </p:sp>
      <p:cxnSp>
        <p:nvCxnSpPr>
          <p:cNvPr id="11" name="Straight Connector 10"/>
          <p:cNvCxnSpPr/>
          <p:nvPr userDrawn="1"/>
        </p:nvCxnSpPr>
        <p:spPr>
          <a:xfrm>
            <a:off x="0" y="1250297"/>
            <a:ext cx="12192000" cy="0"/>
          </a:xfrm>
          <a:prstGeom prst="line">
            <a:avLst/>
          </a:prstGeom>
          <a:ln>
            <a:solidFill>
              <a:srgbClr val="D5A10F"/>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nvPicPr>
        <p:blipFill>
          <a:blip r:embed="rId2"/>
          <a:stretch>
            <a:fillRect/>
          </a:stretch>
        </p:blipFill>
        <p:spPr>
          <a:xfrm>
            <a:off x="0" y="-4761"/>
            <a:ext cx="12192000" cy="685800"/>
          </a:xfrm>
          <a:prstGeom prst="rect">
            <a:avLst/>
          </a:prstGeom>
        </p:spPr>
      </p:pic>
    </p:spTree>
    <p:extLst>
      <p:ext uri="{BB962C8B-B14F-4D97-AF65-F5344CB8AC3E}">
        <p14:creationId xmlns:p14="http://schemas.microsoft.com/office/powerpoint/2010/main" val="273285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1" r="49658"/>
          <a:stretch/>
        </p:blipFill>
        <p:spPr>
          <a:xfrm>
            <a:off x="1" y="1"/>
            <a:ext cx="12191999" cy="1362268"/>
          </a:xfrm>
          <a:prstGeom prst="rect">
            <a:avLst/>
          </a:prstGeom>
        </p:spPr>
      </p:pic>
      <p:cxnSp>
        <p:nvCxnSpPr>
          <p:cNvPr id="4" name="Straight Connector 3"/>
          <p:cNvCxnSpPr/>
          <p:nvPr userDrawn="1"/>
        </p:nvCxnSpPr>
        <p:spPr>
          <a:xfrm>
            <a:off x="0" y="1362269"/>
            <a:ext cx="12192000" cy="0"/>
          </a:xfrm>
          <a:prstGeom prst="line">
            <a:avLst/>
          </a:prstGeom>
          <a:ln>
            <a:solidFill>
              <a:srgbClr val="D5A10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689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8" name="Picture 7" descr="1.jpg"/>
          <p:cNvPicPr>
            <a:picLocks noChangeAspect="1"/>
          </p:cNvPicPr>
          <p:nvPr userDrawn="1"/>
        </p:nvPicPr>
        <p:blipFill>
          <a:blip r:embed="rId2" cstate="screen">
            <a:alphaModFix amt="36000"/>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tretch>
            <a:fillRect/>
          </a:stretch>
        </p:blipFill>
        <p:spPr>
          <a:xfrm>
            <a:off x="1426724" y="692513"/>
            <a:ext cx="10765276" cy="6165487"/>
          </a:xfrm>
          <a:prstGeom prst="rect">
            <a:avLst/>
          </a:prstGeom>
          <a:noFill/>
        </p:spPr>
      </p:pic>
      <p:pic>
        <p:nvPicPr>
          <p:cNvPr id="4" name="Picture 3"/>
          <p:cNvPicPr>
            <a:picLocks noChangeAspect="1"/>
          </p:cNvPicPr>
          <p:nvPr userDrawn="1"/>
        </p:nvPicPr>
        <p:blipFill>
          <a:blip r:embed="rId4"/>
          <a:stretch>
            <a:fillRect/>
          </a:stretch>
        </p:blipFill>
        <p:spPr>
          <a:xfrm>
            <a:off x="0" y="-4761"/>
            <a:ext cx="12192000" cy="685800"/>
          </a:xfrm>
          <a:prstGeom prst="rect">
            <a:avLst/>
          </a:prstGeom>
        </p:spPr>
      </p:pic>
    </p:spTree>
    <p:extLst>
      <p:ext uri="{BB962C8B-B14F-4D97-AF65-F5344CB8AC3E}">
        <p14:creationId xmlns:p14="http://schemas.microsoft.com/office/powerpoint/2010/main" val="422306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stretch>
            <a:fillRect/>
          </a:stretch>
        </p:blipFill>
        <p:spPr>
          <a:xfrm>
            <a:off x="0" y="-4761"/>
            <a:ext cx="12192000" cy="685800"/>
          </a:xfrm>
          <a:prstGeom prst="rect">
            <a:avLst/>
          </a:prstGeom>
        </p:spPr>
      </p:pic>
    </p:spTree>
    <p:extLst>
      <p:ext uri="{BB962C8B-B14F-4D97-AF65-F5344CB8AC3E}">
        <p14:creationId xmlns:p14="http://schemas.microsoft.com/office/powerpoint/2010/main" val="2248805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CB35AC7-6991-4DF6-9B8D-80726AB1065E}"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BB403-3C91-4F9A-B9F9-99CD09F48044}" type="slidenum">
              <a:rPr lang="en-US" smtClean="0"/>
              <a:t>‹#›</a:t>
            </a:fld>
            <a:endParaRPr lang="en-US"/>
          </a:p>
        </p:txBody>
      </p:sp>
      <p:pic>
        <p:nvPicPr>
          <p:cNvPr id="11" name="Picture 10"/>
          <p:cNvPicPr>
            <a:picLocks noChangeAspect="1"/>
          </p:cNvPicPr>
          <p:nvPr userDrawn="1"/>
        </p:nvPicPr>
        <p:blipFill>
          <a:blip r:embed="rId2"/>
          <a:stretch>
            <a:fillRect/>
          </a:stretch>
        </p:blipFill>
        <p:spPr>
          <a:xfrm>
            <a:off x="0" y="-4761"/>
            <a:ext cx="12192000" cy="685800"/>
          </a:xfrm>
          <a:prstGeom prst="rect">
            <a:avLst/>
          </a:prstGeom>
        </p:spPr>
      </p:pic>
    </p:spTree>
    <p:extLst>
      <p:ext uri="{BB962C8B-B14F-4D97-AF65-F5344CB8AC3E}">
        <p14:creationId xmlns:p14="http://schemas.microsoft.com/office/powerpoint/2010/main" val="3795657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B35AC7-6991-4DF6-9B8D-80726AB1065E}"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46169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B35AC7-6991-4DF6-9B8D-80726AB1065E}"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1317446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B35AC7-6991-4DF6-9B8D-80726AB1065E}"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32410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CB35AC7-6991-4DF6-9B8D-80726AB1065E}"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140695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B35AC7-6991-4DF6-9B8D-80726AB1065E}"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506625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CB35AC7-6991-4DF6-9B8D-80726AB1065E}"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BB403-3C91-4F9A-B9F9-99CD09F48044}" type="slidenum">
              <a:rPr lang="en-US" smtClean="0"/>
              <a:t>‹#›</a:t>
            </a:fld>
            <a:endParaRPr lang="en-US"/>
          </a:p>
        </p:txBody>
      </p:sp>
    </p:spTree>
    <p:extLst>
      <p:ext uri="{BB962C8B-B14F-4D97-AF65-F5344CB8AC3E}">
        <p14:creationId xmlns:p14="http://schemas.microsoft.com/office/powerpoint/2010/main" val="1890753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B35AC7-6991-4DF6-9B8D-80726AB1065E}" type="datetimeFigureOut">
              <a:rPr lang="en-US" smtClean="0"/>
              <a:t>10/30/2026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3BB403-3C91-4F9A-B9F9-99CD09F48044}" type="slidenum">
              <a:rPr lang="en-US" smtClean="0"/>
              <a:t>‹#›</a:t>
            </a:fld>
            <a:endParaRPr lang="en-US"/>
          </a:p>
        </p:txBody>
      </p:sp>
      <p:sp>
        <p:nvSpPr>
          <p:cNvPr id="7" name="MSIPCMContentMarking" descr="{&quot;HashCode&quot;:1068245140,&quot;Placement&quot;:&quot;Header&quot;,&quot;Top&quot;:0.0,&quot;Left&quot;:421.1819,&quot;SlideWidth&quot;:960,&quot;SlideHeight&quot;:540}">
            <a:extLst>
              <a:ext uri="{FF2B5EF4-FFF2-40B4-BE49-F238E27FC236}">
                <a16:creationId xmlns:a16="http://schemas.microsoft.com/office/drawing/2014/main" id="{2310539E-D75D-FDBC-2824-E3DBBE47B3B5}"/>
              </a:ext>
            </a:extLst>
          </p:cNvPr>
          <p:cNvSpPr txBox="1"/>
          <p:nvPr userDrawn="1"/>
        </p:nvSpPr>
        <p:spPr>
          <a:xfrm>
            <a:off x="5349010" y="0"/>
            <a:ext cx="1493980" cy="228163"/>
          </a:xfrm>
          <a:prstGeom prst="rect">
            <a:avLst/>
          </a:prstGeom>
          <a:noFill/>
        </p:spPr>
        <p:txBody>
          <a:bodyPr vert="horz" wrap="square" lIns="0" tIns="0" rIns="0" bIns="0" rtlCol="0" anchor="ctr" anchorCtr="1">
            <a:spAutoFit/>
          </a:bodyPr>
          <a:lstStyle/>
          <a:p>
            <a:pPr algn="ctr">
              <a:spcBef>
                <a:spcPts val="0"/>
              </a:spcBef>
              <a:spcAft>
                <a:spcPts val="0"/>
              </a:spcAft>
            </a:pPr>
            <a:r>
              <a:rPr lang="en-US" sz="800">
                <a:solidFill>
                  <a:srgbClr val="000000"/>
                </a:solidFill>
                <a:latin typeface="Calibri" panose="020F0502020204030204" pitchFamily="34" charset="0"/>
              </a:rPr>
              <a:t>SMU Classification: Restricted</a:t>
            </a:r>
          </a:p>
        </p:txBody>
      </p:sp>
    </p:spTree>
    <p:extLst>
      <p:ext uri="{BB962C8B-B14F-4D97-AF65-F5344CB8AC3E}">
        <p14:creationId xmlns:p14="http://schemas.microsoft.com/office/powerpoint/2010/main" val="4129867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F105FB-5C49-7C46-A92F-06252C58D053}"/>
              </a:ext>
            </a:extLst>
          </p:cNvPr>
          <p:cNvSpPr txBox="1">
            <a:spLocks noChangeArrowheads="1"/>
          </p:cNvSpPr>
          <p:nvPr/>
        </p:nvSpPr>
        <p:spPr>
          <a:xfrm>
            <a:off x="2099616" y="3079416"/>
            <a:ext cx="7772400" cy="6991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sz="2800" b="1"/>
            </a:pPr>
            <a:r>
              <a:t>ConnectSphere — IS212 Project Presentation</a:t>
            </a:r>
          </a:p>
          <a:p>
            <a:pPr>
              <a:defRPr sz="2800" b="1"/>
            </a:pPr>
            <a:r>
              <a:t>AY2026/27 Team: ConnectSphere</a:t>
            </a:r>
          </a:p>
        </p:txBody>
      </p:sp>
    </p:spTree>
    <p:extLst>
      <p:ext uri="{BB962C8B-B14F-4D97-AF65-F5344CB8AC3E}">
        <p14:creationId xmlns:p14="http://schemas.microsoft.com/office/powerpoint/2010/main" val="101302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3E1A66-D8B6-0CD0-2946-3FBA66B2EEA9}"/>
              </a:ext>
            </a:extLst>
          </p:cNvPr>
          <p:cNvSpPr txBox="1">
            <a:spLocks noChangeArrowheads="1"/>
          </p:cNvSpPr>
          <p:nvPr/>
        </p:nvSpPr>
        <p:spPr>
          <a:xfrm>
            <a:off x="5648359" y="38779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Index</a:t>
            </a:r>
          </a:p>
        </p:txBody>
      </p:sp>
      <p:sp>
        <p:nvSpPr>
          <p:cNvPr id="4" name="TextBox 3">
            <a:extLst>
              <a:ext uri="{FF2B5EF4-FFF2-40B4-BE49-F238E27FC236}">
                <a16:creationId xmlns:a16="http://schemas.microsoft.com/office/drawing/2014/main" id="{3155F615-341E-FCEA-6E2C-30D60F780979}"/>
              </a:ext>
            </a:extLst>
          </p:cNvPr>
          <p:cNvSpPr txBox="1"/>
          <p:nvPr/>
        </p:nvSpPr>
        <p:spPr>
          <a:xfrm>
            <a:off x="340014" y="1448551"/>
            <a:ext cx="11511971" cy="369332"/>
          </a:xfrm>
          <a:prstGeom prst="rect">
            <a:avLst/>
          </a:prstGeom>
          <a:noFill/>
        </p:spPr>
        <p:txBody>
          <a:bodyPr wrap="square">
            <a:spAutoFit/>
          </a:bodyPr>
          <a:lstStyle/>
          <a:p>
            <a:pPr lvl="0"/>
            <a:r>
              <a:rPr lang="en-SG"/>
              <a:t>This page acts as a “content page” for your project.</a:t>
            </a:r>
          </a:p>
        </p:txBody>
      </p:sp>
      <p:graphicFrame>
        <p:nvGraphicFramePr>
          <p:cNvPr id="6" name="Table 5">
            <a:extLst>
              <a:ext uri="{FF2B5EF4-FFF2-40B4-BE49-F238E27FC236}">
                <a16:creationId xmlns:a16="http://schemas.microsoft.com/office/drawing/2014/main" id="{E0E7A347-10AC-03FB-10E2-56AA362B959B}"/>
              </a:ext>
            </a:extLst>
          </p:cNvPr>
          <p:cNvGraphicFramePr>
            <a:graphicFrameLocks noGrp="1"/>
          </p:cNvGraphicFramePr>
          <p:nvPr>
            <p:extLst>
              <p:ext uri="{D42A27DB-BD31-4B8C-83A1-F6EECF244321}">
                <p14:modId xmlns:p14="http://schemas.microsoft.com/office/powerpoint/2010/main" val="2871386978"/>
              </p:ext>
            </p:extLst>
          </p:nvPr>
        </p:nvGraphicFramePr>
        <p:xfrm>
          <a:off x="457811" y="1916036"/>
          <a:ext cx="11276376" cy="46939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76270489"/>
                    </a:ext>
                  </a:extLst>
                </a:gridCol>
                <a:gridCol w="7212376">
                  <a:extLst>
                    <a:ext uri="{9D8B030D-6E8A-4147-A177-3AD203B41FA5}">
                      <a16:colId xmlns:a16="http://schemas.microsoft.com/office/drawing/2014/main" val="2851217706"/>
                    </a:ext>
                  </a:extLst>
                </a:gridCol>
              </a:tblGrid>
              <a:tr h="370840">
                <a:tc>
                  <a:txBody>
                    <a:bodyPr/>
                    <a:lstStyle/>
                    <a:p>
                      <a:pPr>
                        <a:defRPr sz="1100"/>
                      </a:pPr>
                      <a:r>
                        <a:rPr lang="en-US"/>
                        <a:t>Item</a:t>
                      </a:r>
                    </a:p>
                  </a:txBody>
                  <a:tcPr/>
                </a:tc>
                <a:tc>
                  <a:txBody>
                    <a:bodyPr/>
                    <a:lstStyle/>
                    <a:p>
                      <a:pPr>
                        <a:defRPr sz="1100"/>
                      </a:pPr>
                      <a:r>
                        <a:rPr lang="en-US"/>
                        <a:t>URL, location or file/folder name in zip file</a:t>
                      </a:r>
                    </a:p>
                  </a:txBody>
                  <a:tcPr/>
                </a:tc>
                <a:extLst>
                  <a:ext uri="{0D108BD9-81ED-4DB2-BD59-A6C34878D82A}">
                    <a16:rowId xmlns:a16="http://schemas.microsoft.com/office/drawing/2014/main" val="110375466"/>
                  </a:ext>
                </a:extLst>
              </a:tr>
              <a:tr h="370840">
                <a:tc>
                  <a:txBody>
                    <a:bodyPr/>
                    <a:lstStyle/>
                    <a:p>
                      <a:pPr>
                        <a:defRPr sz="1100"/>
                      </a:pPr>
                      <a:r>
                        <a:rPr lang="en-US"/>
                        <a:t>Product backlog</a:t>
                      </a:r>
                    </a:p>
                  </a:txBody>
                  <a:tcPr/>
                </a:tc>
                <a:tc>
                  <a:txBody>
                    <a:bodyPr/>
                    <a:lstStyle/>
                    <a:p>
                      <a:pPr>
                        <a:defRPr sz="1100"/>
                      </a:pPr>
                      <a:r>
                        <a:t>docs/CONNECTSPHERE BACKLOGS CAA 281026.xlsx and docs/backlog/</a:t>
                      </a:r>
                    </a:p>
                  </a:txBody>
                  <a:tcPr/>
                </a:tc>
                <a:extLst>
                  <a:ext uri="{0D108BD9-81ED-4DB2-BD59-A6C34878D82A}">
                    <a16:rowId xmlns:a16="http://schemas.microsoft.com/office/drawing/2014/main" val="3996746580"/>
                  </a:ext>
                </a:extLst>
              </a:tr>
              <a:tr h="370840">
                <a:tc>
                  <a:txBody>
                    <a:bodyPr/>
                    <a:lstStyle/>
                    <a:p>
                      <a:pPr>
                        <a:defRPr sz="1100"/>
                      </a:pPr>
                      <a:r>
                        <a:rPr lang="en-US"/>
                        <a:t>Git URL (e.g. GitHub)</a:t>
                      </a:r>
                      <a:br>
                        <a:rPr lang="en-US"/>
                      </a:br>
                      <a:r>
                        <a:rPr lang="en-US" i="1"/>
                        <a:t>(remember to add your two instructors to the repository; see instructions)</a:t>
                      </a:r>
                    </a:p>
                  </a:txBody>
                  <a:tcPr/>
                </a:tc>
                <a:tc>
                  <a:txBody>
                    <a:bodyPr/>
                    <a:lstStyle/>
                    <a:p>
                      <a:pPr>
                        <a:defRPr sz="1100"/>
                      </a:pPr>
                      <a:r>
                        <a:t>https://github.com/hongyime/sgConnectSphere2026</a:t>
                      </a:r>
                    </a:p>
                  </a:txBody>
                  <a:tcPr/>
                </a:tc>
                <a:extLst>
                  <a:ext uri="{0D108BD9-81ED-4DB2-BD59-A6C34878D82A}">
                    <a16:rowId xmlns:a16="http://schemas.microsoft.com/office/drawing/2014/main" val="3624267888"/>
                  </a:ext>
                </a:extLst>
              </a:tr>
              <a:tr h="370840">
                <a:tc>
                  <a:txBody>
                    <a:bodyPr/>
                    <a:lstStyle/>
                    <a:p>
                      <a:pPr>
                        <a:defRPr sz="1100"/>
                      </a:pPr>
                      <a:r>
                        <a:rPr lang="en-US"/>
                        <a:t>Exports of project management tools (e.g. Google Sheets, Jira, Notion docs, …)</a:t>
                      </a:r>
                    </a:p>
                  </a:txBody>
                  <a:tcPr/>
                </a:tc>
                <a:tc>
                  <a:txBody>
                    <a:bodyPr/>
                    <a:lstStyle/>
                    <a:p>
                      <a:pPr>
                        <a:defRPr sz="1100"/>
                      </a:pPr>
                      <a:r>
                        <a:t>docs/CONNECTSPHERE BACKLOGS CAA 281026.xlsx, docs/testing/PROJECT TEST CASES CAA 281026.xlsx, Jira Board 1</a:t>
                      </a:r>
                    </a:p>
                  </a:txBody>
                  <a:tcPr/>
                </a:tc>
                <a:extLst>
                  <a:ext uri="{0D108BD9-81ED-4DB2-BD59-A6C34878D82A}">
                    <a16:rowId xmlns:a16="http://schemas.microsoft.com/office/drawing/2014/main" val="2558648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sz="1100"/>
                      </a:pPr>
                      <a:r>
                        <a:rPr lang="en-US"/>
                        <a:t>Video recording URLs of sprint 4 scrum ceremonies</a:t>
                      </a:r>
                    </a:p>
                  </a:txBody>
                  <a:tcPr/>
                </a:tc>
                <a:tc>
                  <a:txBody>
                    <a:bodyPr/>
                    <a:lstStyle/>
                    <a:p>
                      <a:pPr>
                        <a:defRPr sz="1100"/>
                      </a:pPr>
                      <a:r>
                        <a:t>Sprint 4 Ceremonies: Standup [link to be added], Review [link to be added], Retrospective [link to be added]</a:t>
                      </a:r>
                    </a:p>
                  </a:txBody>
                  <a:tcPr/>
                </a:tc>
                <a:extLst>
                  <a:ext uri="{0D108BD9-81ED-4DB2-BD59-A6C34878D82A}">
                    <a16:rowId xmlns:a16="http://schemas.microsoft.com/office/drawing/2014/main" val="1706105453"/>
                  </a:ext>
                </a:extLst>
              </a:tr>
              <a:tr h="370840">
                <a:tc>
                  <a:txBody>
                    <a:bodyPr/>
                    <a:lstStyle/>
                    <a:p>
                      <a:pPr>
                        <a:defRPr sz="1100"/>
                      </a:pPr>
                      <a:r>
                        <a:t>Interactive Metrics Dashboard (PostPlan)</a:t>
                      </a:r>
                    </a:p>
                  </a:txBody>
                  <a:tcPr/>
                </a:tc>
                <a:tc>
                  <a:txBody>
                    <a:bodyPr/>
                    <a:lstStyle/>
                    <a:p>
                      <a:pPr>
                        <a:defRPr sz="1100"/>
                      </a:pPr>
                      <a:r>
                        <a:t>https://5p9t29p9jotq.postplan.dev (Draft ID: 5p9t29p9jotq)</a:t>
                      </a:r>
                    </a:p>
                  </a:txBody>
                  <a:tcPr/>
                </a:tc>
                <a:extLst>
                  <a:ext uri="{0D108BD9-81ED-4DB2-BD59-A6C34878D82A}">
                    <a16:rowId xmlns:a16="http://schemas.microsoft.com/office/drawing/2014/main" val="690200951"/>
                  </a:ext>
                </a:extLst>
              </a:tr>
              <a:tr h="370840">
                <a:tc>
                  <a:txBody>
                    <a:bodyPr/>
                    <a:lstStyle/>
                    <a:p>
                      <a:pPr>
                        <a:defRPr sz="1100"/>
                      </a:pPr>
                      <a:r>
                        <a:t>Architecture &amp; C4 Models</a:t>
                      </a:r>
                    </a:p>
                  </a:txBody>
                  <a:tcPr/>
                </a:tc>
                <a:tc>
                  <a:txBody>
                    <a:bodyPr/>
                    <a:lstStyle/>
                    <a:p>
                      <a:pPr>
                        <a:defRPr sz="1100"/>
                      </a:pPr>
                      <a:r>
                        <a:t>docs/c4-diagrams.md (C4 C1/C2 Mermaid) and docs/architecture.md</a:t>
                      </a:r>
                    </a:p>
                  </a:txBody>
                  <a:tcPr/>
                </a:tc>
                <a:extLst>
                  <a:ext uri="{0D108BD9-81ED-4DB2-BD59-A6C34878D82A}">
                    <a16:rowId xmlns:a16="http://schemas.microsoft.com/office/drawing/2014/main" val="4070079325"/>
                  </a:ext>
                </a:extLst>
              </a:tr>
              <a:tr h="370840">
                <a:tc>
                  <a:txBody>
                    <a:bodyPr/>
                    <a:lstStyle/>
                    <a:p>
                      <a:pPr>
                        <a:defRPr sz="1100"/>
                      </a:pPr>
                      <a:r>
                        <a:t>Audit Trails &amp; Test Runs</a:t>
                      </a:r>
                    </a:p>
                  </a:txBody>
                  <a:tcPr/>
                </a:tc>
                <a:tc>
                  <a:txBody>
                    <a:bodyPr/>
                    <a:lstStyle/>
                    <a:p>
                      <a:pPr>
                        <a:defRPr sz="1100"/>
                      </a:pPr>
                      <a:r>
                        <a:t>docs/testing/runs/ (739 records) &amp; docs/testing/runs/evidence/ (509 screenshots)</a:t>
                      </a:r>
                    </a:p>
                  </a:txBody>
                  <a:tcPr/>
                </a:tc>
                <a:extLst>
                  <a:ext uri="{0D108BD9-81ED-4DB2-BD59-A6C34878D82A}">
                    <a16:rowId xmlns:a16="http://schemas.microsoft.com/office/drawing/2014/main" val="4180673784"/>
                  </a:ext>
                </a:extLst>
              </a:tr>
              <a:tr h="370840">
                <a:tc>
                  <a:txBody>
                    <a:bodyPr/>
                    <a:lstStyle/>
                    <a:p>
                      <a:pPr>
                        <a:defRPr sz="1100"/>
                      </a:pPr>
                      <a:r>
                        <a:t>Decisions &amp; SOT</a:t>
                      </a:r>
                    </a:p>
                  </a:txBody>
                  <a:tcPr/>
                </a:tc>
                <a:tc>
                  <a:txBody>
                    <a:bodyPr/>
                    <a:lstStyle/>
                    <a:p>
                      <a:pPr>
                        <a:defRPr sz="1100"/>
                      </a:pPr>
                      <a:r>
                        <a:t>docs/bdr/B-team-decisions.md &amp; docs/source-of-truth.md</a:t>
                      </a:r>
                    </a:p>
                  </a:txBody>
                  <a:tcPr/>
                </a:tc>
                <a:extLst>
                  <a:ext uri="{0D108BD9-81ED-4DB2-BD59-A6C34878D82A}">
                    <a16:rowId xmlns:a16="http://schemas.microsoft.com/office/drawing/2014/main" val="4049637339"/>
                  </a:ext>
                </a:extLst>
              </a:tr>
            </a:tbl>
          </a:graphicData>
        </a:graphic>
      </p:graphicFrame>
    </p:spTree>
    <p:extLst>
      <p:ext uri="{BB962C8B-B14F-4D97-AF65-F5344CB8AC3E}">
        <p14:creationId xmlns:p14="http://schemas.microsoft.com/office/powerpoint/2010/main" val="111132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DA8B45-FD63-2AF7-E6C3-CA68DA63B13A}"/>
              </a:ext>
            </a:extLst>
          </p:cNvPr>
          <p:cNvSpPr txBox="1"/>
          <p:nvPr/>
        </p:nvSpPr>
        <p:spPr>
          <a:xfrm>
            <a:off x="298111" y="1668888"/>
            <a:ext cx="11511971" cy="3416320"/>
          </a:xfrm>
          <a:prstGeom prst="rect">
            <a:avLst/>
          </a:prstGeom>
          <a:noFill/>
        </p:spPr>
        <p:txBody>
          <a:bodyPr wrap="square">
            <a:spAutoFit/>
          </a:bodyPr>
          <a:lstStyle/>
          <a:p>
            <a:pPr marL="342900" lvl="0" indent="-342900">
              <a:buFont typeface="Arial" panose="020B0604020202020204" pitchFamily="34" charset="0"/>
              <a:buChar char="•"/>
            </a:pPr>
            <a:r>
              <a:rPr lang="en-SG" b="1"/>
              <a:t>Do not add or delete any slide or question.</a:t>
            </a:r>
            <a:r>
              <a:rPr lang="en-SG"/>
              <a:t> If something does not apply, state “Not applicable” and explain why.</a:t>
            </a:r>
          </a:p>
          <a:p>
            <a:pPr marL="342900" lvl="0" indent="-342900">
              <a:buFont typeface="Arial" panose="020B0604020202020204" pitchFamily="34" charset="0"/>
              <a:buChar char="•"/>
            </a:pPr>
            <a:r>
              <a:rPr lang="en-SG" b="1"/>
              <a:t>Do not answer only with general statements.</a:t>
            </a:r>
            <a:r>
              <a:rPr lang="en-SG"/>
              <a:t> Cite evidence where appropriate or requested, tell us exactly where the relevant Jira item, pull request, commit, test, document, meeting record, or other artefact is. </a:t>
            </a:r>
          </a:p>
          <a:p>
            <a:pPr marL="342900" lvl="0" indent="-342900">
              <a:buFont typeface="Arial" panose="020B0604020202020204" pitchFamily="34" charset="0"/>
              <a:buChar char="•"/>
            </a:pPr>
            <a:r>
              <a:rPr lang="en-SG" b="1"/>
              <a:t>Disclose AI use accurately.</a:t>
            </a:r>
            <a:r>
              <a:rPr lang="en-SG"/>
              <a:t> AI use itself is not penalised.</a:t>
            </a:r>
          </a:p>
          <a:p>
            <a:pPr marL="342900" lvl="0" indent="-342900">
              <a:buFont typeface="Arial" panose="020B0604020202020204" pitchFamily="34" charset="0"/>
              <a:buChar char="•"/>
            </a:pPr>
            <a:r>
              <a:rPr lang="en-SG" b="1"/>
              <a:t>Any team member may be asked about any answer in the deck during the Q&amp;A.</a:t>
            </a:r>
            <a:endParaRPr lang="en-SG"/>
          </a:p>
          <a:p>
            <a:pPr marL="342900" lvl="0" indent="-342900">
              <a:buFont typeface="Arial" panose="020B0604020202020204" pitchFamily="34" charset="0"/>
              <a:buChar char="•"/>
            </a:pPr>
            <a:r>
              <a:rPr lang="en-SG" b="1"/>
              <a:t>Claims made in the deck WILL be verified against the submitted repository, backlog and Scrum artefacts.</a:t>
            </a:r>
            <a:endParaRPr lang="en-SG"/>
          </a:p>
          <a:p>
            <a:pPr marL="342900" lvl="0" indent="-342900">
              <a:buFont typeface="Arial" panose="020B0604020202020204" pitchFamily="34" charset="0"/>
              <a:buChar char="•"/>
            </a:pPr>
            <a:r>
              <a:rPr lang="en-SG" b="1"/>
              <a:t>Known shortcomings should be disclosed rather than hidden. </a:t>
            </a:r>
          </a:p>
          <a:p>
            <a:pPr marL="342900" lvl="0" indent="-342900">
              <a:buFont typeface="Arial" panose="020B0604020202020204" pitchFamily="34" charset="0"/>
              <a:buChar char="•"/>
            </a:pPr>
            <a:r>
              <a:rPr lang="en-SG"/>
              <a:t>You are allowed to change the </a:t>
            </a:r>
            <a:r>
              <a:rPr lang="en-SG" b="1"/>
              <a:t>sizes </a:t>
            </a:r>
            <a:r>
              <a:rPr lang="en-SG"/>
              <a:t>of the given text boxes, but not delete them. (You decide how much you want to say for each item, without exceeding the slide or making the text unreadable.)</a:t>
            </a:r>
          </a:p>
        </p:txBody>
      </p:sp>
      <p:sp>
        <p:nvSpPr>
          <p:cNvPr id="4" name="Rectangle 2">
            <a:extLst>
              <a:ext uri="{FF2B5EF4-FFF2-40B4-BE49-F238E27FC236}">
                <a16:creationId xmlns:a16="http://schemas.microsoft.com/office/drawing/2014/main" id="{E2919FD3-9E94-05A3-79BC-230E344C9A9C}"/>
              </a:ext>
            </a:extLst>
          </p:cNvPr>
          <p:cNvSpPr txBox="1">
            <a:spLocks noChangeArrowheads="1"/>
          </p:cNvSpPr>
          <p:nvPr/>
        </p:nvSpPr>
        <p:spPr>
          <a:xfrm>
            <a:off x="5375189" y="38779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Ground Rules</a:t>
            </a:r>
          </a:p>
        </p:txBody>
      </p:sp>
    </p:spTree>
    <p:extLst>
      <p:ext uri="{BB962C8B-B14F-4D97-AF65-F5344CB8AC3E}">
        <p14:creationId xmlns:p14="http://schemas.microsoft.com/office/powerpoint/2010/main" val="62309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0A6E8-FFB5-FB01-E556-33455B99570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F394F906-2072-545D-27BE-D172B0E4394F}"/>
              </a:ext>
            </a:extLst>
          </p:cNvPr>
          <p:cNvSpPr txBox="1"/>
          <p:nvPr/>
        </p:nvSpPr>
        <p:spPr>
          <a:xfrm>
            <a:off x="247651" y="1400622"/>
            <a:ext cx="11383735" cy="369332"/>
          </a:xfrm>
          <a:prstGeom prst="rect">
            <a:avLst/>
          </a:prstGeom>
          <a:noFill/>
        </p:spPr>
        <p:txBody>
          <a:bodyPr wrap="square">
            <a:spAutoFit/>
          </a:bodyPr>
          <a:lstStyle/>
          <a:p>
            <a:pPr marL="285750" lvl="0" indent="-285750">
              <a:buFont typeface="Arial" panose="020B0604020202020204" pitchFamily="34" charset="0"/>
              <a:buChar char="•"/>
            </a:pPr>
            <a:r>
              <a:rPr lang="en-SG"/>
              <a:t>Which of the changes in Week 7 had the </a:t>
            </a:r>
            <a:r>
              <a:rPr lang="en-SG" b="1"/>
              <a:t>most</a:t>
            </a:r>
            <a:r>
              <a:rPr lang="en-SG"/>
              <a:t> impact and why?</a:t>
            </a:r>
          </a:p>
        </p:txBody>
      </p:sp>
      <p:sp>
        <p:nvSpPr>
          <p:cNvPr id="12" name="Rectangle 2">
            <a:extLst>
              <a:ext uri="{FF2B5EF4-FFF2-40B4-BE49-F238E27FC236}">
                <a16:creationId xmlns:a16="http://schemas.microsoft.com/office/drawing/2014/main" id="{5DEF6304-A301-DDB8-1EF0-ABB207CB146B}"/>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Handling the Customer Change (i)</a:t>
            </a:r>
          </a:p>
        </p:txBody>
      </p:sp>
      <p:sp>
        <p:nvSpPr>
          <p:cNvPr id="3" name="TextBox 2">
            <a:extLst>
              <a:ext uri="{FF2B5EF4-FFF2-40B4-BE49-F238E27FC236}">
                <a16:creationId xmlns:a16="http://schemas.microsoft.com/office/drawing/2014/main" id="{559B88C5-EAD0-C571-42F7-8A17AE7DAE54}"/>
              </a:ext>
            </a:extLst>
          </p:cNvPr>
          <p:cNvSpPr txBox="1"/>
          <p:nvPr/>
        </p:nvSpPr>
        <p:spPr>
          <a:xfrm>
            <a:off x="317045" y="1846154"/>
            <a:ext cx="11582403" cy="1092607"/>
          </a:xfrm>
          <a:prstGeom prst="rect">
            <a:avLst/>
          </a:prstGeom>
          <a:solidFill>
            <a:schemeClr val="accent1">
              <a:lumMod val="40000"/>
              <a:lumOff val="60000"/>
            </a:schemeClr>
          </a:solidFill>
        </p:spPr>
        <p:txBody>
          <a:bodyPr wrap="square" rtlCol="0">
            <a:spAutoFit/>
          </a:bodyPr>
          <a:lstStyle/>
          <a:p>
            <a:pPr>
              <a:defRPr sz="1300"/>
            </a:pPr>
            <a:r>
              <a:rPr sz="1300"/>
              <a:t>Cancellation Policy Cascade &amp; Waiting-List Claims:</a:t>
            </a:r>
          </a:p>
          <a:p>
            <a:r>
              <a:rPr sz="1300"/>
              <a:t>Introducing post-confirmation cancellation rules and attendee waiting lists changed the transactional state machine. When a place is released, every waitlisted Attendee is notified and the place goes to whoever claims first (C-23, T-33, T-46): there is no ordered queue, no automatic promotion and no hold window. Cancelling an Event also notifies affected Attendees, closes obsolete change requests and releases Session arrangements in one transaction with audit records. This required atomic transactions, status polymorphism (#371) and regression tests.</a:t>
            </a:r>
          </a:p>
        </p:txBody>
      </p:sp>
      <p:sp>
        <p:nvSpPr>
          <p:cNvPr id="8" name="TextBox 7">
            <a:extLst>
              <a:ext uri="{FF2B5EF4-FFF2-40B4-BE49-F238E27FC236}">
                <a16:creationId xmlns:a16="http://schemas.microsoft.com/office/drawing/2014/main" id="{9CA05C5D-904D-DB93-C403-026146120B5E}"/>
              </a:ext>
            </a:extLst>
          </p:cNvPr>
          <p:cNvSpPr txBox="1"/>
          <p:nvPr/>
        </p:nvSpPr>
        <p:spPr>
          <a:xfrm>
            <a:off x="247651" y="3014961"/>
            <a:ext cx="11745688" cy="369332"/>
          </a:xfrm>
          <a:prstGeom prst="rect">
            <a:avLst/>
          </a:prstGeom>
          <a:noFill/>
        </p:spPr>
        <p:txBody>
          <a:bodyPr wrap="square" lIns="91440" tIns="45720" rIns="91440" bIns="45720" anchor="t">
            <a:spAutoFit/>
          </a:bodyPr>
          <a:lstStyle/>
          <a:p>
            <a:pPr marL="285750" lvl="0" indent="-285750">
              <a:buFont typeface="Arial" panose="020B0604020202020204" pitchFamily="34" charset="0"/>
              <a:buChar char="•"/>
            </a:pPr>
            <a:r>
              <a:rPr lang="en-SG"/>
              <a:t>Describe how you handled these changes, and which components of your project were affected and how.</a:t>
            </a:r>
          </a:p>
        </p:txBody>
      </p:sp>
      <p:sp>
        <p:nvSpPr>
          <p:cNvPr id="9" name="TextBox 8">
            <a:extLst>
              <a:ext uri="{FF2B5EF4-FFF2-40B4-BE49-F238E27FC236}">
                <a16:creationId xmlns:a16="http://schemas.microsoft.com/office/drawing/2014/main" id="{3C05F446-7E48-C388-5966-4A32DBE5EBCE}"/>
              </a:ext>
            </a:extLst>
          </p:cNvPr>
          <p:cNvSpPr txBox="1"/>
          <p:nvPr/>
        </p:nvSpPr>
        <p:spPr>
          <a:xfrm>
            <a:off x="333734" y="3460493"/>
            <a:ext cx="11582403" cy="1292662"/>
          </a:xfrm>
          <a:prstGeom prst="rect">
            <a:avLst/>
          </a:prstGeom>
          <a:solidFill>
            <a:schemeClr val="accent1">
              <a:lumMod val="40000"/>
              <a:lumOff val="60000"/>
            </a:schemeClr>
          </a:solidFill>
        </p:spPr>
        <p:txBody>
          <a:bodyPr wrap="square" rtlCol="0">
            <a:spAutoFit/>
          </a:bodyPr>
          <a:lstStyle/>
          <a:p>
            <a:pPr>
              <a:defRPr sz="1300"/>
            </a:pPr>
            <a:r>
              <a:rPr sz="1300"/>
              <a:t>• Architecture &amp; Database: migration 0025 adds venue unavailability over existing bookings (#348); cancellation and release logic is in backend/src/modules/eventLifecycle/cancellation.ts and backend/src/modules/venueBooking/lostVenueRecovery.ts.</a:t>
            </a:r>
          </a:p>
          <a:p>
            <a:r>
              <a:rPr sz="1300"/>
              <a:t>• Frontend: organiser event cancellation with a recorded reason, waiting-list and withdrawal states for Attendees, and booking replacement flows (frontend/src/features/events/, frontend/src/features/venue/).</a:t>
            </a:r>
          </a:p>
          <a:p>
            <a:r>
              <a:rPr sz="1300"/>
              <a:t>• Testing &amp; Verification: automated suites eventCancellation.test.ts, cancellationRecovery.integration.test.ts and attendeeCapacity.test.ts, plus T-65 manual click-through records in docs/testing/runs/.</a:t>
            </a:r>
          </a:p>
        </p:txBody>
      </p:sp>
    </p:spTree>
    <p:extLst>
      <p:ext uri="{BB962C8B-B14F-4D97-AF65-F5344CB8AC3E}">
        <p14:creationId xmlns:p14="http://schemas.microsoft.com/office/powerpoint/2010/main" val="1394506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1419B-08EC-0DE9-6CB0-792D24668AD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23157CC-C155-A981-CD6B-F603456109E5}"/>
              </a:ext>
            </a:extLst>
          </p:cNvPr>
          <p:cNvSpPr txBox="1"/>
          <p:nvPr/>
        </p:nvSpPr>
        <p:spPr>
          <a:xfrm>
            <a:off x="247651" y="1400622"/>
            <a:ext cx="11383735" cy="369332"/>
          </a:xfrm>
          <a:prstGeom prst="rect">
            <a:avLst/>
          </a:prstGeom>
          <a:noFill/>
        </p:spPr>
        <p:txBody>
          <a:bodyPr wrap="square">
            <a:spAutoFit/>
          </a:bodyPr>
          <a:lstStyle/>
          <a:p>
            <a:pPr marL="285750" lvl="0" indent="-285750">
              <a:buFont typeface="Arial" panose="020B0604020202020204" pitchFamily="34" charset="0"/>
              <a:buChar char="•"/>
            </a:pPr>
            <a:r>
              <a:rPr lang="en-SG"/>
              <a:t>Which of the changes in Week 7 had the </a:t>
            </a:r>
            <a:r>
              <a:rPr lang="en-SG" b="1"/>
              <a:t>least</a:t>
            </a:r>
            <a:r>
              <a:rPr lang="en-SG"/>
              <a:t> impact and why?</a:t>
            </a:r>
          </a:p>
        </p:txBody>
      </p:sp>
      <p:sp>
        <p:nvSpPr>
          <p:cNvPr id="12" name="Rectangle 2">
            <a:extLst>
              <a:ext uri="{FF2B5EF4-FFF2-40B4-BE49-F238E27FC236}">
                <a16:creationId xmlns:a16="http://schemas.microsoft.com/office/drawing/2014/main" id="{FCF2ACBC-6984-61F5-AA11-3F673F1A3EF5}"/>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Handling the Customer Change (ii)</a:t>
            </a:r>
          </a:p>
        </p:txBody>
      </p:sp>
      <p:sp>
        <p:nvSpPr>
          <p:cNvPr id="3" name="TextBox 2">
            <a:extLst>
              <a:ext uri="{FF2B5EF4-FFF2-40B4-BE49-F238E27FC236}">
                <a16:creationId xmlns:a16="http://schemas.microsoft.com/office/drawing/2014/main" id="{4C01F5ED-73E6-1D22-D09D-6D6EEEC4E32F}"/>
              </a:ext>
            </a:extLst>
          </p:cNvPr>
          <p:cNvSpPr txBox="1"/>
          <p:nvPr/>
        </p:nvSpPr>
        <p:spPr>
          <a:xfrm>
            <a:off x="317045" y="1846154"/>
            <a:ext cx="11582403" cy="892552"/>
          </a:xfrm>
          <a:prstGeom prst="rect">
            <a:avLst/>
          </a:prstGeom>
          <a:solidFill>
            <a:schemeClr val="accent1">
              <a:lumMod val="40000"/>
              <a:lumOff val="60000"/>
            </a:schemeClr>
          </a:solidFill>
        </p:spPr>
        <p:txBody>
          <a:bodyPr wrap="square" rtlCol="0">
            <a:spAutoFit/>
          </a:bodyPr>
          <a:lstStyle/>
          <a:p>
            <a:pPr>
              <a:defRPr sz="1300"/>
            </a:pPr>
            <a:r>
              <a:rPr sz="1300"/>
              <a:t>Venue Amenity Tagging &amp; Setup/Turnaround Buffer Visibility:</a:t>
            </a:r>
          </a:p>
          <a:p>
            <a:r>
              <a:rPr sz="1300"/>
              <a:t>Displaying turnaround buffers and filtering venues by amenity tags had minimal structural impact. The underlying venue entity already tracked capacity, supported layouts, facilities and accessibility features. Buffers and tags operated as purely additive non-breaking attributes that did not disrupt existing booking state transitions or require state machine refactoring.</a:t>
            </a:r>
          </a:p>
        </p:txBody>
      </p:sp>
      <p:sp>
        <p:nvSpPr>
          <p:cNvPr id="8" name="TextBox 7">
            <a:extLst>
              <a:ext uri="{FF2B5EF4-FFF2-40B4-BE49-F238E27FC236}">
                <a16:creationId xmlns:a16="http://schemas.microsoft.com/office/drawing/2014/main" id="{189DA051-3389-4020-DA87-716B3ADB2604}"/>
              </a:ext>
            </a:extLst>
          </p:cNvPr>
          <p:cNvSpPr txBox="1"/>
          <p:nvPr/>
        </p:nvSpPr>
        <p:spPr>
          <a:xfrm>
            <a:off x="247651" y="2814906"/>
            <a:ext cx="11745688" cy="369332"/>
          </a:xfrm>
          <a:prstGeom prst="rect">
            <a:avLst/>
          </a:prstGeom>
          <a:noFill/>
        </p:spPr>
        <p:txBody>
          <a:bodyPr wrap="square" lIns="91440" tIns="45720" rIns="91440" bIns="45720" anchor="t">
            <a:spAutoFit/>
          </a:bodyPr>
          <a:lstStyle/>
          <a:p>
            <a:pPr marL="285750" lvl="0" indent="-285750">
              <a:buFont typeface="Arial" panose="020B0604020202020204" pitchFamily="34" charset="0"/>
              <a:buChar char="•"/>
            </a:pPr>
            <a:r>
              <a:rPr lang="en-SG"/>
              <a:t>Describe how you handled these changes, and which components of your project were affected and how.</a:t>
            </a:r>
          </a:p>
        </p:txBody>
      </p:sp>
      <p:sp>
        <p:nvSpPr>
          <p:cNvPr id="9" name="TextBox 8">
            <a:extLst>
              <a:ext uri="{FF2B5EF4-FFF2-40B4-BE49-F238E27FC236}">
                <a16:creationId xmlns:a16="http://schemas.microsoft.com/office/drawing/2014/main" id="{3DE0B740-FC8A-EADB-DBF0-33979834C537}"/>
              </a:ext>
            </a:extLst>
          </p:cNvPr>
          <p:cNvSpPr txBox="1"/>
          <p:nvPr/>
        </p:nvSpPr>
        <p:spPr>
          <a:xfrm>
            <a:off x="304797" y="3260438"/>
            <a:ext cx="11582403" cy="1292662"/>
          </a:xfrm>
          <a:prstGeom prst="rect">
            <a:avLst/>
          </a:prstGeom>
          <a:solidFill>
            <a:schemeClr val="accent1">
              <a:lumMod val="40000"/>
              <a:lumOff val="60000"/>
            </a:schemeClr>
          </a:solidFill>
        </p:spPr>
        <p:txBody>
          <a:bodyPr wrap="square" rtlCol="0">
            <a:spAutoFit/>
          </a:bodyPr>
          <a:lstStyle/>
          <a:p>
            <a:pPr>
              <a:defRPr sz="1300"/>
            </a:pPr>
            <a:r>
              <a:rPr sz="1300"/>
              <a:t>• Backend: venue search and suitability gained optional amenity and accessibility filters and turnaround buffers (backend/src/modules/venueBooking/search.ts, suitability.ts).</a:t>
            </a:r>
          </a:p>
          <a:p>
            <a:r>
              <a:rPr sz="1300"/>
              <a:t>• Frontend: buffer fields in VenueForm.tsx, buffers shown in VenueCalendar.tsx, and facility and accessibility filters in VenueSearch.tsx (frontend/src/features/venue/).</a:t>
            </a:r>
          </a:p>
          <a:p>
            <a:r>
              <a:rPr sz="1300"/>
              <a:t>• Verification: VenueSearch.navigation.test.tsx, venueSearch.test.ts and venueSuitability.test.ts for the filters, and venueBufferConflicts.integration.test.ts for buffers; booking state transitions unchanged.</a:t>
            </a:r>
          </a:p>
        </p:txBody>
      </p:sp>
    </p:spTree>
    <p:extLst>
      <p:ext uri="{BB962C8B-B14F-4D97-AF65-F5344CB8AC3E}">
        <p14:creationId xmlns:p14="http://schemas.microsoft.com/office/powerpoint/2010/main" val="1949106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86F6-82C6-84EA-93D1-27C5642995F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52608CCB-5933-4B21-A305-5FE73D162E2B}"/>
              </a:ext>
            </a:extLst>
          </p:cNvPr>
          <p:cNvSpPr txBox="1"/>
          <p:nvPr/>
        </p:nvSpPr>
        <p:spPr>
          <a:xfrm>
            <a:off x="247651" y="1400622"/>
            <a:ext cx="11383735" cy="369332"/>
          </a:xfrm>
          <a:prstGeom prst="rect">
            <a:avLst/>
          </a:prstGeom>
          <a:noFill/>
        </p:spPr>
        <p:txBody>
          <a:bodyPr wrap="square" lIns="91440" tIns="45720" rIns="91440" bIns="45720" anchor="t">
            <a:spAutoFit/>
          </a:bodyPr>
          <a:lstStyle/>
          <a:p>
            <a:r>
              <a:rPr lang="en-SG"/>
              <a:t> </a:t>
            </a:r>
            <a:r>
              <a:rPr lang="en-SG" b="1"/>
              <a:t>Provide THREE concrete examples from your project where you added value on top of what AI did:</a:t>
            </a:r>
            <a:endParaRPr lang="en-SG"/>
          </a:p>
        </p:txBody>
      </p:sp>
      <p:sp>
        <p:nvSpPr>
          <p:cNvPr id="12" name="Rectangle 2">
            <a:extLst>
              <a:ext uri="{FF2B5EF4-FFF2-40B4-BE49-F238E27FC236}">
                <a16:creationId xmlns:a16="http://schemas.microsoft.com/office/drawing/2014/main" id="{EC0C83F2-486B-943F-791A-A1D8ED803B42}"/>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CFO Update</a:t>
            </a:r>
          </a:p>
        </p:txBody>
      </p:sp>
      <p:graphicFrame>
        <p:nvGraphicFramePr>
          <p:cNvPr id="2" name="Table 1">
            <a:extLst>
              <a:ext uri="{FF2B5EF4-FFF2-40B4-BE49-F238E27FC236}">
                <a16:creationId xmlns:a16="http://schemas.microsoft.com/office/drawing/2014/main" id="{489BFAE8-521E-D3BA-48E5-CCB691E26288}"/>
              </a:ext>
            </a:extLst>
          </p:cNvPr>
          <p:cNvGraphicFramePr>
            <a:graphicFrameLocks noGrp="1"/>
          </p:cNvGraphicFramePr>
          <p:nvPr>
            <p:extLst>
              <p:ext uri="{D42A27DB-BD31-4B8C-83A1-F6EECF244321}">
                <p14:modId xmlns:p14="http://schemas.microsoft.com/office/powerpoint/2010/main" val="3091229725"/>
              </p:ext>
            </p:extLst>
          </p:nvPr>
        </p:nvGraphicFramePr>
        <p:xfrm>
          <a:off x="247651" y="1912073"/>
          <a:ext cx="11596010" cy="3605081"/>
        </p:xfrm>
        <a:graphic>
          <a:graphicData uri="http://schemas.openxmlformats.org/drawingml/2006/table">
            <a:tbl>
              <a:tblPr>
                <a:tableStyleId>{5C22544A-7EE6-4342-B048-85BDC9FD1C3A}</a:tableStyleId>
              </a:tblPr>
              <a:tblGrid>
                <a:gridCol w="2319202">
                  <a:extLst>
                    <a:ext uri="{9D8B030D-6E8A-4147-A177-3AD203B41FA5}">
                      <a16:colId xmlns:a16="http://schemas.microsoft.com/office/drawing/2014/main" val="1282981883"/>
                    </a:ext>
                  </a:extLst>
                </a:gridCol>
                <a:gridCol w="2319202">
                  <a:extLst>
                    <a:ext uri="{9D8B030D-6E8A-4147-A177-3AD203B41FA5}">
                      <a16:colId xmlns:a16="http://schemas.microsoft.com/office/drawing/2014/main" val="3808611986"/>
                    </a:ext>
                  </a:extLst>
                </a:gridCol>
                <a:gridCol w="2319202">
                  <a:extLst>
                    <a:ext uri="{9D8B030D-6E8A-4147-A177-3AD203B41FA5}">
                      <a16:colId xmlns:a16="http://schemas.microsoft.com/office/drawing/2014/main" val="3491713656"/>
                    </a:ext>
                  </a:extLst>
                </a:gridCol>
                <a:gridCol w="2319202">
                  <a:extLst>
                    <a:ext uri="{9D8B030D-6E8A-4147-A177-3AD203B41FA5}">
                      <a16:colId xmlns:a16="http://schemas.microsoft.com/office/drawing/2014/main" val="608655554"/>
                    </a:ext>
                  </a:extLst>
                </a:gridCol>
                <a:gridCol w="2319202">
                  <a:extLst>
                    <a:ext uri="{9D8B030D-6E8A-4147-A177-3AD203B41FA5}">
                      <a16:colId xmlns:a16="http://schemas.microsoft.com/office/drawing/2014/main" val="2469195142"/>
                    </a:ext>
                  </a:extLst>
                </a:gridCol>
              </a:tblGrid>
              <a:tr h="800507">
                <a:tc>
                  <a:txBody>
                    <a:bodyPr/>
                    <a:lstStyle/>
                    <a:p>
                      <a:pPr>
                        <a:buNone/>
                        <a:defRPr sz="1000"/>
                      </a:pPr>
                      <a:r>
                        <a:rPr lang="en-SG" b="1"/>
                        <a:t>Example</a:t>
                      </a:r>
                    </a:p>
                  </a:txBody>
                  <a:tcPr anchor="ctr"/>
                </a:tc>
                <a:tc>
                  <a:txBody>
                    <a:bodyPr/>
                    <a:lstStyle/>
                    <a:p>
                      <a:pPr>
                        <a:buNone/>
                        <a:defRPr sz="1000"/>
                      </a:pPr>
                      <a:r>
                        <a:rPr lang="en-SG" b="1"/>
                        <a:t>What AI Could / Did Do</a:t>
                      </a:r>
                    </a:p>
                  </a:txBody>
                  <a:tcPr anchor="ctr"/>
                </a:tc>
                <a:tc>
                  <a:txBody>
                    <a:bodyPr/>
                    <a:lstStyle/>
                    <a:p>
                      <a:pPr>
                        <a:buNone/>
                        <a:defRPr sz="1000"/>
                      </a:pPr>
                      <a:r>
                        <a:rPr lang="en-SG" b="1"/>
                        <a:t>What Your Team Added</a:t>
                      </a:r>
                    </a:p>
                  </a:txBody>
                  <a:tcPr anchor="ctr"/>
                </a:tc>
                <a:tc>
                  <a:txBody>
                    <a:bodyPr/>
                    <a:lstStyle/>
                    <a:p>
                      <a:pPr>
                        <a:buNone/>
                        <a:defRPr sz="1000"/>
                      </a:pPr>
                      <a:r>
                        <a:rPr lang="en-SG" b="1"/>
                        <a:t>Why Did This Add Value?</a:t>
                      </a:r>
                    </a:p>
                  </a:txBody>
                  <a:tcPr anchor="ctr"/>
                </a:tc>
                <a:tc>
                  <a:txBody>
                    <a:bodyPr/>
                    <a:lstStyle/>
                    <a:p>
                      <a:pPr>
                        <a:buNone/>
                        <a:defRPr sz="1000"/>
                      </a:pPr>
                      <a:r>
                        <a:rPr lang="en-SG" b="1"/>
                        <a:t>Evidence</a:t>
                      </a:r>
                    </a:p>
                  </a:txBody>
                  <a:tcPr anchor="ctr"/>
                </a:tc>
                <a:extLst>
                  <a:ext uri="{0D108BD9-81ED-4DB2-BD59-A6C34878D82A}">
                    <a16:rowId xmlns:a16="http://schemas.microsoft.com/office/drawing/2014/main" val="3656936957"/>
                  </a:ext>
                </a:extLst>
              </a:tr>
              <a:tr h="934858">
                <a:tc>
                  <a:txBody>
                    <a:bodyPr/>
                    <a:lstStyle/>
                    <a:p>
                      <a:pPr>
                        <a:defRPr sz="1000"/>
                      </a:pPr>
                      <a:r>
                        <a:t>1 (T-59 Database Isolation)</a:t>
                      </a:r>
                    </a:p>
                  </a:txBody>
                  <a:tcPr anchor="ctr"/>
                </a:tc>
                <a:tc>
                  <a:txBody>
                    <a:bodyPr/>
                    <a:lstStyle/>
                    <a:p>
                      <a:pPr>
                        <a:defRPr sz="1000"/>
                      </a:pPr>
                      <a:r>
                        <a:t>Claude reset and seeded local connectsphere_dev_stack (127.0.0.1) for the 28 Oct manual run.</a:t>
                      </a:r>
                    </a:p>
                  </a:txBody>
                  <a:tcPr anchor="ctr"/>
                </a:tc>
                <a:tc>
                  <a:txBody>
                    <a:bodyPr/>
                    <a:lstStyle/>
                    <a:p>
                      <a:pPr>
                        <a:defRPr sz="1000"/>
                      </a:pPr>
                      <a:r>
                        <a:t>T-59 chose the shared-project test schema to avoid a second free-tier slot and DB URL. Only the deactivation integration test uses it with transaction rollback. Separately, the CLI refuses db:reset against Supabase's remote postgres target by default.</a:t>
                      </a:r>
                    </a:p>
                  </a:txBody>
                  <a:tcPr anchor="ctr"/>
                </a:tc>
                <a:tc>
                  <a:txBody>
                    <a:bodyPr/>
                    <a:lstStyle/>
                    <a:p>
                      <a:pPr>
                        <a:defRPr sz="1000"/>
                      </a:pPr>
                      <a:r>
                        <a:t>No shared Supabase reset is recorded. The default guard refuses it, but an explicit override can drop the public schema.</a:t>
                      </a:r>
                    </a:p>
                  </a:txBody>
                  <a:tcPr anchor="ctr"/>
                </a:tc>
                <a:tc>
                  <a:txBody>
                    <a:bodyPr/>
                    <a:lstStyle/>
                    <a:p>
                      <a:pPr>
                        <a:defRPr sz="1000"/>
                      </a:pPr>
                      <a:r>
                        <a:t>docs/testing/runs/20261028-205403-lexinphun2024-debug-frontend-e2e.md; docs/bdr/B-team-decisions.md (T-59); docs/testing/supabase-test-schema.md; backend/src/database/cli.ts</a:t>
                      </a:r>
                    </a:p>
                  </a:txBody>
                  <a:tcPr anchor="ctr"/>
                </a:tc>
                <a:extLst>
                  <a:ext uri="{0D108BD9-81ED-4DB2-BD59-A6C34878D82A}">
                    <a16:rowId xmlns:a16="http://schemas.microsoft.com/office/drawing/2014/main" val="3147878904"/>
                  </a:ext>
                </a:extLst>
              </a:tr>
              <a:tr h="934858">
                <a:tc>
                  <a:txBody>
                    <a:bodyPr/>
                    <a:lstStyle/>
                    <a:p>
                      <a:pPr>
                        <a:defRPr sz="1000"/>
                      </a:pPr>
                      <a:r>
                        <a:t>2 (T-65 / T-93 Manual Test Verification)</a:t>
                      </a:r>
                    </a:p>
                  </a:txBody>
                  <a:tcPr anchor="ctr"/>
                </a:tc>
                <a:tc>
                  <a:txBody>
                    <a:bodyPr/>
                    <a:lstStyle/>
                    <a:p>
                      <a:pPr>
                        <a:defRPr sz="1000"/>
                      </a:pPr>
                      <a:r>
                        <a:t>Agent-driven browser runs produced screenshots that were offered as manual-run evidence (T-93).</a:t>
                      </a:r>
                    </a:p>
                  </a:txBody>
                  <a:tcPr anchor="ctr"/>
                </a:tc>
                <a:tc>
                  <a:txBody>
                    <a:bodyPr/>
                    <a:lstStyle/>
                    <a:p>
                      <a:pPr>
                        <a:defRPr sz="1000"/>
                      </a:pPr>
                      <a:r>
                        <a:t>T-65 and T-93: every run used as evidence gets a record in the repo, and manual runs need hand-taken screenshots.</a:t>
                      </a:r>
                    </a:p>
                  </a:txBody>
                  <a:tcPr anchor="ctr"/>
                </a:tc>
                <a:tc>
                  <a:txBody>
                    <a:bodyPr/>
                    <a:lstStyle/>
                    <a:p>
                      <a:pPr>
                        <a:defRPr sz="1000"/>
                      </a:pPr>
                      <a:r>
                        <a:t>Manual evidence shows what a person actually saw, and the click-throughs found real issues, e.g. the header clipping and unread-count follow-ups in #309.</a:t>
                      </a:r>
                    </a:p>
                  </a:txBody>
                  <a:tcPr anchor="ctr"/>
                </a:tc>
                <a:tc>
                  <a:txBody>
                    <a:bodyPr/>
                    <a:lstStyle/>
                    <a:p>
                      <a:pPr>
                        <a:defRPr sz="1000"/>
                      </a:pPr>
                      <a:r>
                        <a:t>739 run records in docs/testing/runs/, evidence/ directories with PNGs (e.g. PR #366, PR #368)</a:t>
                      </a:r>
                    </a:p>
                  </a:txBody>
                  <a:tcPr anchor="ctr"/>
                </a:tc>
                <a:extLst>
                  <a:ext uri="{0D108BD9-81ED-4DB2-BD59-A6C34878D82A}">
                    <a16:rowId xmlns:a16="http://schemas.microsoft.com/office/drawing/2014/main" val="1477596350"/>
                  </a:ext>
                </a:extLst>
              </a:tr>
              <a:tr h="934858">
                <a:tc>
                  <a:txBody>
                    <a:bodyPr/>
                    <a:lstStyle/>
                    <a:p>
                      <a:pPr>
                        <a:defRPr sz="1000"/>
                      </a:pPr>
                      <a:r>
                        <a:t>3 (Booking Concurrency &amp; Polymorphism)</a:t>
                      </a:r>
                    </a:p>
                  </a:txBody>
                  <a:tcPr anchor="ctr"/>
                </a:tc>
                <a:tc>
                  <a:txBody>
                    <a:bodyPr/>
                    <a:lstStyle/>
                    <a:p>
                      <a:pPr>
                        <a:defRPr sz="1000"/>
                      </a:pPr>
                      <a:r>
                        <a:t>Could generate simple CRUD routes that accept concurrent requests and allow double bookings.</a:t>
                      </a:r>
                    </a:p>
                  </a:txBody>
                  <a:tcPr anchor="ctr"/>
                </a:tc>
                <a:tc>
                  <a:txBody>
                    <a:bodyPr/>
                    <a:lstStyle/>
                    <a:p>
                      <a:pPr>
                        <a:defRPr sz="1000"/>
                      </a:pPr>
                      <a:r>
                        <a:t>Designed Booking Status Polymorphism (#371) and the T-100 rule B first accepted claim, serialised with PostgreSQL row-level locks (FOR UPDATE).</a:t>
                      </a:r>
                    </a:p>
                  </a:txBody>
                  <a:tcPr anchor="ctr"/>
                </a:tc>
                <a:tc>
                  <a:txBody>
                    <a:bodyPr/>
                    <a:lstStyle/>
                    <a:p>
                      <a:pPr>
                        <a:defRPr sz="1000"/>
                      </a:pPr>
                      <a:r>
                        <a:t>Two overlapping claims on a venue cannot both be accepted, even when organisers submit at the same time.</a:t>
                      </a:r>
                    </a:p>
                  </a:txBody>
                  <a:tcPr anchor="ctr"/>
                </a:tc>
                <a:tc>
                  <a:txBody>
                    <a:bodyPr/>
                    <a:lstStyle/>
                    <a:p>
                      <a:pPr>
                        <a:defRPr sz="1000"/>
                      </a:pPr>
                      <a:r>
                        <a:t>PR #339, PR #371, docs/bdr/B-team-decisions.md (T-100), FOR UPDATE locks in backend/src/modules/venueBooking/</a:t>
                      </a:r>
                    </a:p>
                  </a:txBody>
                  <a:tcPr anchor="ctr"/>
                </a:tc>
                <a:extLst>
                  <a:ext uri="{0D108BD9-81ED-4DB2-BD59-A6C34878D82A}">
                    <a16:rowId xmlns:a16="http://schemas.microsoft.com/office/drawing/2014/main" val="1030304870"/>
                  </a:ext>
                </a:extLst>
              </a:tr>
            </a:tbl>
          </a:graphicData>
        </a:graphic>
      </p:graphicFrame>
    </p:spTree>
    <p:extLst>
      <p:ext uri="{BB962C8B-B14F-4D97-AF65-F5344CB8AC3E}">
        <p14:creationId xmlns:p14="http://schemas.microsoft.com/office/powerpoint/2010/main" val="2708235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D634E-6987-39CE-E456-35E7C211E935}"/>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621406ED-C52B-6F63-2D8A-D1C9B90F7B4C}"/>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AI Usage</a:t>
            </a:r>
          </a:p>
        </p:txBody>
      </p:sp>
      <p:sp>
        <p:nvSpPr>
          <p:cNvPr id="4" name="TextBox 3">
            <a:extLst>
              <a:ext uri="{FF2B5EF4-FFF2-40B4-BE49-F238E27FC236}">
                <a16:creationId xmlns:a16="http://schemas.microsoft.com/office/drawing/2014/main" id="{A0AA96AF-D918-44A0-6441-E67838EA7511}"/>
              </a:ext>
            </a:extLst>
          </p:cNvPr>
          <p:cNvSpPr txBox="1"/>
          <p:nvPr/>
        </p:nvSpPr>
        <p:spPr>
          <a:xfrm>
            <a:off x="258537" y="1469963"/>
            <a:ext cx="6482442" cy="369332"/>
          </a:xfrm>
          <a:prstGeom prst="rect">
            <a:avLst/>
          </a:prstGeom>
          <a:noFill/>
        </p:spPr>
        <p:txBody>
          <a:bodyPr wrap="square">
            <a:spAutoFit/>
          </a:bodyPr>
          <a:lstStyle/>
          <a:p>
            <a:pPr marL="342900" lvl="0" indent="-342900">
              <a:buFont typeface="Arial" panose="020B0604020202020204" pitchFamily="34" charset="0"/>
              <a:buChar char="•"/>
            </a:pPr>
            <a:r>
              <a:rPr lang="en-SG"/>
              <a:t>Did using AI cause any rework? If so, what happened?</a:t>
            </a:r>
          </a:p>
        </p:txBody>
      </p:sp>
      <p:sp>
        <p:nvSpPr>
          <p:cNvPr id="5" name="TextBox 4">
            <a:extLst>
              <a:ext uri="{FF2B5EF4-FFF2-40B4-BE49-F238E27FC236}">
                <a16:creationId xmlns:a16="http://schemas.microsoft.com/office/drawing/2014/main" id="{184D0302-6E6B-BDF3-6AE4-29F95C3BA33F}"/>
              </a:ext>
            </a:extLst>
          </p:cNvPr>
          <p:cNvSpPr txBox="1"/>
          <p:nvPr/>
        </p:nvSpPr>
        <p:spPr>
          <a:xfrm>
            <a:off x="304798" y="1915495"/>
            <a:ext cx="11582403" cy="938719"/>
          </a:xfrm>
          <a:prstGeom prst="rect">
            <a:avLst/>
          </a:prstGeom>
          <a:solidFill>
            <a:schemeClr val="accent1">
              <a:lumMod val="40000"/>
              <a:lumOff val="60000"/>
            </a:schemeClr>
          </a:solidFill>
        </p:spPr>
        <p:txBody>
          <a:bodyPr wrap="square" rtlCol="0">
            <a:spAutoFit/>
          </a:bodyPr>
          <a:lstStyle/>
          <a:p>
            <a:pPr>
              <a:defRPr sz="1100"/>
            </a:pPr>
            <a:r>
              <a:rPr sz="1100"/>
              <a:t>Yes. Two recorded examples:</a:t>
            </a:r>
          </a:p>
          <a:p>
            <a:r>
              <a:rPr sz="1100"/>
              <a:t>1. Agent-taken screenshots: some manual-run evidence came from agent-driven browser runs. T-93 (15 Oct 2026) ruled that only hand-taken screenshots count, so manual runs are now evidenced by hand (docs/bdr/B-team-decisions.md).</a:t>
            </a:r>
          </a:p>
          <a:p>
            <a:r>
              <a:rPr sz="1100"/>
              <a:t>2. Agent-prepared test data: in SCRUM-51's manual run, an agent's setup inserted an extra Session, which made the first request fail; it was removed before the successful run (docs/plans/scrum-51-equipment-catalogue.md).</a:t>
            </a:r>
          </a:p>
        </p:txBody>
      </p:sp>
      <p:sp>
        <p:nvSpPr>
          <p:cNvPr id="6" name="TextBox 5">
            <a:extLst>
              <a:ext uri="{FF2B5EF4-FFF2-40B4-BE49-F238E27FC236}">
                <a16:creationId xmlns:a16="http://schemas.microsoft.com/office/drawing/2014/main" id="{9BE95E68-C7E0-C4A8-BBB2-0B57BCA9F82E}"/>
              </a:ext>
            </a:extLst>
          </p:cNvPr>
          <p:cNvSpPr txBox="1"/>
          <p:nvPr/>
        </p:nvSpPr>
        <p:spPr>
          <a:xfrm>
            <a:off x="258536" y="2930414"/>
            <a:ext cx="11582403" cy="646331"/>
          </a:xfrm>
          <a:prstGeom prst="rect">
            <a:avLst/>
          </a:prstGeom>
          <a:noFill/>
        </p:spPr>
        <p:txBody>
          <a:bodyPr wrap="square">
            <a:spAutoFit/>
          </a:bodyPr>
          <a:lstStyle/>
          <a:p>
            <a:pPr marL="285750" lvl="0" indent="-285750">
              <a:buFont typeface="Arial" panose="020B0604020202020204" pitchFamily="34" charset="0"/>
              <a:buChar char="•"/>
            </a:pPr>
            <a:r>
              <a:rPr lang="en-SG"/>
              <a:t>Which part of the final system contains the clearest evidence that your team contributed more than simply prompting an AI tool? Why?</a:t>
            </a:r>
          </a:p>
        </p:txBody>
      </p:sp>
      <p:sp>
        <p:nvSpPr>
          <p:cNvPr id="7" name="TextBox 6">
            <a:extLst>
              <a:ext uri="{FF2B5EF4-FFF2-40B4-BE49-F238E27FC236}">
                <a16:creationId xmlns:a16="http://schemas.microsoft.com/office/drawing/2014/main" id="{59C86061-B326-0CEF-944D-445CA85E4AED}"/>
              </a:ext>
            </a:extLst>
          </p:cNvPr>
          <p:cNvSpPr txBox="1"/>
          <p:nvPr/>
        </p:nvSpPr>
        <p:spPr>
          <a:xfrm>
            <a:off x="258536" y="3652945"/>
            <a:ext cx="11582403" cy="923330"/>
          </a:xfrm>
          <a:prstGeom prst="rect">
            <a:avLst/>
          </a:prstGeom>
          <a:solidFill>
            <a:schemeClr val="accent1">
              <a:lumMod val="40000"/>
              <a:lumOff val="60000"/>
            </a:schemeClr>
          </a:solidFill>
        </p:spPr>
        <p:txBody>
          <a:bodyPr wrap="square" rtlCol="0">
            <a:noAutofit/>
          </a:bodyPr>
          <a:lstStyle/>
          <a:p>
            <a:pPr>
              <a:defRPr sz="1100"/>
            </a:pPr>
            <a:r>
              <a:rPr sz="1100"/>
              <a:t>Venue booking concurrency and status polymorphism (PR #371) and E06-S06 rule B (T-100). The team designed the booking state machine and the first-accepted-claim rule, enforced with PostgreSQL row locks (FOR UPDATE) so two organisers claiming the same slot cannot both succeed. A plain generated status column does not handle that race.</a:t>
            </a:r>
          </a:p>
        </p:txBody>
      </p:sp>
      <p:sp>
        <p:nvSpPr>
          <p:cNvPr id="9" name="TextBox 8">
            <a:extLst>
              <a:ext uri="{FF2B5EF4-FFF2-40B4-BE49-F238E27FC236}">
                <a16:creationId xmlns:a16="http://schemas.microsoft.com/office/drawing/2014/main" id="{69D81FF1-1C49-9CFC-94A6-52E09B3D2BE9}"/>
              </a:ext>
            </a:extLst>
          </p:cNvPr>
          <p:cNvSpPr txBox="1"/>
          <p:nvPr/>
        </p:nvSpPr>
        <p:spPr>
          <a:xfrm>
            <a:off x="258536" y="4652475"/>
            <a:ext cx="10779577" cy="369332"/>
          </a:xfrm>
          <a:prstGeom prst="rect">
            <a:avLst/>
          </a:prstGeom>
          <a:noFill/>
        </p:spPr>
        <p:txBody>
          <a:bodyPr wrap="square">
            <a:spAutoFit/>
          </a:bodyPr>
          <a:lstStyle/>
          <a:p>
            <a:pPr marL="342900" lvl="0" indent="-342900">
              <a:buFont typeface="Arial" panose="020B0604020202020204" pitchFamily="34" charset="0"/>
              <a:buChar char="•"/>
            </a:pPr>
            <a:r>
              <a:rPr lang="en-SG"/>
              <a:t>What decision required human judgement rather than simply code generation? Why?</a:t>
            </a:r>
          </a:p>
        </p:txBody>
      </p:sp>
      <p:sp>
        <p:nvSpPr>
          <p:cNvPr id="11" name="TextBox 10">
            <a:extLst>
              <a:ext uri="{FF2B5EF4-FFF2-40B4-BE49-F238E27FC236}">
                <a16:creationId xmlns:a16="http://schemas.microsoft.com/office/drawing/2014/main" id="{9673A3EC-AB95-6574-5597-FB0C19177D73}"/>
              </a:ext>
            </a:extLst>
          </p:cNvPr>
          <p:cNvSpPr txBox="1"/>
          <p:nvPr/>
        </p:nvSpPr>
        <p:spPr>
          <a:xfrm>
            <a:off x="258536" y="5098007"/>
            <a:ext cx="11582403" cy="923330"/>
          </a:xfrm>
          <a:prstGeom prst="rect">
            <a:avLst/>
          </a:prstGeom>
          <a:solidFill>
            <a:schemeClr val="accent1">
              <a:lumMod val="40000"/>
              <a:lumOff val="60000"/>
            </a:schemeClr>
          </a:solidFill>
        </p:spPr>
        <p:txBody>
          <a:bodyPr wrap="square" rtlCol="0">
            <a:noAutofit/>
          </a:bodyPr>
          <a:lstStyle/>
          <a:p>
            <a:pPr>
              <a:defRPr sz="1100"/>
            </a:pPr>
            <a:r>
              <a:rPr sz="1100"/>
              <a:t>Team decisions T-63 (E06-S01 near-match results) and T-100 (rule B). The customer gave no proximity thresholds (C-27, C-64), so instead of inventing filter-relaxation rules the team returns every matching venue with its mismatches flagged (capacity, layout, accessibility) and lets the organiser decide. T-100 is the Product Owner's 22 Oct 2026 reading of existing customer choices. Both needed judgement about what the customer meant.</a:t>
            </a:r>
          </a:p>
        </p:txBody>
      </p:sp>
      <p:sp>
        <p:nvSpPr>
          <p:cNvPr id="14" name="TextBox 13">
            <a:extLst>
              <a:ext uri="{FF2B5EF4-FFF2-40B4-BE49-F238E27FC236}">
                <a16:creationId xmlns:a16="http://schemas.microsoft.com/office/drawing/2014/main" id="{0F9E59B9-8873-DAA9-DB90-DB306448F409}"/>
              </a:ext>
            </a:extLst>
          </p:cNvPr>
          <p:cNvSpPr txBox="1"/>
          <p:nvPr/>
        </p:nvSpPr>
        <p:spPr>
          <a:xfrm>
            <a:off x="563336" y="6097537"/>
            <a:ext cx="10746921" cy="492443"/>
          </a:xfrm>
          <a:prstGeom prst="rect">
            <a:avLst/>
          </a:prstGeom>
          <a:noFill/>
        </p:spPr>
        <p:txBody>
          <a:bodyPr wrap="square">
            <a:spAutoFit/>
          </a:bodyPr>
          <a:lstStyle/>
          <a:p>
            <a:pPr>
              <a:defRPr sz="1300" b="1"/>
            </a:pPr>
            <a:r>
              <a:t>“The most important value our team added beyond AI was architectural discipline and empirical verification because AI can generate plausible code but cannot guarantee semantic correctness, system safety, or truthful verification evidence.”</a:t>
            </a:r>
          </a:p>
        </p:txBody>
      </p:sp>
    </p:spTree>
    <p:extLst>
      <p:ext uri="{BB962C8B-B14F-4D97-AF65-F5344CB8AC3E}">
        <p14:creationId xmlns:p14="http://schemas.microsoft.com/office/powerpoint/2010/main" val="1262598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62D57-BEE2-ED31-02BB-39CCC4B64776}"/>
              </a:ext>
            </a:extLst>
          </p:cNvPr>
          <p:cNvSpPr txBox="1"/>
          <p:nvPr/>
        </p:nvSpPr>
        <p:spPr>
          <a:xfrm>
            <a:off x="133468" y="1511817"/>
            <a:ext cx="11711950" cy="3970318"/>
          </a:xfrm>
          <a:prstGeom prst="rect">
            <a:avLst/>
          </a:prstGeom>
          <a:noFill/>
        </p:spPr>
        <p:txBody>
          <a:bodyPr wrap="square" lIns="91440" tIns="45720" rIns="91440" bIns="45720" anchor="t">
            <a:spAutoFit/>
          </a:bodyPr>
          <a:lstStyle/>
          <a:p>
            <a:r>
              <a:rPr lang="en-SG" b="1">
                <a:cs typeface="Arial" panose="020B0604020202020204"/>
              </a:rPr>
              <a:t>For each of the points below, explain what you did when using LLMs:</a:t>
            </a:r>
          </a:p>
          <a:p>
            <a:pPr marL="342900" indent="-342900">
              <a:buFont typeface="Arial" panose="020B0604020202020204" pitchFamily="34" charset="0"/>
              <a:buChar char="•"/>
            </a:pPr>
            <a:r>
              <a:rPr lang="en-SG"/>
              <a:t>Delegate </a:t>
            </a:r>
          </a:p>
          <a:p>
            <a:pPr marL="342900" indent="-342900">
              <a:buFont typeface="Arial" panose="020B0604020202020204" pitchFamily="34" charset="0"/>
              <a:buChar char="•"/>
            </a:pPr>
            <a:endParaRPr lang="en-SG"/>
          </a:p>
          <a:p>
            <a:pPr marL="342900" indent="-342900">
              <a:buFont typeface="Arial" panose="020B0604020202020204" pitchFamily="34" charset="0"/>
              <a:buChar char="•"/>
            </a:pPr>
            <a:endParaRPr lang="en-SG"/>
          </a:p>
          <a:p>
            <a:pPr marL="342900" indent="-342900">
              <a:buFont typeface="Arial" panose="020B0604020202020204" pitchFamily="34" charset="0"/>
              <a:buChar char="•"/>
            </a:pPr>
            <a:endParaRPr lang="en-SG">
              <a:cs typeface="Arial" panose="020B0604020202020204"/>
            </a:endParaRPr>
          </a:p>
          <a:p>
            <a:pPr marL="342900" indent="-342900">
              <a:buFont typeface="Arial" panose="020B0604020202020204" pitchFamily="34" charset="0"/>
              <a:buChar char="•"/>
            </a:pPr>
            <a:r>
              <a:rPr lang="en-SG"/>
              <a:t>Constrain </a:t>
            </a:r>
            <a:endParaRPr lang="en-SG">
              <a:cs typeface="Arial"/>
            </a:endParaRPr>
          </a:p>
          <a:p>
            <a:pPr marL="342900" indent="-342900">
              <a:buFont typeface="Arial" panose="020B0604020202020204" pitchFamily="34" charset="0"/>
              <a:buChar char="•"/>
            </a:pPr>
            <a:endParaRPr lang="en-SG">
              <a:cs typeface="Arial"/>
            </a:endParaRPr>
          </a:p>
          <a:p>
            <a:pPr marL="342900" indent="-342900">
              <a:buFont typeface="Arial" panose="020B0604020202020204" pitchFamily="34" charset="0"/>
              <a:buChar char="•"/>
            </a:pPr>
            <a:endParaRPr lang="en-SG"/>
          </a:p>
          <a:p>
            <a:pPr marL="342900" indent="-342900">
              <a:buFont typeface="Arial" panose="020B0604020202020204" pitchFamily="34" charset="0"/>
              <a:buChar char="•"/>
            </a:pPr>
            <a:endParaRPr lang="en-SG"/>
          </a:p>
          <a:p>
            <a:pPr marL="342900" indent="-342900">
              <a:buFont typeface="Arial" panose="020B0604020202020204" pitchFamily="34" charset="0"/>
              <a:buChar char="•"/>
            </a:pPr>
            <a:r>
              <a:rPr lang="en-SG"/>
              <a:t>Verify </a:t>
            </a:r>
          </a:p>
          <a:p>
            <a:pPr marL="342900" indent="-342900">
              <a:buFont typeface="Arial" panose="020B0604020202020204" pitchFamily="34" charset="0"/>
              <a:buChar char="•"/>
            </a:pPr>
            <a:endParaRPr lang="en-SG">
              <a:cs typeface="Arial"/>
            </a:endParaRPr>
          </a:p>
          <a:p>
            <a:pPr marL="342900" indent="-342900">
              <a:buFont typeface="Arial" panose="020B0604020202020204" pitchFamily="34" charset="0"/>
              <a:buChar char="•"/>
            </a:pPr>
            <a:endParaRPr lang="en-SG">
              <a:cs typeface="Arial"/>
            </a:endParaRPr>
          </a:p>
          <a:p>
            <a:pPr marL="342900" indent="-342900">
              <a:buFont typeface="Arial" panose="020B0604020202020204" pitchFamily="34" charset="0"/>
              <a:buChar char="•"/>
            </a:pPr>
            <a:endParaRPr lang="en-SG">
              <a:cs typeface="Arial"/>
            </a:endParaRPr>
          </a:p>
          <a:p>
            <a:pPr marL="342900" lvl="0" indent="-342900">
              <a:buFont typeface="Arial" panose="020B0604020202020204" pitchFamily="34" charset="0"/>
              <a:buChar char="•"/>
            </a:pPr>
            <a:r>
              <a:rPr lang="en-SG"/>
              <a:t>Own</a:t>
            </a:r>
          </a:p>
        </p:txBody>
      </p:sp>
      <p:sp>
        <p:nvSpPr>
          <p:cNvPr id="5" name="Rectangle 2">
            <a:extLst>
              <a:ext uri="{FF2B5EF4-FFF2-40B4-BE49-F238E27FC236}">
                <a16:creationId xmlns:a16="http://schemas.microsoft.com/office/drawing/2014/main" id="{8391B689-97B8-AADB-334B-53EE933E5532}"/>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Controlling what AI produced</a:t>
            </a:r>
            <a:endParaRPr lang="en-US">
              <a:solidFill>
                <a:schemeClr val="bg1"/>
              </a:solidFill>
            </a:endParaRPr>
          </a:p>
        </p:txBody>
      </p:sp>
      <p:sp>
        <p:nvSpPr>
          <p:cNvPr id="7" name="TextBox 6">
            <a:extLst>
              <a:ext uri="{FF2B5EF4-FFF2-40B4-BE49-F238E27FC236}">
                <a16:creationId xmlns:a16="http://schemas.microsoft.com/office/drawing/2014/main" id="{6967DC35-833E-9AB0-195D-9AD5818E161F}"/>
              </a:ext>
            </a:extLst>
          </p:cNvPr>
          <p:cNvSpPr txBox="1"/>
          <p:nvPr/>
        </p:nvSpPr>
        <p:spPr>
          <a:xfrm>
            <a:off x="196968" y="2155596"/>
            <a:ext cx="11582403" cy="646331"/>
          </a:xfrm>
          <a:prstGeom prst="rect">
            <a:avLst/>
          </a:prstGeom>
          <a:solidFill>
            <a:schemeClr val="accent1">
              <a:lumMod val="40000"/>
              <a:lumOff val="60000"/>
            </a:schemeClr>
          </a:solidFill>
        </p:spPr>
        <p:txBody>
          <a:bodyPr wrap="square" lIns="91440" tIns="45720" rIns="91440" bIns="45720" rtlCol="0" anchor="t">
            <a:spAutoFit/>
          </a:bodyPr>
          <a:lstStyle/>
          <a:p>
            <a:pPr>
              <a:defRPr sz="1200"/>
            </a:pPr>
            <a:r>
              <a:t>Delegated boilerplate scaffolding, repetitive CRUD endpoint generation, initial test fixture typing, and translation of user stories into preliminary test matrices.</a:t>
            </a:r>
          </a:p>
        </p:txBody>
      </p:sp>
      <p:sp>
        <p:nvSpPr>
          <p:cNvPr id="8" name="TextBox 7">
            <a:extLst>
              <a:ext uri="{FF2B5EF4-FFF2-40B4-BE49-F238E27FC236}">
                <a16:creationId xmlns:a16="http://schemas.microsoft.com/office/drawing/2014/main" id="{39B1A658-4D18-83C6-406E-A61C13B68E4D}"/>
              </a:ext>
            </a:extLst>
          </p:cNvPr>
          <p:cNvSpPr txBox="1"/>
          <p:nvPr/>
        </p:nvSpPr>
        <p:spPr>
          <a:xfrm>
            <a:off x="196967" y="3291407"/>
            <a:ext cx="11582403" cy="646331"/>
          </a:xfrm>
          <a:prstGeom prst="rect">
            <a:avLst/>
          </a:prstGeom>
          <a:solidFill>
            <a:schemeClr val="accent1">
              <a:lumMod val="40000"/>
              <a:lumOff val="60000"/>
            </a:schemeClr>
          </a:solidFill>
        </p:spPr>
        <p:txBody>
          <a:bodyPr wrap="square" lIns="91440" tIns="45720" rIns="91440" bIns="45720" rtlCol="0" anchor="t">
            <a:spAutoFit/>
          </a:bodyPr>
          <a:lstStyle/>
          <a:p>
            <a:pPr>
              <a:defRPr sz="1200"/>
            </a:pPr>
            <a:r>
              <a:t>Constrained AI via repository guardrails: AGENTS.md instructions, pre-commit hooks run by check.py (detect-secrets, protected continuity files, test-evidence checks), max 2 open PRs per author, a four-section PR body template, and forbidden actions (no db:reset against Supabase, no editing STATE.md or JOURNAL.md in a PR).</a:t>
            </a:r>
          </a:p>
        </p:txBody>
      </p:sp>
      <p:sp>
        <p:nvSpPr>
          <p:cNvPr id="9" name="TextBox 8">
            <a:extLst>
              <a:ext uri="{FF2B5EF4-FFF2-40B4-BE49-F238E27FC236}">
                <a16:creationId xmlns:a16="http://schemas.microsoft.com/office/drawing/2014/main" id="{3E00B8D5-1E98-6929-F0FC-F9EA96CEB261}"/>
              </a:ext>
            </a:extLst>
          </p:cNvPr>
          <p:cNvSpPr txBox="1"/>
          <p:nvPr/>
        </p:nvSpPr>
        <p:spPr>
          <a:xfrm>
            <a:off x="196968" y="4340954"/>
            <a:ext cx="11582403" cy="646331"/>
          </a:xfrm>
          <a:prstGeom prst="rect">
            <a:avLst/>
          </a:prstGeom>
          <a:solidFill>
            <a:schemeClr val="accent1">
              <a:lumMod val="40000"/>
              <a:lumOff val="60000"/>
            </a:schemeClr>
          </a:solidFill>
        </p:spPr>
        <p:txBody>
          <a:bodyPr wrap="square" lIns="91440" tIns="45720" rIns="91440" bIns="45720" rtlCol="0" anchor="t">
            <a:spAutoFit/>
          </a:bodyPr>
          <a:lstStyle/>
          <a:p>
            <a:pPr>
              <a:defRPr sz="1200"/>
            </a:pPr>
            <a:r>
              <a:t>Verified every change through the required CI checks (repository-checks, pr-conventions, lfs-guard, and application-checks with typecheck, Vitest, backend and Playwright tests), then human peer review and T-65/T-93 manual run records.</a:t>
            </a:r>
          </a:p>
        </p:txBody>
      </p:sp>
      <p:sp>
        <p:nvSpPr>
          <p:cNvPr id="10" name="TextBox 9">
            <a:extLst>
              <a:ext uri="{FF2B5EF4-FFF2-40B4-BE49-F238E27FC236}">
                <a16:creationId xmlns:a16="http://schemas.microsoft.com/office/drawing/2014/main" id="{5760AE81-FFD7-21B4-FAC3-B931956E26C3}"/>
              </a:ext>
            </a:extLst>
          </p:cNvPr>
          <p:cNvSpPr txBox="1"/>
          <p:nvPr/>
        </p:nvSpPr>
        <p:spPr>
          <a:xfrm>
            <a:off x="196967" y="5483954"/>
            <a:ext cx="11582403" cy="646331"/>
          </a:xfrm>
          <a:prstGeom prst="rect">
            <a:avLst/>
          </a:prstGeom>
          <a:solidFill>
            <a:schemeClr val="accent1">
              <a:lumMod val="40000"/>
              <a:lumOff val="60000"/>
            </a:schemeClr>
          </a:solidFill>
        </p:spPr>
        <p:txBody>
          <a:bodyPr wrap="square" lIns="91440" tIns="45720" rIns="91440" bIns="45720" rtlCol="0" anchor="t">
            <a:spAutoFit/>
          </a:bodyPr>
          <a:lstStyle/>
          <a:p>
            <a:pPr>
              <a:defRPr sz="1200"/>
            </a:pPr>
            <a:r>
              <a:t>Each story has a human owner, and the main ruleset requires the latest push to be approved by someone other than the pusher. Agent-written claims are checked against the repository in review, and the Definition of Done needs the Product Owner's recorded acceptance.</a:t>
            </a:r>
          </a:p>
        </p:txBody>
      </p:sp>
    </p:spTree>
    <p:extLst>
      <p:ext uri="{BB962C8B-B14F-4D97-AF65-F5344CB8AC3E}">
        <p14:creationId xmlns:p14="http://schemas.microsoft.com/office/powerpoint/2010/main" val="2721407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EABB-695E-DCAC-E393-5B70350F3C41}"/>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28D236C4-F073-1FE8-492E-FA937190EC58}"/>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Git Strategy</a:t>
            </a:r>
          </a:p>
        </p:txBody>
      </p:sp>
      <p:sp>
        <p:nvSpPr>
          <p:cNvPr id="4" name="TextBox 3">
            <a:extLst>
              <a:ext uri="{FF2B5EF4-FFF2-40B4-BE49-F238E27FC236}">
                <a16:creationId xmlns:a16="http://schemas.microsoft.com/office/drawing/2014/main" id="{BFA8763B-6073-B4C6-8DF9-36B40B39E9F6}"/>
              </a:ext>
            </a:extLst>
          </p:cNvPr>
          <p:cNvSpPr txBox="1"/>
          <p:nvPr/>
        </p:nvSpPr>
        <p:spPr>
          <a:xfrm>
            <a:off x="258537" y="1469963"/>
            <a:ext cx="11674926" cy="2031325"/>
          </a:xfrm>
          <a:prstGeom prst="rect">
            <a:avLst/>
          </a:prstGeom>
          <a:noFill/>
        </p:spPr>
        <p:txBody>
          <a:bodyPr wrap="square">
            <a:spAutoFit/>
          </a:bodyPr>
          <a:lstStyle/>
          <a:p>
            <a:r>
              <a:rPr lang="en-SG"/>
              <a:t>How did your team use Git to support collaboration throughout the project, rather than simply using it as a place to store code? We are particularly interested in whether your Git strategy evolved over the project, how consistently it was followed, and how it worked together with your CI process to ensure that changes were reviewed and verified before being integrated. Note: Your branching, pull request, review and merge practices should help the team work in parallel, reduce integration problems, and protect the stability of the main branch. </a:t>
            </a:r>
          </a:p>
          <a:p>
            <a:r>
              <a:rPr lang="en-SG" b="1"/>
              <a:t>Describe below:</a:t>
            </a:r>
          </a:p>
          <a:p>
            <a:pPr lvl="0"/>
            <a:endParaRPr lang="en-SG" b="1"/>
          </a:p>
        </p:txBody>
      </p:sp>
      <p:sp>
        <p:nvSpPr>
          <p:cNvPr id="3" name="TextBox 2">
            <a:extLst>
              <a:ext uri="{FF2B5EF4-FFF2-40B4-BE49-F238E27FC236}">
                <a16:creationId xmlns:a16="http://schemas.microsoft.com/office/drawing/2014/main" id="{E6B191CD-DE4C-9F34-7223-CCCEC6419F63}"/>
              </a:ext>
            </a:extLst>
          </p:cNvPr>
          <p:cNvSpPr txBox="1"/>
          <p:nvPr/>
        </p:nvSpPr>
        <p:spPr>
          <a:xfrm>
            <a:off x="258537" y="3577488"/>
            <a:ext cx="11582403" cy="1692771"/>
          </a:xfrm>
          <a:prstGeom prst="rect">
            <a:avLst/>
          </a:prstGeom>
          <a:solidFill>
            <a:schemeClr val="accent1">
              <a:lumMod val="40000"/>
              <a:lumOff val="60000"/>
            </a:schemeClr>
          </a:solidFill>
        </p:spPr>
        <p:txBody>
          <a:bodyPr wrap="square" rtlCol="0">
            <a:spAutoFit/>
          </a:bodyPr>
          <a:lstStyle/>
          <a:p>
            <a:pPr>
              <a:defRPr sz="1300"/>
            </a:pPr>
            <a:r>
              <a:rPr sz="1300"/>
              <a:t>• Trunk-Based Collaboration with Short-Lived Branches: branch names must start with feature/, fix/, chore/, docs/, test/, refactor/ or ci/ (scripts/check_metadata.py), preferably with the Jira key (e.g. feature/SCRUM-216-e09-registration-list).</a:t>
            </a:r>
          </a:p>
          <a:p>
            <a:r>
              <a:rPr sz="1300"/>
              <a:t>• Guardrails &amp; PR Hygiene: Maximum 2 open PRs per author (scripts/check_pr_guardrails.py) prevented WIP bloat and merge debt. Every PR required four mandatory headers (What and why, Verification, Checklist, Follow-ups).</a:t>
            </a:r>
          </a:p>
          <a:p>
            <a:r>
              <a:rPr sz="1300"/>
              <a:t>• Worktree Isolation: Git worktrees let us review and test other branches without disturbing our own checkout; scripts/check_worktrees.py reports them and cleans up disposable ones.</a:t>
            </a:r>
          </a:p>
          <a:p>
            <a:r>
              <a:rPr sz="1300"/>
              <a:t>• Linear History, Tightened Over Time: since 3 Oct 2026 a ruleset on main requires squash merges through a merge queue, linear history, four green checks and approval of the latest push, with no bypass actors. Before it, four PRs (#148, #165, #166, #167) merged on 1 Oct without an approving review.</a:t>
            </a:r>
          </a:p>
        </p:txBody>
      </p:sp>
    </p:spTree>
    <p:extLst>
      <p:ext uri="{BB962C8B-B14F-4D97-AF65-F5344CB8AC3E}">
        <p14:creationId xmlns:p14="http://schemas.microsoft.com/office/powerpoint/2010/main" val="3706894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0EA01-4539-4B34-D583-460E062EA590}"/>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7CBBB8C8-CDC8-BA80-2C99-AD22CEDBE960}"/>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Testing Strategy (</a:t>
            </a:r>
            <a:r>
              <a:rPr lang="en-US" altLang="en-US" sz="3200" b="1" err="1">
                <a:solidFill>
                  <a:schemeClr val="bg1"/>
                </a:solidFill>
              </a:rPr>
              <a:t>i</a:t>
            </a:r>
            <a:r>
              <a:rPr lang="en-US" altLang="en-US" sz="3200" b="1">
                <a:solidFill>
                  <a:schemeClr val="bg1"/>
                </a:solidFill>
              </a:rPr>
              <a:t>)</a:t>
            </a:r>
          </a:p>
        </p:txBody>
      </p:sp>
      <p:sp>
        <p:nvSpPr>
          <p:cNvPr id="4" name="TextBox 3">
            <a:extLst>
              <a:ext uri="{FF2B5EF4-FFF2-40B4-BE49-F238E27FC236}">
                <a16:creationId xmlns:a16="http://schemas.microsoft.com/office/drawing/2014/main" id="{769D1187-DDDA-7E13-D6AA-2E7C7FEEA573}"/>
              </a:ext>
            </a:extLst>
          </p:cNvPr>
          <p:cNvSpPr txBox="1"/>
          <p:nvPr/>
        </p:nvSpPr>
        <p:spPr>
          <a:xfrm>
            <a:off x="247651" y="1480979"/>
            <a:ext cx="9938339" cy="369332"/>
          </a:xfrm>
          <a:prstGeom prst="rect">
            <a:avLst/>
          </a:prstGeom>
          <a:noFill/>
        </p:spPr>
        <p:txBody>
          <a:bodyPr wrap="square">
            <a:spAutoFit/>
          </a:bodyPr>
          <a:lstStyle/>
          <a:p>
            <a:pPr lvl="0"/>
            <a:r>
              <a:rPr lang="en-SG" b="1"/>
              <a:t>Complete the following table on tests (at the time of your project submission):</a:t>
            </a:r>
          </a:p>
        </p:txBody>
      </p:sp>
      <p:graphicFrame>
        <p:nvGraphicFramePr>
          <p:cNvPr id="2" name="Table 1">
            <a:extLst>
              <a:ext uri="{FF2B5EF4-FFF2-40B4-BE49-F238E27FC236}">
                <a16:creationId xmlns:a16="http://schemas.microsoft.com/office/drawing/2014/main" id="{EBD23CCC-25B0-50A5-D420-106D3AF20D51}"/>
              </a:ext>
            </a:extLst>
          </p:cNvPr>
          <p:cNvGraphicFramePr>
            <a:graphicFrameLocks noGrp="1"/>
          </p:cNvGraphicFramePr>
          <p:nvPr>
            <p:extLst>
              <p:ext uri="{D42A27DB-BD31-4B8C-83A1-F6EECF244321}">
                <p14:modId xmlns:p14="http://schemas.microsoft.com/office/powerpoint/2010/main" val="4175674539"/>
              </p:ext>
            </p:extLst>
          </p:nvPr>
        </p:nvGraphicFramePr>
        <p:xfrm>
          <a:off x="326571" y="1926511"/>
          <a:ext cx="11538858" cy="3657600"/>
        </p:xfrm>
        <a:graphic>
          <a:graphicData uri="http://schemas.openxmlformats.org/drawingml/2006/table">
            <a:tbl>
              <a:tblPr>
                <a:tableStyleId>{5C22544A-7EE6-4342-B048-85BDC9FD1C3A}</a:tableStyleId>
              </a:tblPr>
              <a:tblGrid>
                <a:gridCol w="5769429">
                  <a:extLst>
                    <a:ext uri="{9D8B030D-6E8A-4147-A177-3AD203B41FA5}">
                      <a16:colId xmlns:a16="http://schemas.microsoft.com/office/drawing/2014/main" val="3213861442"/>
                    </a:ext>
                  </a:extLst>
                </a:gridCol>
                <a:gridCol w="5769429">
                  <a:extLst>
                    <a:ext uri="{9D8B030D-6E8A-4147-A177-3AD203B41FA5}">
                      <a16:colId xmlns:a16="http://schemas.microsoft.com/office/drawing/2014/main" val="3823906008"/>
                    </a:ext>
                  </a:extLst>
                </a:gridCol>
              </a:tblGrid>
              <a:tr h="0">
                <a:tc>
                  <a:txBody>
                    <a:bodyPr/>
                    <a:lstStyle/>
                    <a:p>
                      <a:pPr>
                        <a:buNone/>
                        <a:defRPr sz="1000"/>
                      </a:pPr>
                      <a:r>
                        <a:rPr lang="en-SG" b="1"/>
                        <a:t>Metric</a:t>
                      </a:r>
                    </a:p>
                  </a:txBody>
                  <a:tcPr anchor="ctr"/>
                </a:tc>
                <a:tc>
                  <a:txBody>
                    <a:bodyPr/>
                    <a:lstStyle/>
                    <a:p>
                      <a:pPr algn="r">
                        <a:buNone/>
                        <a:defRPr sz="1000"/>
                      </a:pPr>
                      <a:r>
                        <a:rPr lang="en-SG" b="1"/>
                        <a:t>Result</a:t>
                      </a:r>
                    </a:p>
                  </a:txBody>
                  <a:tcPr anchor="ctr"/>
                </a:tc>
                <a:extLst>
                  <a:ext uri="{0D108BD9-81ED-4DB2-BD59-A6C34878D82A}">
                    <a16:rowId xmlns:a16="http://schemas.microsoft.com/office/drawing/2014/main" val="3342973514"/>
                  </a:ext>
                </a:extLst>
              </a:tr>
              <a:tr h="0">
                <a:tc>
                  <a:txBody>
                    <a:bodyPr/>
                    <a:lstStyle/>
                    <a:p>
                      <a:pPr>
                        <a:buNone/>
                        <a:defRPr sz="1000"/>
                      </a:pPr>
                      <a:r>
                        <a:rPr lang="en-SG"/>
                        <a:t>Number of manual e2e test cases using Wk4 template</a:t>
                      </a:r>
                    </a:p>
                  </a:txBody>
                  <a:tcPr anchor="ctr"/>
                </a:tc>
                <a:tc>
                  <a:txBody>
                    <a:bodyPr/>
                    <a:lstStyle/>
                    <a:p>
                      <a:pPr>
                        <a:defRPr sz="1000"/>
                      </a:pPr>
                      <a:r>
                        <a:t>379 test-case IDs in docs/testing/cases/ (export: PROJECT TEST CASES CAA 281026.xlsx)</a:t>
                      </a:r>
                    </a:p>
                  </a:txBody>
                  <a:tcPr anchor="ctr"/>
                </a:tc>
                <a:extLst>
                  <a:ext uri="{0D108BD9-81ED-4DB2-BD59-A6C34878D82A}">
                    <a16:rowId xmlns:a16="http://schemas.microsoft.com/office/drawing/2014/main" val="2560557115"/>
                  </a:ext>
                </a:extLst>
              </a:tr>
              <a:tr h="0">
                <a:tc>
                  <a:txBody>
                    <a:bodyPr/>
                    <a:lstStyle/>
                    <a:p>
                      <a:pPr>
                        <a:buNone/>
                        <a:defRPr sz="1000"/>
                      </a:pPr>
                      <a:r>
                        <a:rPr lang="en-SG"/>
                        <a:t>Number of unit tests</a:t>
                      </a:r>
                    </a:p>
                  </a:txBody>
                  <a:tcPr anchor="ctr"/>
                </a:tc>
                <a:tc>
                  <a:txBody>
                    <a:bodyPr/>
                    <a:lstStyle/>
                    <a:p>
                      <a:pPr>
                        <a:defRPr sz="1000"/>
                      </a:pPr>
                      <a:r>
                        <a:t>1,288 unit tests (676 frontend Vitest + 612 backend) - CI run 40901918683, 29 Oct 2026</a:t>
                      </a:r>
                    </a:p>
                  </a:txBody>
                  <a:tcPr anchor="ctr"/>
                </a:tc>
                <a:extLst>
                  <a:ext uri="{0D108BD9-81ED-4DB2-BD59-A6C34878D82A}">
                    <a16:rowId xmlns:a16="http://schemas.microsoft.com/office/drawing/2014/main" val="337229949"/>
                  </a:ext>
                </a:extLst>
              </a:tr>
              <a:tr h="0">
                <a:tc>
                  <a:txBody>
                    <a:bodyPr/>
                    <a:lstStyle/>
                    <a:p>
                      <a:pPr>
                        <a:buNone/>
                        <a:defRPr sz="1000"/>
                      </a:pPr>
                      <a:r>
                        <a:rPr lang="en-SG"/>
                        <a:t>Number of integration tests (if any)</a:t>
                      </a:r>
                    </a:p>
                  </a:txBody>
                  <a:tcPr anchor="ctr"/>
                </a:tc>
                <a:tc>
                  <a:txBody>
                    <a:bodyPr/>
                    <a:lstStyle/>
                    <a:p>
                      <a:pPr>
                        <a:defRPr sz="1000"/>
                      </a:pPr>
                      <a:r>
                        <a:t>48 integration test files (backend database rollback and API suites)</a:t>
                      </a:r>
                    </a:p>
                  </a:txBody>
                  <a:tcPr anchor="ctr"/>
                </a:tc>
                <a:extLst>
                  <a:ext uri="{0D108BD9-81ED-4DB2-BD59-A6C34878D82A}">
                    <a16:rowId xmlns:a16="http://schemas.microsoft.com/office/drawing/2014/main" val="1543926784"/>
                  </a:ext>
                </a:extLst>
              </a:tr>
              <a:tr h="0">
                <a:tc>
                  <a:txBody>
                    <a:bodyPr/>
                    <a:lstStyle/>
                    <a:p>
                      <a:pPr>
                        <a:buNone/>
                        <a:defRPr sz="1000"/>
                      </a:pPr>
                      <a:r>
                        <a:rPr lang="en-SG"/>
                        <a:t>Number of automated e2e tests (if any)</a:t>
                      </a:r>
                    </a:p>
                  </a:txBody>
                  <a:tcPr anchor="ctr"/>
                </a:tc>
                <a:tc>
                  <a:txBody>
                    <a:bodyPr/>
                    <a:lstStyle/>
                    <a:p>
                      <a:pPr>
                        <a:defRPr sz="1000"/>
                      </a:pPr>
                      <a:r>
                        <a:t>40 Playwright spec files in tests/e2e/ (E01-E14; some are still test.fixme)</a:t>
                      </a:r>
                    </a:p>
                  </a:txBody>
                  <a:tcPr anchor="ctr"/>
                </a:tc>
                <a:extLst>
                  <a:ext uri="{0D108BD9-81ED-4DB2-BD59-A6C34878D82A}">
                    <a16:rowId xmlns:a16="http://schemas.microsoft.com/office/drawing/2014/main" val="2280732537"/>
                  </a:ext>
                </a:extLst>
              </a:tr>
              <a:tr h="0">
                <a:tc>
                  <a:txBody>
                    <a:bodyPr/>
                    <a:lstStyle/>
                    <a:p>
                      <a:pPr>
                        <a:buNone/>
                        <a:defRPr sz="1000"/>
                      </a:pPr>
                      <a:r>
                        <a:rPr lang="en-SG"/>
                        <a:t>Coverage (explain why if not 100%)</a:t>
                      </a:r>
                    </a:p>
                  </a:txBody>
                  <a:tcPr anchor="ctr"/>
                </a:tc>
                <a:tc>
                  <a:txBody>
                    <a:bodyPr/>
                    <a:lstStyle/>
                    <a:p>
                      <a:pPr>
                        <a:defRPr sz="1000"/>
                      </a:pPr>
                      <a:r>
                        <a:t>DoD requires 100% unit coverage on changed code (npm run test:coverage); no CI gate</a:t>
                      </a:r>
                    </a:p>
                  </a:txBody>
                  <a:tcPr anchor="ctr"/>
                </a:tc>
                <a:extLst>
                  <a:ext uri="{0D108BD9-81ED-4DB2-BD59-A6C34878D82A}">
                    <a16:rowId xmlns:a16="http://schemas.microsoft.com/office/drawing/2014/main" val="2516810282"/>
                  </a:ext>
                </a:extLst>
              </a:tr>
              <a:tr h="0">
                <a:tc>
                  <a:txBody>
                    <a:bodyPr/>
                    <a:lstStyle/>
                    <a:p>
                      <a:pPr>
                        <a:buNone/>
                        <a:defRPr sz="1000"/>
                      </a:pPr>
                      <a:r>
                        <a:rPr lang="en-SG"/>
                        <a:t>Current passing tests</a:t>
                      </a:r>
                    </a:p>
                  </a:txBody>
                  <a:tcPr anchor="ctr"/>
                </a:tc>
                <a:tc>
                  <a:txBody>
                    <a:bodyPr/>
                    <a:lstStyle/>
                    <a:p>
                      <a:pPr>
                        <a:defRPr sz="1000"/>
                      </a:pPr>
                      <a:r>
                        <a:t>All suites green in CI on main: 676 frontend + 612 backend (29 Oct 2026)</a:t>
                      </a:r>
                    </a:p>
                  </a:txBody>
                  <a:tcPr anchor="ctr"/>
                </a:tc>
                <a:extLst>
                  <a:ext uri="{0D108BD9-81ED-4DB2-BD59-A6C34878D82A}">
                    <a16:rowId xmlns:a16="http://schemas.microsoft.com/office/drawing/2014/main" val="2349477081"/>
                  </a:ext>
                </a:extLst>
              </a:tr>
              <a:tr h="0">
                <a:tc>
                  <a:txBody>
                    <a:bodyPr/>
                    <a:lstStyle/>
                    <a:p>
                      <a:pPr>
                        <a:buNone/>
                        <a:defRPr sz="1000"/>
                      </a:pPr>
                      <a:r>
                        <a:rPr lang="en-SG"/>
                        <a:t>Current failing tests</a:t>
                      </a:r>
                    </a:p>
                  </a:txBody>
                  <a:tcPr anchor="ctr"/>
                </a:tc>
                <a:tc>
                  <a:txBody>
                    <a:bodyPr/>
                    <a:lstStyle/>
                    <a:p>
                      <a:pPr>
                        <a:defRPr sz="1000"/>
                      </a:pPr>
                      <a:r>
                        <a:t>0 in CI on main (29 Oct 2026); Vitest flakes locally under load</a:t>
                      </a:r>
                    </a:p>
                  </a:txBody>
                  <a:tcPr anchor="ctr"/>
                </a:tc>
                <a:extLst>
                  <a:ext uri="{0D108BD9-81ED-4DB2-BD59-A6C34878D82A}">
                    <a16:rowId xmlns:a16="http://schemas.microsoft.com/office/drawing/2014/main" val="698918804"/>
                  </a:ext>
                </a:extLst>
              </a:tr>
              <a:tr h="0">
                <a:tc>
                  <a:txBody>
                    <a:bodyPr/>
                    <a:lstStyle/>
                    <a:p>
                      <a:pPr>
                        <a:buNone/>
                        <a:defRPr sz="1000"/>
                      </a:pPr>
                      <a:r>
                        <a:rPr lang="en-SG"/>
                        <a:t>CI status</a:t>
                      </a:r>
                    </a:p>
                  </a:txBody>
                  <a:tcPr anchor="ctr"/>
                </a:tc>
                <a:tc>
                  <a:txBody>
                    <a:bodyPr/>
                    <a:lstStyle/>
                    <a:p>
                      <a:pPr>
                        <a:defRPr sz="1000"/>
                      </a:pPr>
                      <a:r>
                        <a:t>Pass - 20/20 check runs green on main eab9f898 (29 Oct 2026)</a:t>
                      </a:r>
                    </a:p>
                  </a:txBody>
                  <a:tcPr anchor="ctr"/>
                </a:tc>
                <a:extLst>
                  <a:ext uri="{0D108BD9-81ED-4DB2-BD59-A6C34878D82A}">
                    <a16:rowId xmlns:a16="http://schemas.microsoft.com/office/drawing/2014/main" val="1182502127"/>
                  </a:ext>
                </a:extLst>
              </a:tr>
              <a:tr h="0">
                <a:tc>
                  <a:txBody>
                    <a:bodyPr/>
                    <a:lstStyle/>
                    <a:p>
                      <a:pPr>
                        <a:buNone/>
                        <a:defRPr sz="1000"/>
                      </a:pPr>
                      <a:r>
                        <a:rPr lang="en-SG"/>
                        <a:t>Number of known unresolved defects</a:t>
                      </a:r>
                    </a:p>
                  </a:txBody>
                  <a:tcPr anchor="ctr"/>
                </a:tc>
                <a:tc>
                  <a:txBody>
                    <a:bodyPr/>
                    <a:lstStyle/>
                    <a:p>
                      <a:pPr>
                        <a:defRPr sz="1000"/>
                      </a:pPr>
                      <a:r>
                        <a:t>Open follow-ups: PRs #309, #328, #361; no open issues (30 Oct 2026); no Done story reopened</a:t>
                      </a:r>
                    </a:p>
                  </a:txBody>
                  <a:tcPr anchor="ctr"/>
                </a:tc>
                <a:extLst>
                  <a:ext uri="{0D108BD9-81ED-4DB2-BD59-A6C34878D82A}">
                    <a16:rowId xmlns:a16="http://schemas.microsoft.com/office/drawing/2014/main" val="841089056"/>
                  </a:ext>
                </a:extLst>
              </a:tr>
            </a:tbl>
          </a:graphicData>
        </a:graphic>
      </p:graphicFrame>
      <p:sp>
        <p:nvSpPr>
          <p:cNvPr id="3" name="TextBox 2">
            <a:extLst>
              <a:ext uri="{FF2B5EF4-FFF2-40B4-BE49-F238E27FC236}">
                <a16:creationId xmlns:a16="http://schemas.microsoft.com/office/drawing/2014/main" id="{7E52F0E2-E226-8764-A130-D8FCC1CDCB54}"/>
              </a:ext>
            </a:extLst>
          </p:cNvPr>
          <p:cNvSpPr txBox="1"/>
          <p:nvPr/>
        </p:nvSpPr>
        <p:spPr>
          <a:xfrm>
            <a:off x="326571" y="4886643"/>
            <a:ext cx="11582403" cy="830997"/>
          </a:xfrm>
          <a:prstGeom prst="rect">
            <a:avLst/>
          </a:prstGeom>
          <a:solidFill>
            <a:schemeClr val="accent1">
              <a:lumMod val="40000"/>
              <a:lumOff val="60000"/>
            </a:schemeClr>
          </a:solidFill>
        </p:spPr>
        <p:txBody>
          <a:bodyPr wrap="square" rtlCol="0">
            <a:spAutoFit/>
          </a:bodyPr>
          <a:lstStyle/>
          <a:p>
            <a:pPr>
              <a:defRPr sz="1200"/>
            </a:pPr>
            <a:r>
              <a:rPr sz="1200"/>
              <a:t>Overly-isolated Mock-Only Unit Tests:</a:t>
            </a:r>
          </a:p>
          <a:p>
            <a:r>
              <a:rPr sz="1200"/>
              <a:t>Unit tests that heavily mocked the database layer and external browser events provided the least practical value. A mocked query cannot notice that the real schema has moved on; in #355 only the real-PostgreSQL suite caught a missing column. Value increased as we added integration tests with rollback transactions and Playwright browser tests.</a:t>
            </a:r>
          </a:p>
        </p:txBody>
      </p:sp>
      <p:sp>
        <p:nvSpPr>
          <p:cNvPr id="5" name="TextBox 4">
            <a:extLst>
              <a:ext uri="{FF2B5EF4-FFF2-40B4-BE49-F238E27FC236}">
                <a16:creationId xmlns:a16="http://schemas.microsoft.com/office/drawing/2014/main" id="{D2674F16-F327-9437-BF58-DD6F5C618F0A}"/>
              </a:ext>
            </a:extLst>
          </p:cNvPr>
          <p:cNvSpPr txBox="1"/>
          <p:nvPr/>
        </p:nvSpPr>
        <p:spPr>
          <a:xfrm>
            <a:off x="326571" y="4441111"/>
            <a:ext cx="11201402" cy="369332"/>
          </a:xfrm>
          <a:prstGeom prst="rect">
            <a:avLst/>
          </a:prstGeom>
          <a:noFill/>
        </p:spPr>
        <p:txBody>
          <a:bodyPr wrap="square" lIns="91440" tIns="45720" rIns="91440" bIns="45720" anchor="t">
            <a:spAutoFit/>
          </a:bodyPr>
          <a:lstStyle/>
          <a:p>
            <a:pPr marL="342900" lvl="0" indent="-342900">
              <a:buFont typeface="Arial" panose="020B0604020202020204" pitchFamily="34" charset="0"/>
              <a:buChar char="•"/>
            </a:pPr>
            <a:r>
              <a:rPr lang="en-SG"/>
              <a:t>Which type of testing provided the </a:t>
            </a:r>
            <a:r>
              <a:rPr lang="en-SG" b="1"/>
              <a:t>least</a:t>
            </a:r>
            <a:r>
              <a:rPr lang="en-SG"/>
              <a:t> value to your team, and why?</a:t>
            </a:r>
          </a:p>
        </p:txBody>
      </p:sp>
    </p:spTree>
    <p:extLst>
      <p:ext uri="{BB962C8B-B14F-4D97-AF65-F5344CB8AC3E}">
        <p14:creationId xmlns:p14="http://schemas.microsoft.com/office/powerpoint/2010/main" val="1927331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3D8F2-3F45-A812-0F59-1762EF6E3BCC}"/>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38B4F90C-61C3-40B1-405B-5A0DF476054C}"/>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Testing Strategy (ii)</a:t>
            </a:r>
          </a:p>
        </p:txBody>
      </p:sp>
      <p:sp>
        <p:nvSpPr>
          <p:cNvPr id="4" name="TextBox 3">
            <a:extLst>
              <a:ext uri="{FF2B5EF4-FFF2-40B4-BE49-F238E27FC236}">
                <a16:creationId xmlns:a16="http://schemas.microsoft.com/office/drawing/2014/main" id="{10487658-DD80-FD75-1EE7-3E6753B34BF5}"/>
              </a:ext>
            </a:extLst>
          </p:cNvPr>
          <p:cNvSpPr txBox="1"/>
          <p:nvPr/>
        </p:nvSpPr>
        <p:spPr>
          <a:xfrm>
            <a:off x="258537" y="1469963"/>
            <a:ext cx="6482442" cy="923330"/>
          </a:xfrm>
          <a:prstGeom prst="rect">
            <a:avLst/>
          </a:prstGeom>
          <a:noFill/>
        </p:spPr>
        <p:txBody>
          <a:bodyPr wrap="square" lIns="91440" tIns="45720" rIns="91440" bIns="45720" anchor="t">
            <a:spAutoFit/>
          </a:bodyPr>
          <a:lstStyle/>
          <a:p>
            <a:pPr lvl="0"/>
            <a:r>
              <a:rPr lang="en-SG" b="1"/>
              <a:t>Describe:</a:t>
            </a:r>
          </a:p>
          <a:p>
            <a:pPr marL="285750" lvl="0" indent="-285750">
              <a:buFont typeface="Arial" panose="020B0604020202020204" pitchFamily="34" charset="0"/>
              <a:buChar char="•"/>
            </a:pPr>
            <a:r>
              <a:rPr lang="en-SG"/>
              <a:t>How you identified edge-cases in testing</a:t>
            </a:r>
          </a:p>
          <a:p>
            <a:pPr lvl="0"/>
            <a:endParaRPr lang="en-SG" b="1"/>
          </a:p>
        </p:txBody>
      </p:sp>
      <p:sp>
        <p:nvSpPr>
          <p:cNvPr id="3" name="TextBox 2">
            <a:extLst>
              <a:ext uri="{FF2B5EF4-FFF2-40B4-BE49-F238E27FC236}">
                <a16:creationId xmlns:a16="http://schemas.microsoft.com/office/drawing/2014/main" id="{7EE9770B-4837-738D-D26A-B85C071E0CD9}"/>
              </a:ext>
            </a:extLst>
          </p:cNvPr>
          <p:cNvSpPr txBox="1"/>
          <p:nvPr/>
        </p:nvSpPr>
        <p:spPr>
          <a:xfrm>
            <a:off x="258537" y="2469493"/>
            <a:ext cx="11582403" cy="461665"/>
          </a:xfrm>
          <a:prstGeom prst="rect">
            <a:avLst/>
          </a:prstGeom>
          <a:solidFill>
            <a:schemeClr val="accent1">
              <a:lumMod val="40000"/>
              <a:lumOff val="60000"/>
            </a:schemeClr>
          </a:solidFill>
        </p:spPr>
        <p:txBody>
          <a:bodyPr wrap="square" rtlCol="0">
            <a:spAutoFit/>
          </a:bodyPr>
          <a:lstStyle/>
          <a:p>
            <a:pPr>
              <a:defRPr sz="1200"/>
            </a:pPr>
            <a:r>
              <a:rPr sz="1200"/>
              <a:t>Identified edge cases through boundary analysis and state-transition modelling: concurrent booking submissions, negative capacities, venue unavailability across multi-day bookings, withdrawals that release a place to the waiting list (TC_E09S05_04), and double form submissions.</a:t>
            </a:r>
          </a:p>
        </p:txBody>
      </p:sp>
      <p:sp>
        <p:nvSpPr>
          <p:cNvPr id="6" name="TextBox 5">
            <a:extLst>
              <a:ext uri="{FF2B5EF4-FFF2-40B4-BE49-F238E27FC236}">
                <a16:creationId xmlns:a16="http://schemas.microsoft.com/office/drawing/2014/main" id="{6CA2D952-52D5-9DB8-3BB8-7DBDFD16BB63}"/>
              </a:ext>
            </a:extLst>
          </p:cNvPr>
          <p:cNvSpPr txBox="1"/>
          <p:nvPr/>
        </p:nvSpPr>
        <p:spPr>
          <a:xfrm>
            <a:off x="258537" y="3007358"/>
            <a:ext cx="7535128" cy="369332"/>
          </a:xfrm>
          <a:prstGeom prst="rect">
            <a:avLst/>
          </a:prstGeom>
          <a:noFill/>
        </p:spPr>
        <p:txBody>
          <a:bodyPr wrap="square">
            <a:spAutoFit/>
          </a:bodyPr>
          <a:lstStyle/>
          <a:p>
            <a:pPr marL="342900" lvl="0" indent="-342900">
              <a:buFont typeface="Arial" panose="020B0604020202020204" pitchFamily="34" charset="0"/>
              <a:buChar char="•"/>
            </a:pPr>
            <a:r>
              <a:rPr lang="en-SG"/>
              <a:t>How the customer change and/or CFO statement affected testing</a:t>
            </a:r>
          </a:p>
        </p:txBody>
      </p:sp>
      <p:sp>
        <p:nvSpPr>
          <p:cNvPr id="7" name="TextBox 6">
            <a:extLst>
              <a:ext uri="{FF2B5EF4-FFF2-40B4-BE49-F238E27FC236}">
                <a16:creationId xmlns:a16="http://schemas.microsoft.com/office/drawing/2014/main" id="{CF55520A-A86C-183F-C43D-AC3DE03B1748}"/>
              </a:ext>
            </a:extLst>
          </p:cNvPr>
          <p:cNvSpPr txBox="1"/>
          <p:nvPr/>
        </p:nvSpPr>
        <p:spPr>
          <a:xfrm>
            <a:off x="258537" y="3452890"/>
            <a:ext cx="11582403" cy="461665"/>
          </a:xfrm>
          <a:prstGeom prst="rect">
            <a:avLst/>
          </a:prstGeom>
          <a:solidFill>
            <a:schemeClr val="accent1">
              <a:lumMod val="40000"/>
              <a:lumOff val="60000"/>
            </a:schemeClr>
          </a:solidFill>
        </p:spPr>
        <p:txBody>
          <a:bodyPr wrap="square" rtlCol="0">
            <a:spAutoFit/>
          </a:bodyPr>
          <a:lstStyle/>
          <a:p>
            <a:pPr>
              <a:defRPr sz="1200"/>
            </a:pPr>
            <a:r>
              <a:rPr sz="1200"/>
              <a:t>Customer changes introduced asynchronous state dependencies (e.g. waiting-list notification and first-come claims, plus turnaround buffer overlaps) that required testing time-based workflows and multi-role interactions (Organiser, Venue Staff, Coordinator, Attendee).</a:t>
            </a:r>
          </a:p>
        </p:txBody>
      </p:sp>
      <p:sp>
        <p:nvSpPr>
          <p:cNvPr id="9" name="TextBox 8">
            <a:extLst>
              <a:ext uri="{FF2B5EF4-FFF2-40B4-BE49-F238E27FC236}">
                <a16:creationId xmlns:a16="http://schemas.microsoft.com/office/drawing/2014/main" id="{576587D8-F5B6-E2CD-CBF0-E197A2250317}"/>
              </a:ext>
            </a:extLst>
          </p:cNvPr>
          <p:cNvSpPr txBox="1"/>
          <p:nvPr/>
        </p:nvSpPr>
        <p:spPr>
          <a:xfrm>
            <a:off x="258536" y="3990755"/>
            <a:ext cx="10703631" cy="369332"/>
          </a:xfrm>
          <a:prstGeom prst="rect">
            <a:avLst/>
          </a:prstGeom>
          <a:noFill/>
        </p:spPr>
        <p:txBody>
          <a:bodyPr wrap="square">
            <a:spAutoFit/>
          </a:bodyPr>
          <a:lstStyle/>
          <a:p>
            <a:pPr marL="342900" lvl="0" indent="-342900">
              <a:buFont typeface="Arial" panose="020B0604020202020204" pitchFamily="34" charset="0"/>
              <a:buChar char="•"/>
            </a:pPr>
            <a:r>
              <a:rPr lang="en-SG"/>
              <a:t>Has every test case been verified by a human? If not, why? If so, what was the process/challenges?</a:t>
            </a:r>
          </a:p>
        </p:txBody>
      </p:sp>
      <p:sp>
        <p:nvSpPr>
          <p:cNvPr id="10" name="TextBox 9">
            <a:extLst>
              <a:ext uri="{FF2B5EF4-FFF2-40B4-BE49-F238E27FC236}">
                <a16:creationId xmlns:a16="http://schemas.microsoft.com/office/drawing/2014/main" id="{7340E3D6-29FE-FFB9-824E-4E99DA314F3C}"/>
              </a:ext>
            </a:extLst>
          </p:cNvPr>
          <p:cNvSpPr txBox="1"/>
          <p:nvPr/>
        </p:nvSpPr>
        <p:spPr>
          <a:xfrm>
            <a:off x="258536" y="4436287"/>
            <a:ext cx="11582403" cy="938719"/>
          </a:xfrm>
          <a:prstGeom prst="rect">
            <a:avLst/>
          </a:prstGeom>
          <a:solidFill>
            <a:schemeClr val="accent1">
              <a:lumMod val="40000"/>
              <a:lumOff val="60000"/>
            </a:schemeClr>
          </a:solidFill>
        </p:spPr>
        <p:txBody>
          <a:bodyPr wrap="square" rtlCol="0">
            <a:spAutoFit/>
          </a:bodyPr>
          <a:lstStyle/>
          <a:p>
            <a:pPr>
              <a:defRPr sz="1100"/>
            </a:pPr>
            <a:r>
              <a:rPr sz="1100"/>
              <a:t>No - not all 379 test-case IDs. T-65/T-93 require a recorded manual run for each story accepted as Done: 739 run records and 509 evidence images in docs/testing/runs/. The 74 scaffold-only cases have had no human click-through.</a:t>
            </a:r>
          </a:p>
          <a:p>
            <a:r>
              <a:rPr sz="1100"/>
              <a:t>• Process: Testers followed documented markdown scripts (docs/testing/manual/), set up preconditions via SQL scripts, executed flows in the browser, captured hand-taken screenshots, and committed session records to docs/testing/runs/.</a:t>
            </a:r>
          </a:p>
          <a:p>
            <a:r>
              <a:rPr sz="1100"/>
              <a:t>• Challenges: Synchronising test accounts across roles without overwriting active test state required careful SQL fixture design.</a:t>
            </a:r>
          </a:p>
        </p:txBody>
      </p:sp>
    </p:spTree>
    <p:extLst>
      <p:ext uri="{BB962C8B-B14F-4D97-AF65-F5344CB8AC3E}">
        <p14:creationId xmlns:p14="http://schemas.microsoft.com/office/powerpoint/2010/main" val="1700897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E6ABC-36BD-E14E-F53A-0375088944B3}"/>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BB5A0505-EFAD-BBF3-5F8F-9C9B99C24390}"/>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CI Pipeline (</a:t>
            </a:r>
            <a:r>
              <a:rPr lang="en-US" altLang="en-US" sz="3200" b="1" err="1">
                <a:solidFill>
                  <a:schemeClr val="bg1"/>
                </a:solidFill>
              </a:rPr>
              <a:t>i</a:t>
            </a:r>
            <a:r>
              <a:rPr lang="en-US" altLang="en-US" sz="3200" b="1">
                <a:solidFill>
                  <a:schemeClr val="bg1"/>
                </a:solidFill>
              </a:rPr>
              <a:t>)</a:t>
            </a:r>
          </a:p>
        </p:txBody>
      </p:sp>
      <p:sp>
        <p:nvSpPr>
          <p:cNvPr id="4" name="TextBox 3">
            <a:extLst>
              <a:ext uri="{FF2B5EF4-FFF2-40B4-BE49-F238E27FC236}">
                <a16:creationId xmlns:a16="http://schemas.microsoft.com/office/drawing/2014/main" id="{C0F38726-0C4D-1B42-2FCE-70FEF8AE2C56}"/>
              </a:ext>
            </a:extLst>
          </p:cNvPr>
          <p:cNvSpPr txBox="1"/>
          <p:nvPr/>
        </p:nvSpPr>
        <p:spPr>
          <a:xfrm>
            <a:off x="258537" y="1469963"/>
            <a:ext cx="11582402" cy="646331"/>
          </a:xfrm>
          <a:prstGeom prst="rect">
            <a:avLst/>
          </a:prstGeom>
          <a:noFill/>
        </p:spPr>
        <p:txBody>
          <a:bodyPr wrap="square">
            <a:spAutoFit/>
          </a:bodyPr>
          <a:lstStyle/>
          <a:p>
            <a:pPr marL="285750" indent="-285750">
              <a:buFont typeface="Arial" panose="020B0604020202020204" pitchFamily="34" charset="0"/>
              <a:buChar char="•"/>
            </a:pPr>
            <a:r>
              <a:rPr lang="en-SG" b="1"/>
              <a:t>Complete:</a:t>
            </a:r>
          </a:p>
          <a:p>
            <a:pPr marL="285750" lvl="0" indent="-285750">
              <a:buFont typeface="Arial" panose="020B0604020202020204" pitchFamily="34" charset="0"/>
              <a:buChar char="•"/>
            </a:pPr>
            <a:endParaRPr lang="en-SG" b="1"/>
          </a:p>
        </p:txBody>
      </p:sp>
      <p:graphicFrame>
        <p:nvGraphicFramePr>
          <p:cNvPr id="2" name="Table 1">
            <a:extLst>
              <a:ext uri="{FF2B5EF4-FFF2-40B4-BE49-F238E27FC236}">
                <a16:creationId xmlns:a16="http://schemas.microsoft.com/office/drawing/2014/main" id="{539EA8CD-2DB7-12C9-3AD5-5FCF98B8D6F5}"/>
              </a:ext>
            </a:extLst>
          </p:cNvPr>
          <p:cNvGraphicFramePr>
            <a:graphicFrameLocks noGrp="1"/>
          </p:cNvGraphicFramePr>
          <p:nvPr>
            <p:extLst>
              <p:ext uri="{D42A27DB-BD31-4B8C-83A1-F6EECF244321}">
                <p14:modId xmlns:p14="http://schemas.microsoft.com/office/powerpoint/2010/main" val="2974236289"/>
              </p:ext>
            </p:extLst>
          </p:nvPr>
        </p:nvGraphicFramePr>
        <p:xfrm>
          <a:off x="225216" y="1830251"/>
          <a:ext cx="11649044" cy="5021516"/>
        </p:xfrm>
        <a:graphic>
          <a:graphicData uri="http://schemas.openxmlformats.org/drawingml/2006/table">
            <a:tbl>
              <a:tblPr>
                <a:tableStyleId>{5C22544A-7EE6-4342-B048-85BDC9FD1C3A}</a:tableStyleId>
              </a:tblPr>
              <a:tblGrid>
                <a:gridCol w="4276695">
                  <a:extLst>
                    <a:ext uri="{9D8B030D-6E8A-4147-A177-3AD203B41FA5}">
                      <a16:colId xmlns:a16="http://schemas.microsoft.com/office/drawing/2014/main" val="4175266295"/>
                    </a:ext>
                  </a:extLst>
                </a:gridCol>
                <a:gridCol w="7372349">
                  <a:extLst>
                    <a:ext uri="{9D8B030D-6E8A-4147-A177-3AD203B41FA5}">
                      <a16:colId xmlns:a16="http://schemas.microsoft.com/office/drawing/2014/main" val="2584215645"/>
                    </a:ext>
                  </a:extLst>
                </a:gridCol>
              </a:tblGrid>
              <a:tr h="377776">
                <a:tc>
                  <a:txBody>
                    <a:bodyPr/>
                    <a:lstStyle/>
                    <a:p>
                      <a:pPr>
                        <a:buNone/>
                        <a:defRPr sz="1000"/>
                      </a:pPr>
                      <a:r>
                        <a:rPr lang="en-SG" sz="1700" b="1"/>
                        <a:t>CI Question</a:t>
                      </a:r>
                    </a:p>
                  </a:txBody>
                  <a:tcPr marL="85320" marR="85320" marT="42660" marB="42660" anchor="ctr"/>
                </a:tc>
                <a:tc>
                  <a:txBody>
                    <a:bodyPr/>
                    <a:lstStyle/>
                    <a:p>
                      <a:pPr>
                        <a:buNone/>
                        <a:defRPr sz="1000"/>
                      </a:pPr>
                      <a:r>
                        <a:rPr lang="en-SG" sz="1700" b="1"/>
                        <a:t>Your Team’s Answer</a:t>
                      </a:r>
                    </a:p>
                  </a:txBody>
                  <a:tcPr marL="85320" marR="85320" marT="42660" marB="42660" anchor="ctr"/>
                </a:tc>
                <a:extLst>
                  <a:ext uri="{0D108BD9-81ED-4DB2-BD59-A6C34878D82A}">
                    <a16:rowId xmlns:a16="http://schemas.microsoft.com/office/drawing/2014/main" val="1899935958"/>
                  </a:ext>
                </a:extLst>
              </a:tr>
              <a:tr h="377776">
                <a:tc>
                  <a:txBody>
                    <a:bodyPr/>
                    <a:lstStyle/>
                    <a:p>
                      <a:pPr>
                        <a:buNone/>
                        <a:defRPr sz="1000"/>
                      </a:pPr>
                      <a:r>
                        <a:rPr lang="en-SG" sz="1700"/>
                        <a:t>What events trigger your CI pipeline?</a:t>
                      </a:r>
                    </a:p>
                  </a:txBody>
                  <a:tcPr marL="85320" marR="85320" marT="42660" marB="42660" anchor="ctr"/>
                </a:tc>
                <a:tc>
                  <a:txBody>
                    <a:bodyPr/>
                    <a:lstStyle/>
                    <a:p>
                      <a:pPr>
                        <a:defRPr sz="1000"/>
                      </a:pPr>
                      <a:r>
                        <a:t>Pull requests to main (opened, synchronize, reopened, edited, ready for review), the merge queue, pushes to main and manual dispatch.</a:t>
                      </a:r>
                    </a:p>
                  </a:txBody>
                  <a:tcPr marL="85320" marR="85320" marT="42660" marB="42660" anchor="ctr"/>
                </a:tc>
                <a:extLst>
                  <a:ext uri="{0D108BD9-81ED-4DB2-BD59-A6C34878D82A}">
                    <a16:rowId xmlns:a16="http://schemas.microsoft.com/office/drawing/2014/main" val="2381012995"/>
                  </a:ext>
                </a:extLst>
              </a:tr>
              <a:tr h="377776">
                <a:tc>
                  <a:txBody>
                    <a:bodyPr/>
                    <a:lstStyle/>
                    <a:p>
                      <a:pPr>
                        <a:buNone/>
                        <a:defRPr sz="1000"/>
                      </a:pPr>
                      <a:r>
                        <a:rPr lang="en-SG" sz="1700"/>
                        <a:t>What checks/tests are run automatically?</a:t>
                      </a:r>
                    </a:p>
                  </a:txBody>
                  <a:tcPr marL="85320" marR="85320" marT="42660" marB="42660" anchor="ctr"/>
                </a:tc>
                <a:tc>
                  <a:txBody>
                    <a:bodyPr/>
                    <a:lstStyle/>
                    <a:p>
                      <a:pPr>
                        <a:defRPr sz="1000"/>
                      </a:pPr>
                      <a:r>
                        <a:t>repository-checks (check.py, tc-coverage audit), pr-conventions, pr-guardrails (max 2 PRs/author), application-checks (typecheck, Vitest, backend unit/db, Playwright E2E).</a:t>
                      </a:r>
                    </a:p>
                  </a:txBody>
                  <a:tcPr marL="85320" marR="85320" marT="42660" marB="42660" anchor="ctr"/>
                </a:tc>
                <a:extLst>
                  <a:ext uri="{0D108BD9-81ED-4DB2-BD59-A6C34878D82A}">
                    <a16:rowId xmlns:a16="http://schemas.microsoft.com/office/drawing/2014/main" val="3027506273"/>
                  </a:ext>
                </a:extLst>
              </a:tr>
              <a:tr h="661963">
                <a:tc>
                  <a:txBody>
                    <a:bodyPr/>
                    <a:lstStyle/>
                    <a:p>
                      <a:pPr>
                        <a:buNone/>
                        <a:defRPr sz="1000"/>
                      </a:pPr>
                      <a:r>
                        <a:rPr lang="en-SG" sz="1700"/>
                        <a:t>Is CI required to pass before code can be merged into main?</a:t>
                      </a:r>
                    </a:p>
                  </a:txBody>
                  <a:tcPr marL="85320" marR="85320" marT="42660" marB="42660" anchor="ctr"/>
                </a:tc>
                <a:tc>
                  <a:txBody>
                    <a:bodyPr/>
                    <a:lstStyle/>
                    <a:p>
                      <a:pPr>
                        <a:defRPr sz="1000"/>
                      </a:pPr>
                      <a:r>
                        <a:t>Yes. Since 3 Oct 2026 a ruleset on main requires repository-checks, pr-conventions, lfs-guard and application-checks to pass, and merges go through a merge queue.</a:t>
                      </a:r>
                    </a:p>
                  </a:txBody>
                  <a:tcPr marL="85320" marR="85320" marT="42660" marB="42660" anchor="ctr"/>
                </a:tc>
                <a:extLst>
                  <a:ext uri="{0D108BD9-81ED-4DB2-BD59-A6C34878D82A}">
                    <a16:rowId xmlns:a16="http://schemas.microsoft.com/office/drawing/2014/main" val="3275610482"/>
                  </a:ext>
                </a:extLst>
              </a:tr>
              <a:tr h="661963">
                <a:tc>
                  <a:txBody>
                    <a:bodyPr/>
                    <a:lstStyle/>
                    <a:p>
                      <a:pPr>
                        <a:buNone/>
                        <a:defRPr sz="1000"/>
                      </a:pPr>
                      <a:r>
                        <a:rPr lang="en-SG" sz="1700"/>
                        <a:t>How many CI failures (CI going red) did your team encounter during the project?</a:t>
                      </a:r>
                      <a:endParaRPr lang="en-US"/>
                    </a:p>
                  </a:txBody>
                  <a:tcPr marL="85320" marR="85320" marT="42660" marB="42660" anchor="ctr"/>
                </a:tc>
                <a:tc>
                  <a:txBody>
                    <a:bodyPr/>
                    <a:lstStyle/>
                    <a:p>
                      <a:pPr>
                        <a:defRPr sz="1000"/>
                      </a:pPr>
                      <a:r>
                        <a:t>Approximately 38 CI failures across the 4 sprints (all caught pre-merge).</a:t>
                      </a:r>
                    </a:p>
                  </a:txBody>
                  <a:tcPr marL="85320" marR="85320" marT="42660" marB="42660" anchor="ctr"/>
                </a:tc>
                <a:extLst>
                  <a:ext uri="{0D108BD9-81ED-4DB2-BD59-A6C34878D82A}">
                    <a16:rowId xmlns:a16="http://schemas.microsoft.com/office/drawing/2014/main" val="870716701"/>
                  </a:ext>
                </a:extLst>
              </a:tr>
              <a:tr h="661963">
                <a:tc>
                  <a:txBody>
                    <a:bodyPr/>
                    <a:lstStyle/>
                    <a:p>
                      <a:pPr>
                        <a:buNone/>
                        <a:defRPr sz="1000"/>
                      </a:pPr>
                      <a:r>
                        <a:rPr lang="en-SG" sz="1700"/>
                        <a:t>What was the most meaningful CI failure you encountered?</a:t>
                      </a:r>
                    </a:p>
                  </a:txBody>
                  <a:tcPr marL="85320" marR="85320" marT="42660" marB="42660" anchor="ctr"/>
                </a:tc>
                <a:tc>
                  <a:txBody>
                    <a:bodyPr/>
                    <a:lstStyle/>
                    <a:p>
                      <a:pPr>
                        <a:defRPr sz="1000"/>
                      </a:pPr>
                      <a:r>
                        <a:t>The RefusedEdit navigation focus assertion race condition (#372) and author PR guardrail limit detection (#373).</a:t>
                      </a:r>
                    </a:p>
                  </a:txBody>
                  <a:tcPr marL="85320" marR="85320" marT="42660" marB="42660" anchor="ctr"/>
                </a:tc>
                <a:extLst>
                  <a:ext uri="{0D108BD9-81ED-4DB2-BD59-A6C34878D82A}">
                    <a16:rowId xmlns:a16="http://schemas.microsoft.com/office/drawing/2014/main" val="3373337732"/>
                  </a:ext>
                </a:extLst>
              </a:tr>
              <a:tr h="377776">
                <a:tc>
                  <a:txBody>
                    <a:bodyPr/>
                    <a:lstStyle/>
                    <a:p>
                      <a:pPr>
                        <a:buNone/>
                        <a:defRPr sz="1000"/>
                      </a:pPr>
                      <a:r>
                        <a:rPr lang="en-SG" sz="1700"/>
                        <a:t>What caused it, and how was it resolved?</a:t>
                      </a:r>
                    </a:p>
                  </a:txBody>
                  <a:tcPr marL="85320" marR="85320" marT="42660" marB="42660" anchor="ctr"/>
                </a:tc>
                <a:tc>
                  <a:txBody>
                    <a:bodyPr/>
                    <a:lstStyle/>
                    <a:p>
                      <a:pPr>
                        <a:defRPr sz="1000"/>
                      </a:pPr>
                      <a:r>
                        <a:t>Caused by synchronous focus expectation before DOM rendering completed. Resolved by introducing web-first waitFor polling on container element in PR #373.</a:t>
                      </a:r>
                    </a:p>
                  </a:txBody>
                  <a:tcPr marL="85320" marR="85320" marT="42660" marB="42660" anchor="ctr"/>
                </a:tc>
                <a:extLst>
                  <a:ext uri="{0D108BD9-81ED-4DB2-BD59-A6C34878D82A}">
                    <a16:rowId xmlns:a16="http://schemas.microsoft.com/office/drawing/2014/main" val="399138234"/>
                  </a:ext>
                </a:extLst>
              </a:tr>
              <a:tr h="661963">
                <a:tc>
                  <a:txBody>
                    <a:bodyPr/>
                    <a:lstStyle/>
                    <a:p>
                      <a:pPr>
                        <a:buNone/>
                        <a:defRPr sz="1000"/>
                      </a:pPr>
                      <a:r>
                        <a:rPr lang="en-SG" sz="1700"/>
                        <a:t>Did CI ever prevent faulty code from being merged? Give one example.</a:t>
                      </a:r>
                    </a:p>
                  </a:txBody>
                  <a:tcPr marL="85320" marR="85320" marT="42660" marB="42660" anchor="ctr"/>
                </a:tc>
                <a:tc>
                  <a:txBody>
                    <a:bodyPr/>
                    <a:lstStyle/>
                    <a:p>
                      <a:pPr>
                        <a:defRPr sz="1000"/>
                      </a:pPr>
                      <a:r>
                        <a:t>Yes. On PR #320 (event cancellation) the Typecheck step failed on commit cc7322f (run 39831097976): a test passed an option ByRoleOptions does not support, which a cached local tsc had missed. It was fixed before merge.</a:t>
                      </a:r>
                    </a:p>
                  </a:txBody>
                  <a:tcPr marL="85320" marR="85320" marT="42660" marB="42660" anchor="ctr"/>
                </a:tc>
                <a:extLst>
                  <a:ext uri="{0D108BD9-81ED-4DB2-BD59-A6C34878D82A}">
                    <a16:rowId xmlns:a16="http://schemas.microsoft.com/office/drawing/2014/main" val="937799439"/>
                  </a:ext>
                </a:extLst>
              </a:tr>
              <a:tr h="661963">
                <a:tc>
                  <a:txBody>
                    <a:bodyPr/>
                    <a:lstStyle/>
                    <a:p>
                      <a:pPr>
                        <a:buNone/>
                        <a:defRPr sz="1000"/>
                      </a:pPr>
                      <a:r>
                        <a:rPr lang="en-SG" sz="1700"/>
                        <a:t>Did you ever need to bypass CI (e.g. git force push / move code from local main to local branch)? Why? What did you do?</a:t>
                      </a:r>
                    </a:p>
                  </a:txBody>
                  <a:tcPr marL="85320" marR="85320" marT="42660" marB="42660" anchor="ctr"/>
                </a:tc>
                <a:tc>
                  <a:txBody>
                    <a:bodyPr/>
                    <a:lstStyle/>
                    <a:p>
                      <a:pPr>
                        <a:defRPr sz="1000"/>
                      </a:pPr>
                      <a:r>
                        <a:t>No force pushes or bypasses since the main ruleset (3 Oct 2026): it blocks non-fast-forward pushes and has no bypass actors. Before it existed, four PRs (#148, #165, #166, #167) were merged on 1 Oct without an approving review.</a:t>
                      </a:r>
                    </a:p>
                  </a:txBody>
                  <a:tcPr marL="85320" marR="85320" marT="42660" marB="42660" anchor="ctr"/>
                </a:tc>
                <a:extLst>
                  <a:ext uri="{0D108BD9-81ED-4DB2-BD59-A6C34878D82A}">
                    <a16:rowId xmlns:a16="http://schemas.microsoft.com/office/drawing/2014/main" val="3879166377"/>
                  </a:ext>
                </a:extLst>
              </a:tr>
            </a:tbl>
          </a:graphicData>
        </a:graphic>
      </p:graphicFrame>
    </p:spTree>
    <p:extLst>
      <p:ext uri="{BB962C8B-B14F-4D97-AF65-F5344CB8AC3E}">
        <p14:creationId xmlns:p14="http://schemas.microsoft.com/office/powerpoint/2010/main" val="3674628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DA009-4C37-3C2F-C4E6-6F93B24A9DE1}"/>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C436970A-98E9-4F1A-F676-98D1F8B3ACD8}"/>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CI Pipeline (ii)</a:t>
            </a:r>
          </a:p>
        </p:txBody>
      </p:sp>
      <p:sp>
        <p:nvSpPr>
          <p:cNvPr id="4" name="TextBox 3">
            <a:extLst>
              <a:ext uri="{FF2B5EF4-FFF2-40B4-BE49-F238E27FC236}">
                <a16:creationId xmlns:a16="http://schemas.microsoft.com/office/drawing/2014/main" id="{401011E2-9499-268D-7732-D86CB00DF1F4}"/>
              </a:ext>
            </a:extLst>
          </p:cNvPr>
          <p:cNvSpPr txBox="1"/>
          <p:nvPr/>
        </p:nvSpPr>
        <p:spPr>
          <a:xfrm>
            <a:off x="205647" y="1514031"/>
            <a:ext cx="11582402" cy="646331"/>
          </a:xfrm>
          <a:prstGeom prst="rect">
            <a:avLst/>
          </a:prstGeom>
          <a:noFill/>
        </p:spPr>
        <p:txBody>
          <a:bodyPr wrap="square">
            <a:spAutoFit/>
          </a:bodyPr>
          <a:lstStyle/>
          <a:p>
            <a:pPr marL="285750" indent="-285750">
              <a:buFont typeface="Arial" panose="020B0604020202020204" pitchFamily="34" charset="0"/>
              <a:buChar char="•"/>
            </a:pPr>
            <a:r>
              <a:rPr lang="en-SG"/>
              <a:t>What are the most interesting things in your CI Pipeline that you wish to highlight? Why? Where did you get the idea from, and what benefits do you get from this?</a:t>
            </a:r>
          </a:p>
        </p:txBody>
      </p:sp>
      <p:sp>
        <p:nvSpPr>
          <p:cNvPr id="3" name="TextBox 2">
            <a:extLst>
              <a:ext uri="{FF2B5EF4-FFF2-40B4-BE49-F238E27FC236}">
                <a16:creationId xmlns:a16="http://schemas.microsoft.com/office/drawing/2014/main" id="{A64087E2-7504-89B0-7410-B3910D87F06F}"/>
              </a:ext>
            </a:extLst>
          </p:cNvPr>
          <p:cNvSpPr txBox="1"/>
          <p:nvPr/>
        </p:nvSpPr>
        <p:spPr>
          <a:xfrm>
            <a:off x="205646" y="2236562"/>
            <a:ext cx="11582403" cy="1569660"/>
          </a:xfrm>
          <a:prstGeom prst="rect">
            <a:avLst/>
          </a:prstGeom>
          <a:solidFill>
            <a:schemeClr val="accent1">
              <a:lumMod val="40000"/>
              <a:lumOff val="60000"/>
            </a:schemeClr>
          </a:solidFill>
        </p:spPr>
        <p:txBody>
          <a:bodyPr wrap="square" rtlCol="0">
            <a:spAutoFit/>
          </a:bodyPr>
          <a:lstStyle/>
          <a:p>
            <a:pPr>
              <a:defRPr sz="1200"/>
            </a:pPr>
            <a:r>
              <a:rPr sz="1200"/>
              <a:t>1. Derived-Document Drift Audits: CI runs python scripts/check.py and scripts/tc_coverage_audit.py, automatically validating that .env.template and tc-coverage.md never drift from actual codebase usage. Any discrepancy fails the build.</a:t>
            </a:r>
          </a:p>
          <a:p>
            <a:r>
              <a:rPr sz="1200"/>
              <a:t>2. Continuity &amp; State Protection Gate: Custom pre-commit and CI hooks prevent feature branches from editing shared continuity logs (STATE.md, JOURNAL.md), so parallel PRs no longer conflict on them (decisions 0013 and 0014).</a:t>
            </a:r>
          </a:p>
          <a:p>
            <a:r>
              <a:rPr sz="1200"/>
              <a:t>3. Evidence and Credential Hygiene: a test-evidence check keeps each run record and its screenshots in the same commit, detect-secrets and TruffleHog scan for credentials, and scripts/check_worktrees.py reports stale worktrees.</a:t>
            </a:r>
          </a:p>
          <a:p>
            <a:r>
              <a:rPr sz="1200"/>
              <a:t>Benefit: derived files stay in step with the code, shared state files stopped causing PR conflicts, and every cited run has a durable record. The idea came from our own Sprint 2 conflicts on STATE.md and JOURNAL.md (decision 0013).</a:t>
            </a:r>
          </a:p>
        </p:txBody>
      </p:sp>
    </p:spTree>
    <p:extLst>
      <p:ext uri="{BB962C8B-B14F-4D97-AF65-F5344CB8AC3E}">
        <p14:creationId xmlns:p14="http://schemas.microsoft.com/office/powerpoint/2010/main" val="803399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41160-6184-6317-3A3E-018717023A77}"/>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631D5E13-BE4A-373B-6AF5-6AEBB5373862}"/>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CI Pipeline (iii)</a:t>
            </a:r>
          </a:p>
        </p:txBody>
      </p:sp>
      <p:sp>
        <p:nvSpPr>
          <p:cNvPr id="4" name="TextBox 3">
            <a:extLst>
              <a:ext uri="{FF2B5EF4-FFF2-40B4-BE49-F238E27FC236}">
                <a16:creationId xmlns:a16="http://schemas.microsoft.com/office/drawing/2014/main" id="{52BA2071-7E17-DE3A-E1DA-90F5C8F23D34}"/>
              </a:ext>
            </a:extLst>
          </p:cNvPr>
          <p:cNvSpPr txBox="1"/>
          <p:nvPr/>
        </p:nvSpPr>
        <p:spPr>
          <a:xfrm>
            <a:off x="258537" y="1469963"/>
            <a:ext cx="11582402" cy="1477328"/>
          </a:xfrm>
          <a:prstGeom prst="rect">
            <a:avLst/>
          </a:prstGeom>
          <a:noFill/>
        </p:spPr>
        <p:txBody>
          <a:bodyPr wrap="square">
            <a:spAutoFit/>
          </a:bodyPr>
          <a:lstStyle/>
          <a:p>
            <a:r>
              <a:rPr lang="en-SG" b="1"/>
              <a:t>Show ONE concrete example of CI providing value:</a:t>
            </a:r>
          </a:p>
          <a:p>
            <a:pPr marL="285750" indent="-285750">
              <a:buFont typeface="Arial" panose="020B0604020202020204" pitchFamily="34" charset="0"/>
              <a:buChar char="•"/>
            </a:pPr>
            <a:r>
              <a:rPr lang="en-SG" b="1"/>
              <a:t>Change being integrated:</a:t>
            </a:r>
            <a:br>
              <a:rPr lang="en-SG"/>
            </a:br>
            <a:r>
              <a:rPr lang="en-SG"/>
              <a:t>What feature/fix was the team trying to merge?</a:t>
            </a:r>
          </a:p>
          <a:p>
            <a:pPr marL="285750" indent="-285750">
              <a:buFont typeface="Arial" panose="020B0604020202020204" pitchFamily="34" charset="0"/>
              <a:buChar char="•"/>
            </a:pPr>
            <a:endParaRPr lang="en-SG"/>
          </a:p>
          <a:p>
            <a:pPr marL="285750" lvl="0" indent="-285750">
              <a:buFont typeface="Arial" panose="020B0604020202020204" pitchFamily="34" charset="0"/>
              <a:buChar char="•"/>
            </a:pPr>
            <a:endParaRPr lang="en-SG" b="1"/>
          </a:p>
        </p:txBody>
      </p:sp>
      <p:sp>
        <p:nvSpPr>
          <p:cNvPr id="3" name="TextBox 2">
            <a:extLst>
              <a:ext uri="{FF2B5EF4-FFF2-40B4-BE49-F238E27FC236}">
                <a16:creationId xmlns:a16="http://schemas.microsoft.com/office/drawing/2014/main" id="{622D8493-59A9-CE9B-869A-9205CD496731}"/>
              </a:ext>
            </a:extLst>
          </p:cNvPr>
          <p:cNvSpPr txBox="1"/>
          <p:nvPr/>
        </p:nvSpPr>
        <p:spPr>
          <a:xfrm>
            <a:off x="258536" y="2347126"/>
            <a:ext cx="11582403" cy="646331"/>
          </a:xfrm>
          <a:prstGeom prst="rect">
            <a:avLst/>
          </a:prstGeom>
          <a:solidFill>
            <a:schemeClr val="accent1">
              <a:lumMod val="40000"/>
              <a:lumOff val="60000"/>
            </a:schemeClr>
          </a:solidFill>
        </p:spPr>
        <p:txBody>
          <a:bodyPr wrap="square" rtlCol="0">
            <a:spAutoFit/>
          </a:bodyPr>
          <a:lstStyle/>
          <a:p>
            <a:pPr>
              <a:defRPr sz="1200"/>
            </a:pPr>
            <a:r>
              <a:t>PR #355 (Ji Ning): lost venue replacement recovery (E10), commit b0f0dc6, 26 Oct 2026.</a:t>
            </a:r>
          </a:p>
        </p:txBody>
      </p:sp>
      <p:sp>
        <p:nvSpPr>
          <p:cNvPr id="6" name="TextBox 5">
            <a:extLst>
              <a:ext uri="{FF2B5EF4-FFF2-40B4-BE49-F238E27FC236}">
                <a16:creationId xmlns:a16="http://schemas.microsoft.com/office/drawing/2014/main" id="{3504B0AF-9DB8-CF23-27C4-EEFF3D0F9145}"/>
              </a:ext>
            </a:extLst>
          </p:cNvPr>
          <p:cNvSpPr txBox="1"/>
          <p:nvPr/>
        </p:nvSpPr>
        <p:spPr>
          <a:xfrm>
            <a:off x="258535" y="2993457"/>
            <a:ext cx="6482442" cy="646331"/>
          </a:xfrm>
          <a:prstGeom prst="rect">
            <a:avLst/>
          </a:prstGeom>
          <a:noFill/>
        </p:spPr>
        <p:txBody>
          <a:bodyPr wrap="square">
            <a:spAutoFit/>
          </a:bodyPr>
          <a:lstStyle/>
          <a:p>
            <a:pPr marL="285750" indent="-285750">
              <a:buFont typeface="Arial" panose="020B0604020202020204" pitchFamily="34" charset="0"/>
              <a:buChar char="•"/>
            </a:pPr>
            <a:r>
              <a:rPr lang="en-SG" b="1"/>
              <a:t>What failed:</a:t>
            </a:r>
            <a:br>
              <a:rPr lang="en-SG"/>
            </a:br>
            <a:r>
              <a:rPr lang="en-SG"/>
              <a:t>Which automated check or test failed?</a:t>
            </a:r>
            <a:endParaRPr lang="en-US"/>
          </a:p>
        </p:txBody>
      </p:sp>
      <p:sp>
        <p:nvSpPr>
          <p:cNvPr id="7" name="TextBox 6">
            <a:extLst>
              <a:ext uri="{FF2B5EF4-FFF2-40B4-BE49-F238E27FC236}">
                <a16:creationId xmlns:a16="http://schemas.microsoft.com/office/drawing/2014/main" id="{862A5F2D-E745-923E-2D81-E02E718EFD53}"/>
              </a:ext>
            </a:extLst>
          </p:cNvPr>
          <p:cNvSpPr txBox="1"/>
          <p:nvPr/>
        </p:nvSpPr>
        <p:spPr>
          <a:xfrm>
            <a:off x="258536" y="3639788"/>
            <a:ext cx="11582403" cy="646331"/>
          </a:xfrm>
          <a:prstGeom prst="rect">
            <a:avLst/>
          </a:prstGeom>
          <a:solidFill>
            <a:schemeClr val="accent1">
              <a:lumMod val="40000"/>
              <a:lumOff val="60000"/>
            </a:schemeClr>
          </a:solidFill>
        </p:spPr>
        <p:txBody>
          <a:bodyPr wrap="square" rtlCol="0">
            <a:spAutoFit/>
          </a:bodyPr>
          <a:lstStyle/>
          <a:p>
            <a:pPr>
              <a:defRPr sz="1200"/>
            </a:pPr>
            <a:r>
              <a:t>application-checks, step "E06-S03 booking submission and status PostgreSQL acceptance": TC_E06S03_05 failed because column b.conflict_block_id did not exist (GitHub Actions run 40331728045).</a:t>
            </a:r>
          </a:p>
        </p:txBody>
      </p:sp>
      <p:sp>
        <p:nvSpPr>
          <p:cNvPr id="9" name="TextBox 8">
            <a:extLst>
              <a:ext uri="{FF2B5EF4-FFF2-40B4-BE49-F238E27FC236}">
                <a16:creationId xmlns:a16="http://schemas.microsoft.com/office/drawing/2014/main" id="{CA701EB7-2027-12D7-C123-E748C53388A5}"/>
              </a:ext>
            </a:extLst>
          </p:cNvPr>
          <p:cNvSpPr txBox="1"/>
          <p:nvPr/>
        </p:nvSpPr>
        <p:spPr>
          <a:xfrm>
            <a:off x="258535" y="4286119"/>
            <a:ext cx="6482442" cy="646331"/>
          </a:xfrm>
          <a:prstGeom prst="rect">
            <a:avLst/>
          </a:prstGeom>
          <a:noFill/>
        </p:spPr>
        <p:txBody>
          <a:bodyPr wrap="square">
            <a:spAutoFit/>
          </a:bodyPr>
          <a:lstStyle/>
          <a:p>
            <a:pPr marL="285750" indent="-285750">
              <a:buFont typeface="Arial" panose="020B0604020202020204" pitchFamily="34" charset="0"/>
              <a:buChar char="•"/>
            </a:pPr>
            <a:r>
              <a:rPr lang="en-SG" b="1"/>
              <a:t>Why it failed:</a:t>
            </a:r>
            <a:br>
              <a:rPr lang="en-SG"/>
            </a:br>
            <a:r>
              <a:rPr lang="en-SG"/>
              <a:t>What problem in the implementation was detected?</a:t>
            </a:r>
            <a:endParaRPr lang="en-US"/>
          </a:p>
        </p:txBody>
      </p:sp>
      <p:sp>
        <p:nvSpPr>
          <p:cNvPr id="10" name="TextBox 9">
            <a:extLst>
              <a:ext uri="{FF2B5EF4-FFF2-40B4-BE49-F238E27FC236}">
                <a16:creationId xmlns:a16="http://schemas.microsoft.com/office/drawing/2014/main" id="{04976904-477F-29D1-6465-F8CEEADE6895}"/>
              </a:ext>
            </a:extLst>
          </p:cNvPr>
          <p:cNvSpPr txBox="1"/>
          <p:nvPr/>
        </p:nvSpPr>
        <p:spPr>
          <a:xfrm>
            <a:off x="258536" y="4932450"/>
            <a:ext cx="11582403" cy="646331"/>
          </a:xfrm>
          <a:prstGeom prst="rect">
            <a:avLst/>
          </a:prstGeom>
          <a:solidFill>
            <a:schemeClr val="accent1">
              <a:lumMod val="40000"/>
              <a:lumOff val="60000"/>
            </a:schemeClr>
          </a:solidFill>
        </p:spPr>
        <p:txBody>
          <a:bodyPr wrap="square" rtlCol="0">
            <a:spAutoFit/>
          </a:bodyPr>
          <a:lstStyle/>
          <a:p>
            <a:pPr>
              <a:defRPr sz="1200"/>
            </a:pPr>
            <a:r>
              <a:t>The booking request-list query reads conflict_block_id, added by migration 0025 (venue unavailability, #348), but that suite's fixture built its PostgreSQL schema from only migrations 0001 and 0019. The code and the schema it was tested against had drifted apart, and the real-PostgreSQL CI step caught it before merge.</a:t>
            </a:r>
          </a:p>
        </p:txBody>
      </p:sp>
      <p:sp>
        <p:nvSpPr>
          <p:cNvPr id="13" name="TextBox 12">
            <a:extLst>
              <a:ext uri="{FF2B5EF4-FFF2-40B4-BE49-F238E27FC236}">
                <a16:creationId xmlns:a16="http://schemas.microsoft.com/office/drawing/2014/main" id="{987675FD-A4AB-F30F-3A5D-84521B58D19B}"/>
              </a:ext>
            </a:extLst>
          </p:cNvPr>
          <p:cNvSpPr txBox="1"/>
          <p:nvPr/>
        </p:nvSpPr>
        <p:spPr>
          <a:xfrm>
            <a:off x="258535" y="5578781"/>
            <a:ext cx="6482442" cy="646331"/>
          </a:xfrm>
          <a:prstGeom prst="rect">
            <a:avLst/>
          </a:prstGeom>
          <a:noFill/>
        </p:spPr>
        <p:txBody>
          <a:bodyPr wrap="square">
            <a:spAutoFit/>
          </a:bodyPr>
          <a:lstStyle/>
          <a:p>
            <a:pPr marL="285750" indent="-285750">
              <a:buFont typeface="Arial" panose="020B0604020202020204" pitchFamily="34" charset="0"/>
              <a:buChar char="•"/>
            </a:pPr>
            <a:r>
              <a:rPr lang="en-SG" b="1"/>
              <a:t>What the team did:</a:t>
            </a:r>
            <a:br>
              <a:rPr lang="en-SG"/>
            </a:br>
            <a:r>
              <a:rPr lang="en-SG"/>
              <a:t>How did you resolve the issue?</a:t>
            </a:r>
            <a:endParaRPr lang="en-US"/>
          </a:p>
        </p:txBody>
      </p:sp>
      <p:sp>
        <p:nvSpPr>
          <p:cNvPr id="14" name="TextBox 13">
            <a:extLst>
              <a:ext uri="{FF2B5EF4-FFF2-40B4-BE49-F238E27FC236}">
                <a16:creationId xmlns:a16="http://schemas.microsoft.com/office/drawing/2014/main" id="{D126D471-AE62-7FF7-EC20-C102327E3DB5}"/>
              </a:ext>
            </a:extLst>
          </p:cNvPr>
          <p:cNvSpPr txBox="1"/>
          <p:nvPr/>
        </p:nvSpPr>
        <p:spPr>
          <a:xfrm>
            <a:off x="258534" y="6151446"/>
            <a:ext cx="11582403" cy="646331"/>
          </a:xfrm>
          <a:prstGeom prst="rect">
            <a:avLst/>
          </a:prstGeom>
          <a:solidFill>
            <a:schemeClr val="accent1">
              <a:lumMod val="40000"/>
              <a:lumOff val="60000"/>
            </a:schemeClr>
          </a:solidFill>
        </p:spPr>
        <p:txBody>
          <a:bodyPr wrap="square" rtlCol="0">
            <a:spAutoFit/>
          </a:bodyPr>
          <a:lstStyle/>
          <a:p>
            <a:pPr>
              <a:defRPr sz="1200"/>
            </a:pPr>
            <a:r>
              <a:t>Commit 2e7b580 made the fixture apply all current migrations while keeping its pre-migration rows and the 0019 backfill assertion. CI passed and #355 merged on 27 Oct 2026. Record: docs/testing/runs/20261026-215233-jininggg-backend-api.md.</a:t>
            </a:r>
          </a:p>
        </p:txBody>
      </p:sp>
    </p:spTree>
    <p:extLst>
      <p:ext uri="{BB962C8B-B14F-4D97-AF65-F5344CB8AC3E}">
        <p14:creationId xmlns:p14="http://schemas.microsoft.com/office/powerpoint/2010/main" val="1179733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E1CF-A528-972F-CEEA-6FF9160616D5}"/>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62F82C86-6955-F687-5190-8E39A7C1D2AB}"/>
              </a:ext>
            </a:extLst>
          </p:cNvPr>
          <p:cNvSpPr txBox="1">
            <a:spLocks noChangeArrowheads="1"/>
          </p:cNvSpPr>
          <p:nvPr/>
        </p:nvSpPr>
        <p:spPr>
          <a:xfrm>
            <a:off x="5191159" y="411087"/>
            <a:ext cx="7772400" cy="477569"/>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2800" b="1">
                <a:solidFill>
                  <a:schemeClr val="bg1"/>
                </a:solidFill>
              </a:rPr>
              <a:t>Team Contribution and Ownership</a:t>
            </a:r>
          </a:p>
        </p:txBody>
      </p:sp>
      <p:sp>
        <p:nvSpPr>
          <p:cNvPr id="4" name="TextBox 3">
            <a:extLst>
              <a:ext uri="{FF2B5EF4-FFF2-40B4-BE49-F238E27FC236}">
                <a16:creationId xmlns:a16="http://schemas.microsoft.com/office/drawing/2014/main" id="{20D3F257-0268-1810-733D-536EFB5B1735}"/>
              </a:ext>
            </a:extLst>
          </p:cNvPr>
          <p:cNvSpPr txBox="1"/>
          <p:nvPr/>
        </p:nvSpPr>
        <p:spPr>
          <a:xfrm>
            <a:off x="258537" y="1469963"/>
            <a:ext cx="11582402" cy="369332"/>
          </a:xfrm>
          <a:prstGeom prst="rect">
            <a:avLst/>
          </a:prstGeom>
          <a:noFill/>
        </p:spPr>
        <p:txBody>
          <a:bodyPr wrap="square">
            <a:spAutoFit/>
          </a:bodyPr>
          <a:lstStyle/>
          <a:p>
            <a:r>
              <a:rPr lang="en-SG" b="1"/>
              <a:t>Complete: (add/delete rows based on no. of team members)</a:t>
            </a:r>
          </a:p>
        </p:txBody>
      </p:sp>
      <p:graphicFrame>
        <p:nvGraphicFramePr>
          <p:cNvPr id="2" name="Table 1">
            <a:extLst>
              <a:ext uri="{FF2B5EF4-FFF2-40B4-BE49-F238E27FC236}">
                <a16:creationId xmlns:a16="http://schemas.microsoft.com/office/drawing/2014/main" id="{120B8A19-1E3B-D3CE-3C77-875832D1F7F0}"/>
              </a:ext>
            </a:extLst>
          </p:cNvPr>
          <p:cNvGraphicFramePr>
            <a:graphicFrameLocks noGrp="1"/>
          </p:cNvGraphicFramePr>
          <p:nvPr>
            <p:extLst>
              <p:ext uri="{D42A27DB-BD31-4B8C-83A1-F6EECF244321}">
                <p14:modId xmlns:p14="http://schemas.microsoft.com/office/powerpoint/2010/main" val="2346996234"/>
              </p:ext>
            </p:extLst>
          </p:nvPr>
        </p:nvGraphicFramePr>
        <p:xfrm>
          <a:off x="258537" y="1889981"/>
          <a:ext cx="11582400" cy="4540000"/>
        </p:xfrm>
        <a:graphic>
          <a:graphicData uri="http://schemas.openxmlformats.org/drawingml/2006/table">
            <a:tbl>
              <a:tblPr>
                <a:tableStyleId>{5C22544A-7EE6-4342-B048-85BDC9FD1C3A}</a:tableStyleId>
              </a:tblPr>
              <a:tblGrid>
                <a:gridCol w="2000000">
                  <a:extLst>
                    <a:ext uri="{9D8B030D-6E8A-4147-A177-3AD203B41FA5}">
                      <a16:colId xmlns:a16="http://schemas.microsoft.com/office/drawing/2014/main" val="1239423010"/>
                    </a:ext>
                  </a:extLst>
                </a:gridCol>
                <a:gridCol w="3400000">
                  <a:extLst>
                    <a:ext uri="{9D8B030D-6E8A-4147-A177-3AD203B41FA5}">
                      <a16:colId xmlns:a16="http://schemas.microsoft.com/office/drawing/2014/main" val="3703514168"/>
                    </a:ext>
                  </a:extLst>
                </a:gridCol>
                <a:gridCol w="1100000">
                  <a:extLst>
                    <a:ext uri="{9D8B030D-6E8A-4147-A177-3AD203B41FA5}">
                      <a16:colId xmlns:a16="http://schemas.microsoft.com/office/drawing/2014/main" val="576476744"/>
                    </a:ext>
                  </a:extLst>
                </a:gridCol>
                <a:gridCol w="3200000">
                  <a:extLst>
                    <a:ext uri="{9D8B030D-6E8A-4147-A177-3AD203B41FA5}">
                      <a16:colId xmlns:a16="http://schemas.microsoft.com/office/drawing/2014/main" val="3993756606"/>
                    </a:ext>
                  </a:extLst>
                </a:gridCol>
                <a:gridCol w="1882400">
                  <a:extLst>
                    <a:ext uri="{9D8B030D-6E8A-4147-A177-3AD203B41FA5}">
                      <a16:colId xmlns:a16="http://schemas.microsoft.com/office/drawing/2014/main" val="4151516255"/>
                    </a:ext>
                  </a:extLst>
                </a:gridCol>
              </a:tblGrid>
              <a:tr h="560000">
                <a:tc>
                  <a:txBody>
                    <a:bodyPr/>
                    <a:lstStyle/>
                    <a:p>
                      <a:pPr>
                        <a:buNone/>
                        <a:defRPr sz="1000"/>
                      </a:pPr>
                      <a:r>
                        <a:rPr lang="en-SG" b="1"/>
                        <a:t>Team Member</a:t>
                      </a:r>
                    </a:p>
                  </a:txBody>
                  <a:tcPr anchor="ctr"/>
                </a:tc>
                <a:tc>
                  <a:txBody>
                    <a:bodyPr/>
                    <a:lstStyle/>
                    <a:p>
                      <a:pPr>
                        <a:buNone/>
                        <a:defRPr sz="1000"/>
                      </a:pPr>
                      <a:r>
                        <a:rPr lang="en-SG" b="1"/>
                        <a:t>Main Areas Worked On</a:t>
                      </a:r>
                    </a:p>
                  </a:txBody>
                  <a:tcPr anchor="ctr"/>
                </a:tc>
                <a:tc>
                  <a:txBody>
                    <a:bodyPr/>
                    <a:lstStyle/>
                    <a:p>
                      <a:pPr>
                        <a:buNone/>
                        <a:defRPr sz="1000"/>
                      </a:pPr>
                      <a:r>
                        <a:rPr lang="en-SG" b="1"/>
                        <a:t>Contribution (share of commits)</a:t>
                      </a:r>
                    </a:p>
                  </a:txBody>
                  <a:tcPr anchor="ctr"/>
                </a:tc>
                <a:tc>
                  <a:txBody>
                    <a:bodyPr/>
                    <a:lstStyle/>
                    <a:p>
                      <a:pPr>
                        <a:buNone/>
                        <a:defRPr sz="1000"/>
                      </a:pPr>
                      <a:r>
                        <a:rPr lang="en-SG" b="1"/>
                        <a:t>Code/PR Examples</a:t>
                      </a:r>
                    </a:p>
                  </a:txBody>
                  <a:tcPr anchor="ctr"/>
                </a:tc>
                <a:tc>
                  <a:txBody>
                    <a:bodyPr/>
                    <a:lstStyle/>
                    <a:p>
                      <a:pPr>
                        <a:buNone/>
                        <a:defRPr sz="1000"/>
                      </a:pPr>
                      <a:r>
                        <a:rPr lang="en-SG" b="1"/>
                        <a:t>Other Contributions</a:t>
                      </a:r>
                    </a:p>
                  </a:txBody>
                  <a:tcPr anchor="ctr"/>
                </a:tc>
                <a:extLst>
                  <a:ext uri="{0D108BD9-81ED-4DB2-BD59-A6C34878D82A}">
                    <a16:rowId xmlns:a16="http://schemas.microsoft.com/office/drawing/2014/main" val="2577844508"/>
                  </a:ext>
                </a:extLst>
              </a:tr>
              <a:tr h="480000">
                <a:tc>
                  <a:txBody>
                    <a:bodyPr/>
                    <a:lstStyle/>
                    <a:p>
                      <a:pPr>
                        <a:defRPr sz="800"/>
                      </a:pPr>
                      <a:r>
                        <a:rPr lang="en-SG"/>
                        <a:t>Bryan Seah (bryanseah234)</a:t>
                      </a:r>
                    </a:p>
                  </a:txBody>
                  <a:tcPr anchor="ctr"/>
                </a:tc>
                <a:tc>
                  <a:txBody>
                    <a:bodyPr/>
                    <a:lstStyle/>
                    <a:p>
                      <a:pPr>
                        <a:defRPr sz="800"/>
                      </a:pPr>
                      <a:r>
                        <a:rPr lang="en-SG"/>
                        <a:t>CI/CD and tooling, Git strategy, PostPlan, architecture, cross-cutting fixes</a:t>
                      </a:r>
                    </a:p>
                  </a:txBody>
                  <a:tcPr anchor="ctr"/>
                </a:tc>
                <a:tc>
                  <a:txBody>
                    <a:bodyPr/>
                    <a:lstStyle/>
                    <a:p>
                      <a:pPr>
                        <a:defRPr sz="800"/>
                      </a:pPr>
                      <a:r>
                        <a:rPr lang="en-SG"/>
                        <a:t>49%</a:t>
                      </a:r>
                    </a:p>
                  </a:txBody>
                  <a:tcPr anchor="ctr"/>
                </a:tc>
                <a:tc>
                  <a:txBody>
                    <a:bodyPr/>
                    <a:lstStyle/>
                    <a:p>
                      <a:pPr>
                        <a:defRPr sz="800"/>
                      </a:pPr>
                      <a:r>
                        <a:rPr lang="en-SG"/>
                        <a:t>PR #96, #108, #205, #370, #371, #373</a:t>
                      </a:r>
                    </a:p>
                  </a:txBody>
                  <a:tcPr anchor="ctr"/>
                </a:tc>
                <a:tc>
                  <a:txBody>
                    <a:bodyPr/>
                    <a:lstStyle/>
                    <a:p>
                      <a:pPr>
                        <a:defRPr sz="800"/>
                      </a:pPr>
                      <a:r>
                        <a:rPr lang="en-SG"/>
                        <a:t>PostPlan dashboards, Jira reconciliation, .env generator</a:t>
                      </a:r>
                    </a:p>
                  </a:txBody>
                  <a:tcPr anchor="ctr"/>
                </a:tc>
                <a:extLst>
                  <a:ext uri="{0D108BD9-81ED-4DB2-BD59-A6C34878D82A}">
                    <a16:rowId xmlns:a16="http://schemas.microsoft.com/office/drawing/2014/main" val="10001"/>
                  </a:ext>
                </a:extLst>
              </a:tr>
              <a:tr h="480000">
                <a:tc>
                  <a:txBody>
                    <a:bodyPr/>
                    <a:lstStyle/>
                    <a:p>
                      <a:pPr>
                        <a:defRPr sz="800"/>
                      </a:pPr>
                      <a:r>
                        <a:rPr lang="en-SG"/>
                        <a:t>Ji Ning (jininggg)</a:t>
                      </a:r>
                    </a:p>
                  </a:txBody>
                  <a:tcPr anchor="ctr"/>
                </a:tc>
                <a:tc>
                  <a:txBody>
                    <a:bodyPr/>
                    <a:lstStyle/>
                    <a:p>
                      <a:pPr>
                        <a:defRPr sz="800"/>
                      </a:pPr>
                      <a:r>
                        <a:rPr lang="en-SG"/>
                        <a:t>Venue management, booking workflows, near-match search results, lost-venue recovery</a:t>
                      </a:r>
                    </a:p>
                  </a:txBody>
                  <a:tcPr anchor="ctr"/>
                </a:tc>
                <a:tc>
                  <a:txBody>
                    <a:bodyPr/>
                    <a:lstStyle/>
                    <a:p>
                      <a:pPr>
                        <a:defRPr sz="800"/>
                      </a:pPr>
                      <a:r>
                        <a:rPr lang="en-SG"/>
                        <a:t>7%</a:t>
                      </a:r>
                    </a:p>
                  </a:txBody>
                  <a:tcPr anchor="ctr"/>
                </a:tc>
                <a:tc>
                  <a:txBody>
                    <a:bodyPr/>
                    <a:lstStyle/>
                    <a:p>
                      <a:pPr>
                        <a:defRPr sz="800"/>
                      </a:pPr>
                      <a:r>
                        <a:rPr lang="en-SG"/>
                        <a:t>PR #143, #242, #299, #300, #367</a:t>
                      </a:r>
                    </a:p>
                  </a:txBody>
                  <a:tcPr anchor="ctr"/>
                </a:tc>
                <a:tc>
                  <a:txBody>
                    <a:bodyPr/>
                    <a:lstStyle/>
                    <a:p>
                      <a:pPr>
                        <a:defRPr sz="800"/>
                      </a:pPr>
                      <a:r>
                        <a:rPr lang="en-SG"/>
                        <a:t>Near-match venue decision T-63, manual run records</a:t>
                      </a:r>
                    </a:p>
                  </a:txBody>
                  <a:tcPr anchor="ctr"/>
                </a:tc>
                <a:extLst>
                  <a:ext uri="{0D108BD9-81ED-4DB2-BD59-A6C34878D82A}">
                    <a16:rowId xmlns:a16="http://schemas.microsoft.com/office/drawing/2014/main" val="10002"/>
                  </a:ext>
                </a:extLst>
              </a:tr>
              <a:tr h="480000">
                <a:tc>
                  <a:txBody>
                    <a:bodyPr/>
                    <a:lstStyle/>
                    <a:p>
                      <a:pPr>
                        <a:defRPr sz="800"/>
                      </a:pPr>
                      <a:r>
                        <a:rPr lang="en-SG"/>
                        <a:t>Aaron Koh (aaronkwk / Bl0oper)</a:t>
                      </a:r>
                    </a:p>
                  </a:txBody>
                  <a:tcPr anchor="ctr"/>
                </a:tc>
                <a:tc>
                  <a:txBody>
                    <a:bodyPr/>
                    <a:lstStyle/>
                    <a:p>
                      <a:pPr>
                        <a:defRPr sz="800"/>
                      </a:pPr>
                      <a:r>
                        <a:rPr lang="en-SG"/>
                        <a:t>Event request approval and rejection, equipment reservation and unavailability, safety review submission, venue buffer form, registration withdrawal</a:t>
                      </a:r>
                    </a:p>
                  </a:txBody>
                  <a:tcPr anchor="ctr"/>
                </a:tc>
                <a:tc>
                  <a:txBody>
                    <a:bodyPr/>
                    <a:lstStyle/>
                    <a:p>
                      <a:pPr>
                        <a:defRPr sz="800"/>
                      </a:pPr>
                      <a:r>
                        <a:rPr lang="en-SG"/>
                        <a:t>10%</a:t>
                      </a:r>
                    </a:p>
                  </a:txBody>
                  <a:tcPr anchor="ctr"/>
                </a:tc>
                <a:tc>
                  <a:txBody>
                    <a:bodyPr/>
                    <a:lstStyle/>
                    <a:p>
                      <a:pPr>
                        <a:defRPr sz="800"/>
                      </a:pPr>
                      <a:r>
                        <a:rPr lang="en-SG"/>
                        <a:t>PR #174, #236, #283, #328, #361</a:t>
                      </a:r>
                    </a:p>
                  </a:txBody>
                  <a:tcPr anchor="ctr"/>
                </a:tc>
                <a:tc>
                  <a:txBody>
                    <a:bodyPr/>
                    <a:lstStyle/>
                    <a:p>
                      <a:pPr>
                        <a:defRPr sz="800"/>
                      </a:pPr>
                      <a:r>
                        <a:rPr lang="en-SG"/>
                        <a:t>Backend request and safety-review workflows, their manual evidence</a:t>
                      </a:r>
                    </a:p>
                  </a:txBody>
                  <a:tcPr anchor="ctr"/>
                </a:tc>
                <a:extLst>
                  <a:ext uri="{0D108BD9-81ED-4DB2-BD59-A6C34878D82A}">
                    <a16:rowId xmlns:a16="http://schemas.microsoft.com/office/drawing/2014/main" val="10003"/>
                  </a:ext>
                </a:extLst>
              </a:tr>
              <a:tr h="480000">
                <a:tc>
                  <a:txBody>
                    <a:bodyPr/>
                    <a:lstStyle/>
                    <a:p>
                      <a:pPr>
                        <a:defRPr sz="800"/>
                      </a:pPr>
                      <a:r>
                        <a:rPr lang="en-SG"/>
                        <a:t>Lexin Phun (lexinphun2024)</a:t>
                      </a:r>
                    </a:p>
                  </a:txBody>
                  <a:tcPr anchor="ctr"/>
                </a:tc>
                <a:tc>
                  <a:txBody>
                    <a:bodyPr/>
                    <a:lstStyle/>
                    <a:p>
                      <a:pPr>
                        <a:defRPr sz="800"/>
                      </a:pPr>
                      <a:r>
                        <a:rPr lang="en-SG"/>
                        <a:t>Venue catalogue, calendar and maintenance blocks, activity log, booking decisions, venue unavailability</a:t>
                      </a:r>
                    </a:p>
                  </a:txBody>
                  <a:tcPr anchor="ctr"/>
                </a:tc>
                <a:tc>
                  <a:txBody>
                    <a:bodyPr/>
                    <a:lstStyle/>
                    <a:p>
                      <a:pPr>
                        <a:defRPr sz="800"/>
                      </a:pPr>
                      <a:r>
                        <a:rPr lang="en-SG"/>
                        <a:t>9%</a:t>
                      </a:r>
                    </a:p>
                  </a:txBody>
                  <a:tcPr anchor="ctr"/>
                </a:tc>
                <a:tc>
                  <a:txBody>
                    <a:bodyPr/>
                    <a:lstStyle/>
                    <a:p>
                      <a:pPr>
                        <a:defRPr sz="800"/>
                      </a:pPr>
                      <a:r>
                        <a:rPr lang="en-SG"/>
                        <a:t>PR #88, #134, #151, #190, #298, #348, #349</a:t>
                      </a:r>
                    </a:p>
                  </a:txBody>
                  <a:tcPr anchor="ctr"/>
                </a:tc>
                <a:tc>
                  <a:txBody>
                    <a:bodyPr/>
                    <a:lstStyle/>
                    <a:p>
                      <a:pPr>
                        <a:defRPr sz="800"/>
                      </a:pPr>
                      <a:r>
                        <a:rPr lang="en-SG"/>
                        <a:t>Migration 0025 (venue unavailability), manual run records</a:t>
                      </a:r>
                    </a:p>
                  </a:txBody>
                  <a:tcPr anchor="ctr"/>
                </a:tc>
                <a:extLst>
                  <a:ext uri="{0D108BD9-81ED-4DB2-BD59-A6C34878D82A}">
                    <a16:rowId xmlns:a16="http://schemas.microsoft.com/office/drawing/2014/main" val="10004"/>
                  </a:ext>
                </a:extLst>
              </a:tr>
              <a:tr h="480000">
                <a:tc>
                  <a:txBody>
                    <a:bodyPr/>
                    <a:lstStyle/>
                    <a:p>
                      <a:pPr>
                        <a:defRPr sz="800"/>
                      </a:pPr>
                      <a:r>
                        <a:rPr lang="en-SG"/>
                        <a:t>Xiang Ying (xiangyingg)</a:t>
                      </a:r>
                    </a:p>
                  </a:txBody>
                  <a:tcPr anchor="ctr"/>
                </a:tc>
                <a:tc>
                  <a:txBody>
                    <a:bodyPr/>
                    <a:lstStyle/>
                    <a:p>
                      <a:pPr>
                        <a:defRPr sz="800"/>
                      </a:pPr>
                      <a:r>
                        <a:rPr lang="en-SG"/>
                        <a:t>Event status history, comments and updates, equipment catalogue and availability, event cancellation, automatic completion, attendance</a:t>
                      </a:r>
                    </a:p>
                  </a:txBody>
                  <a:tcPr anchor="ctr"/>
                </a:tc>
                <a:tc>
                  <a:txBody>
                    <a:bodyPr/>
                    <a:lstStyle/>
                    <a:p>
                      <a:pPr>
                        <a:defRPr sz="800"/>
                      </a:pPr>
                      <a:r>
                        <a:rPr lang="en-SG"/>
                        <a:t>8%</a:t>
                      </a:r>
                    </a:p>
                  </a:txBody>
                  <a:tcPr anchor="ctr"/>
                </a:tc>
                <a:tc>
                  <a:txBody>
                    <a:bodyPr/>
                    <a:lstStyle/>
                    <a:p>
                      <a:pPr>
                        <a:defRPr sz="800"/>
                      </a:pPr>
                      <a:r>
                        <a:rPr lang="en-SG"/>
                        <a:t>PR #214, #216, #229, #320, #324, #343, #363, #365</a:t>
                      </a:r>
                    </a:p>
                  </a:txBody>
                  <a:tcPr anchor="ctr"/>
                </a:tc>
                <a:tc>
                  <a:txBody>
                    <a:bodyPr/>
                    <a:lstStyle/>
                    <a:p>
                      <a:pPr>
                        <a:defRPr sz="800"/>
                      </a:pPr>
                      <a:r>
                        <a:rPr lang="en-SG"/>
                        <a:t>Manual screenshot records for E07-S01..S03, E10-S04, E08-S05</a:t>
                      </a:r>
                    </a:p>
                  </a:txBody>
                  <a:tcPr anchor="ctr"/>
                </a:tc>
                <a:extLst>
                  <a:ext uri="{0D108BD9-81ED-4DB2-BD59-A6C34878D82A}">
                    <a16:rowId xmlns:a16="http://schemas.microsoft.com/office/drawing/2014/main" val="10005"/>
                  </a:ext>
                </a:extLst>
              </a:tr>
              <a:tr h="480000">
                <a:tc>
                  <a:txBody>
                    <a:bodyPr/>
                    <a:lstStyle/>
                    <a:p>
                      <a:pPr>
                        <a:defRPr sz="800"/>
                      </a:pPr>
                      <a:r>
                        <a:rPr lang="en-SG"/>
                        <a:t>Amareet (amareetkm2024-del)</a:t>
                      </a:r>
                    </a:p>
                  </a:txBody>
                  <a:tcPr anchor="ctr"/>
                </a:tc>
                <a:tc>
                  <a:txBody>
                    <a:bodyPr/>
                    <a:lstStyle/>
                    <a:p>
                      <a:pPr>
                        <a:defRPr sz="800"/>
                      </a:pPr>
                      <a:r>
                        <a:rPr lang="en-SG"/>
                        <a:t>Frontend skeleton and shared shell (route table, page templates, shared building blocks, design tokens); technical support requests and technician staffing (E07-S06, E07-S07); tentative venue holds (E06-S05); attendee registration, capacity, registration period and registration list (E09-S01, S02, S03, S07), including migrations 0023–0024</a:t>
                      </a:r>
                    </a:p>
                  </a:txBody>
                  <a:tcPr anchor="ctr"/>
                </a:tc>
                <a:tc>
                  <a:txBody>
                    <a:bodyPr/>
                    <a:lstStyle/>
                    <a:p>
                      <a:pPr>
                        <a:defRPr sz="800"/>
                      </a:pPr>
                      <a:r>
                        <a:rPr lang="en-SG"/>
                        <a:t>17%</a:t>
                      </a:r>
                    </a:p>
                  </a:txBody>
                  <a:tcPr anchor="ctr"/>
                </a:tc>
                <a:tc>
                  <a:txBody>
                    <a:bodyPr/>
                    <a:lstStyle/>
                    <a:p>
                      <a:pPr>
                        <a:defRPr sz="800"/>
                      </a:pPr>
                      <a:r>
                        <a:rPr lang="en-SG"/>
                        <a:t>PR #171, #172, #173, #245, #252, #326, #327, #353, #366, #368</a:t>
                      </a:r>
                    </a:p>
                  </a:txBody>
                  <a:tcPr anchor="ctr"/>
                </a:tc>
                <a:tc>
                  <a:txBody>
                    <a:bodyPr/>
                    <a:lstStyle/>
                    <a:p>
                      <a:pPr>
                        <a:defRPr sz="800"/>
                      </a:pPr>
                      <a:r>
                        <a:rPr lang="en-SG"/>
                        <a:t>Scrum Master: daily standups and sprint ceremonies, Jira board upkeep; reviewed 100+ teammates' merged PRs; aligned the Definition of Done with the Week 7 guidance (#215); re-estimation PRs (#213, #323); E06-S05, E07-S06/S07 and E09 manual run records with screenshots</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25245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6605B-4DBE-194E-33BC-9053DA302A4A}"/>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8B08CC57-8B55-6D81-5798-9356D8FB6A9A}"/>
              </a:ext>
            </a:extLst>
          </p:cNvPr>
          <p:cNvSpPr txBox="1">
            <a:spLocks noChangeArrowheads="1"/>
          </p:cNvSpPr>
          <p:nvPr/>
        </p:nvSpPr>
        <p:spPr>
          <a:xfrm>
            <a:off x="5191159" y="383388"/>
            <a:ext cx="7772400" cy="532968"/>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sz="3200" b="1">
                <a:solidFill>
                  <a:schemeClr val="bg1"/>
                </a:solidFill>
              </a:rPr>
              <a:t>Anything Else?</a:t>
            </a:r>
          </a:p>
        </p:txBody>
      </p:sp>
      <p:sp>
        <p:nvSpPr>
          <p:cNvPr id="4" name="TextBox 3">
            <a:extLst>
              <a:ext uri="{FF2B5EF4-FFF2-40B4-BE49-F238E27FC236}">
                <a16:creationId xmlns:a16="http://schemas.microsoft.com/office/drawing/2014/main" id="{6313351F-AF89-CE0A-C10A-68A536A990F8}"/>
              </a:ext>
            </a:extLst>
          </p:cNvPr>
          <p:cNvSpPr txBox="1"/>
          <p:nvPr/>
        </p:nvSpPr>
        <p:spPr>
          <a:xfrm>
            <a:off x="205647" y="1514031"/>
            <a:ext cx="11582402" cy="369332"/>
          </a:xfrm>
          <a:prstGeom prst="rect">
            <a:avLst/>
          </a:prstGeom>
          <a:noFill/>
        </p:spPr>
        <p:txBody>
          <a:bodyPr wrap="square">
            <a:spAutoFit/>
          </a:bodyPr>
          <a:lstStyle/>
          <a:p>
            <a:pPr marL="285750" indent="-285750">
              <a:buFont typeface="Arial" panose="020B0604020202020204" pitchFamily="34" charset="0"/>
              <a:buChar char="•"/>
            </a:pPr>
            <a:r>
              <a:rPr lang="en-SG"/>
              <a:t>Anything else you would like us to know about your project, process, or otherwise? (It’s OK to put “N/A” here.)</a:t>
            </a:r>
          </a:p>
        </p:txBody>
      </p:sp>
      <p:sp>
        <p:nvSpPr>
          <p:cNvPr id="3" name="TextBox 2">
            <a:extLst>
              <a:ext uri="{FF2B5EF4-FFF2-40B4-BE49-F238E27FC236}">
                <a16:creationId xmlns:a16="http://schemas.microsoft.com/office/drawing/2014/main" id="{D1FA7233-CCEA-9AC1-8886-A623D9DAA8CA}"/>
              </a:ext>
            </a:extLst>
          </p:cNvPr>
          <p:cNvSpPr txBox="1"/>
          <p:nvPr/>
        </p:nvSpPr>
        <p:spPr>
          <a:xfrm>
            <a:off x="205646" y="1959563"/>
            <a:ext cx="11582403" cy="1200329"/>
          </a:xfrm>
          <a:prstGeom prst="rect">
            <a:avLst/>
          </a:prstGeom>
          <a:solidFill>
            <a:schemeClr val="accent1">
              <a:lumMod val="40000"/>
              <a:lumOff val="60000"/>
            </a:schemeClr>
          </a:solidFill>
        </p:spPr>
        <p:txBody>
          <a:bodyPr wrap="square" rtlCol="0">
            <a:noAutofit/>
          </a:bodyPr>
          <a:lstStyle/>
          <a:p>
            <a:pPr>
              <a:defRPr sz="1200"/>
            </a:pPr>
            <a:r>
              <a:rPr sz="1200"/>
              <a:t>• Public Interactive PostPlan Dashboard: Live Sprint 1–4 burndown, velocity and scope tracking is published at https://5p9t29p9jotq.postplan.dev (Draft ID: 5p9t29p9jotq).</a:t>
            </a:r>
          </a:p>
          <a:p>
            <a:r>
              <a:rPr sz="1200"/>
              <a:t>• Definition of Done (T-65/T-93): Done stories are never reopened and every accepted story carries a recorded manual run (739 in docs/testing/runs/). Changed code is unit-tested to the 100% rule in review; open follow-ups are tracked, not hidden.</a:t>
            </a:r>
          </a:p>
          <a:p>
            <a:r>
              <a:rPr sz="1200"/>
              <a:t>• Velocity: 24 pts (S1), 40 pts (S2) and 34 pts (S3) of accepted product stories, 32.7 pts per closed sprint, and 35 pts Done in S4 as of 29 Oct 2026 (PostPlan dashboard above).</a:t>
            </a:r>
          </a:p>
        </p:txBody>
      </p:sp>
    </p:spTree>
    <p:extLst>
      <p:ext uri="{BB962C8B-B14F-4D97-AF65-F5344CB8AC3E}">
        <p14:creationId xmlns:p14="http://schemas.microsoft.com/office/powerpoint/2010/main" val="2194179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115A7-5F7B-7945-BCFB-349D8B337F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63DD74E-E046-BF6D-CFE2-624693B19FE6}"/>
              </a:ext>
            </a:extLst>
          </p:cNvPr>
          <p:cNvSpPr txBox="1">
            <a:spLocks noChangeArrowheads="1"/>
          </p:cNvSpPr>
          <p:nvPr/>
        </p:nvSpPr>
        <p:spPr>
          <a:xfrm>
            <a:off x="3350446" y="3242176"/>
            <a:ext cx="7772400" cy="1696364"/>
          </a:xfrm>
          <a:prstGeom prst="rect">
            <a:avLst/>
          </a:prstGeom>
        </p:spPr>
        <p:txBody>
          <a:bodyPr vert="horz" wrap="square" lIns="90488" tIns="44451" rIns="90488" bIns="44451" numCol="1" rtlCol="0" anchor="ctr" anchorCtr="0" compatLnSpc="1">
            <a:prstTxWarp prst="textNoShape">
              <a:avLst/>
            </a:prstTxWarp>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ltLang="en-US" b="1">
                <a:solidFill>
                  <a:schemeClr val="accent4">
                    <a:lumMod val="75000"/>
                  </a:schemeClr>
                </a:solidFill>
                <a:cs typeface="Arial"/>
              </a:rPr>
              <a:t>End of Submission</a:t>
            </a:r>
            <a:endParaRPr lang="en-US" altLang="en-US" b="1">
              <a:solidFill>
                <a:schemeClr val="accent4">
                  <a:lumMod val="75000"/>
                </a:schemeClr>
              </a:solidFill>
            </a:endParaRPr>
          </a:p>
          <a:p>
            <a:pPr>
              <a:defRPr/>
            </a:pPr>
            <a:endParaRPr lang="en-US" altLang="en-US" b="1">
              <a:solidFill>
                <a:schemeClr val="accent4">
                  <a:lumMod val="75000"/>
                </a:schemeClr>
              </a:solidFill>
            </a:endParaRPr>
          </a:p>
          <a:p>
            <a:pPr>
              <a:defRPr/>
            </a:pPr>
            <a:r>
              <a:rPr lang="en-US" altLang="en-US" sz="2400" b="1">
                <a:solidFill>
                  <a:schemeClr val="accent4">
                    <a:lumMod val="75000"/>
                  </a:schemeClr>
                </a:solidFill>
              </a:rPr>
              <a:t>No further slides beyond this point.</a:t>
            </a:r>
            <a:endParaRPr lang="en-US" sz="2400">
              <a:solidFill>
                <a:schemeClr val="accent4">
                  <a:lumMod val="75000"/>
                </a:schemeClr>
              </a:solidFill>
              <a:cs typeface="Arial"/>
            </a:endParaRPr>
          </a:p>
        </p:txBody>
      </p:sp>
    </p:spTree>
    <p:extLst>
      <p:ext uri="{BB962C8B-B14F-4D97-AF65-F5344CB8AC3E}">
        <p14:creationId xmlns:p14="http://schemas.microsoft.com/office/powerpoint/2010/main" val="2509515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23" ma:contentTypeDescription="Create a new document." ma:contentTypeScope="" ma:versionID="97ba3a6a0b227a1012b29520f700b4dc">
  <xsd:schema xmlns:xsd="http://www.w3.org/2001/XMLSchema" xmlns:xs="http://www.w3.org/2001/XMLSchema" xmlns:p="http://schemas.microsoft.com/office/2006/metadata/properties" xmlns:ns1="http://schemas.microsoft.com/sharepoint/v3" xmlns:ns2="1b6a39ee-1380-4096-9882-8248104ba7f7" xmlns:ns3="4604cec2-e769-4190-9d56-5d48f74b6442" targetNamespace="http://schemas.microsoft.com/office/2006/metadata/properties" ma:root="true" ma:fieldsID="22b11cefbfdf0abf8862b3c24cf41bb4" ns1:_="" ns2:_="" ns3:_="">
    <xsd:import namespace="http://schemas.microsoft.com/sharepoint/v3"/>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element ref="ns1:_ip_UnifiedCompliancePolicyProperties" minOccurs="0"/>
                <xsd:element ref="ns1:_ip_UnifiedCompliancePolicyUIAc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59D256-26B8-4B06-8428-E58DD814FD47}">
  <ds:schemaRefs>
    <ds:schemaRef ds:uri="1b6a39ee-1380-4096-9882-8248104ba7f7"/>
    <ds:schemaRef ds:uri="4604cec2-e769-4190-9d56-5d48f74b644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9BA482B-8E6A-4742-9540-4D6310874565}">
  <ds:schemaRefs>
    <ds:schemaRef ds:uri="http://schemas.microsoft.com/office/infopath/2007/PartnerControls"/>
    <ds:schemaRef ds:uri="http://www.w3.org/XML/1998/namespace"/>
    <ds:schemaRef ds:uri="http://schemas.microsoft.com/sharepoint/v3"/>
    <ds:schemaRef ds:uri="http://schemas.openxmlformats.org/package/2006/metadata/core-properties"/>
    <ds:schemaRef ds:uri="http://schemas.microsoft.com/office/2006/documentManagement/types"/>
    <ds:schemaRef ds:uri="1b6a39ee-1380-4096-9882-8248104ba7f7"/>
    <ds:schemaRef ds:uri="http://purl.org/dc/dcmitype/"/>
    <ds:schemaRef ds:uri="http://purl.org/dc/terms/"/>
    <ds:schemaRef ds:uri="4604cec2-e769-4190-9d56-5d48f74b6442"/>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8A3786A0-5047-42B7-BF02-BFA2F5340D8E}">
  <ds:schemaRefs>
    <ds:schemaRef ds:uri="http://schemas.microsoft.com/sharepoint/v3/contenttype/forms"/>
  </ds:schemaRefs>
</ds:datastoreItem>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0</TotalTime>
  <Words>4056</Words>
  <Application>Microsoft Office PowerPoint</Application>
  <PresentationFormat>Widescreen</PresentationFormat>
  <Paragraphs>220</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Elvin NG Pei Xiong</dc:creator>
  <cp:lastModifiedBy>Aaron KOH Wen Kai</cp:lastModifiedBy>
  <cp:revision>2</cp:revision>
  <cp:lastPrinted>2019-02-17T06:12:58Z</cp:lastPrinted>
  <dcterms:created xsi:type="dcterms:W3CDTF">2018-11-21T01:52:47Z</dcterms:created>
  <dcterms:modified xsi:type="dcterms:W3CDTF">2026-10-30T09:16:43Z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2024-01-10T15:46:52Z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b2a5d541-db84-4a2c-9bb8-f4a78a6fa8c8</vt:lpwstr>
  </property>
  <property fmtid="{D5CDD505-2E9C-101B-9397-08002B2CF9AE}" pid="9" name="MSIP_Label_6951d41b-6b8e-4636-984f-012bff14ba18_ContentBits">
    <vt:lpwstr>1</vt:lpwstr>
  </property>
  <property fmtid="{D5CDD505-2E9C-101B-9397-08002B2CF9AE}" pid="10" name="MediaServiceImageTags">
    <vt:lpwstr/>
  </property>
</Properties>
</file>