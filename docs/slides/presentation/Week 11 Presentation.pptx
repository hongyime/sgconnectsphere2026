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sldIdLst>
    <p:sldId id="257" r:id="rId5"/>
    <p:sldId id="283" r:id="rId6"/>
    <p:sldId id="258" r:id="rId7"/>
    <p:sldId id="266" r:id="rId8"/>
    <p:sldId id="267" r:id="rId9"/>
    <p:sldId id="269" r:id="rId10"/>
    <p:sldId id="270" r:id="rId11"/>
    <p:sldId id="282" r:id="rId12"/>
    <p:sldId id="281" r:id="rId13"/>
    <p:sldId id="271" r:id="rId14"/>
    <p:sldId id="272" r:id="rId15"/>
    <p:sldId id="274" r:id="rId16"/>
    <p:sldId id="273" r:id="rId17"/>
    <p:sldId id="275" r:id="rId18"/>
    <p:sldId id="276" r:id="rId19"/>
    <p:sldId id="285" r:id="rId20"/>
    <p:sldId id="284" r:id="rId21"/>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0A96DF0D-9FB4-E7B8-CB12-896773CA32FB}" name="LAU Yi Meng" initials="LM" userId="S::ymlau@smu.edu.sg::e79adfab-fcb3-4181-8bc0-9e7892d33c58" providerId="AD"/>
  <p188:author id="{3BE586B8-DE96-D439-EFF7-49CCE02CA80E}" name="Christopher Michael POSKITT" initials="CMP" userId="S::cposkitt@smu.edu.sg::4bd18c9c-05ca-44c7-aeca-cc78c750a47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AB7942"/>
    <a:srgbClr val="997D4E"/>
    <a:srgbClr val="102B72"/>
    <a:srgbClr val="7030A0"/>
    <a:srgbClr val="00B050"/>
    <a:srgbClr val="D5A10F"/>
    <a:srgbClr val="E5AB11"/>
    <a:srgbClr val="9E7A43"/>
    <a:srgbClr val="637F8E"/>
    <a:srgbClr val="607D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913291-89C0-85A1-C4CC-603639BB8B62}" v="99" dt="2026-10-25T17:06:21.253"/>
    <p1510:client id="{2C526B42-2572-7969-4B37-D57B9DE3D8C6}" v="3" dt="2026-10-26T08:34:45.444"/>
    <p1510:client id="{5B997F57-CE89-5D49-A47B-F8C5BA4E5442}" v="600" dt="2026-10-26T09:00:07.8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58"/>
    <p:restoredTop sz="94658"/>
  </p:normalViewPr>
  <p:slideViewPr>
    <p:cSldViewPr snapToGrid="0">
      <p:cViewPr varScale="1">
        <p:scale>
          <a:sx n="96" d="100"/>
          <a:sy n="96" d="100"/>
        </p:scale>
        <p:origin x="200" y="6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Michael POSKITT" userId="4bd18c9c-05ca-44c7-aeca-cc78c750a47e" providerId="ADAL" clId="{7B141A95-E539-59F1-A1E4-CD0859CEB3EE}"/>
    <pc:docChg chg="undo custSel addSld modSld">
      <pc:chgData name="Christopher Michael POSKITT" userId="4bd18c9c-05ca-44c7-aeca-cc78c750a47e" providerId="ADAL" clId="{7B141A95-E539-59F1-A1E4-CD0859CEB3EE}" dt="2026-10-26T09:00:08.084" v="1509" actId="20577"/>
      <pc:docMkLst>
        <pc:docMk/>
      </pc:docMkLst>
      <pc:sldChg chg="modSp mod">
        <pc:chgData name="Christopher Michael POSKITT" userId="4bd18c9c-05ca-44c7-aeca-cc78c750a47e" providerId="ADAL" clId="{7B141A95-E539-59F1-A1E4-CD0859CEB3EE}" dt="2026-10-26T08:35:42.890" v="399" actId="20577"/>
        <pc:sldMkLst>
          <pc:docMk/>
          <pc:sldMk cId="62309270" sldId="258"/>
        </pc:sldMkLst>
        <pc:spChg chg="mod">
          <ac:chgData name="Christopher Michael POSKITT" userId="4bd18c9c-05ca-44c7-aeca-cc78c750a47e" providerId="ADAL" clId="{7B141A95-E539-59F1-A1E4-CD0859CEB3EE}" dt="2026-10-26T08:35:42.890" v="399" actId="20577"/>
          <ac:spMkLst>
            <pc:docMk/>
            <pc:sldMk cId="62309270" sldId="258"/>
            <ac:spMk id="3" creationId="{E7DA8B45-FD63-2AF7-E6C3-CA68DA63B13A}"/>
          </ac:spMkLst>
        </pc:spChg>
      </pc:sldChg>
      <pc:sldChg chg="modSp mod">
        <pc:chgData name="Christopher Michael POSKITT" userId="4bd18c9c-05ca-44c7-aeca-cc78c750a47e" providerId="ADAL" clId="{7B141A95-E539-59F1-A1E4-CD0859CEB3EE}" dt="2026-10-26T08:34:25.709" v="265" actId="20577"/>
        <pc:sldMkLst>
          <pc:docMk/>
          <pc:sldMk cId="1394506334" sldId="266"/>
        </pc:sldMkLst>
        <pc:spChg chg="mod">
          <ac:chgData name="Christopher Michael POSKITT" userId="4bd18c9c-05ca-44c7-aeca-cc78c750a47e" providerId="ADAL" clId="{7B141A95-E539-59F1-A1E4-CD0859CEB3EE}" dt="2026-10-26T08:34:25.709" v="265" actId="20577"/>
          <ac:spMkLst>
            <pc:docMk/>
            <pc:sldMk cId="1394506334" sldId="266"/>
            <ac:spMk id="3" creationId="{559B88C5-EAD0-C571-42F7-8A17AE7DAE54}"/>
          </ac:spMkLst>
        </pc:spChg>
        <pc:spChg chg="mod">
          <ac:chgData name="Christopher Michael POSKITT" userId="4bd18c9c-05ca-44c7-aeca-cc78c750a47e" providerId="ADAL" clId="{7B141A95-E539-59F1-A1E4-CD0859CEB3EE}" dt="2026-10-26T08:33:52.082" v="263" actId="20577"/>
          <ac:spMkLst>
            <pc:docMk/>
            <pc:sldMk cId="1394506334" sldId="266"/>
            <ac:spMk id="10" creationId="{F394F906-2072-545D-27BE-D172B0E4394F}"/>
          </ac:spMkLst>
        </pc:spChg>
      </pc:sldChg>
      <pc:sldChg chg="modSp mod">
        <pc:chgData name="Christopher Michael POSKITT" userId="4bd18c9c-05ca-44c7-aeca-cc78c750a47e" providerId="ADAL" clId="{7B141A95-E539-59F1-A1E4-CD0859CEB3EE}" dt="2026-10-26T08:35:03.639" v="273" actId="20577"/>
        <pc:sldMkLst>
          <pc:docMk/>
          <pc:sldMk cId="1949106433" sldId="267"/>
        </pc:sldMkLst>
        <pc:spChg chg="mod">
          <ac:chgData name="Christopher Michael POSKITT" userId="4bd18c9c-05ca-44c7-aeca-cc78c750a47e" providerId="ADAL" clId="{7B141A95-E539-59F1-A1E4-CD0859CEB3EE}" dt="2026-10-26T08:35:03.639" v="273" actId="20577"/>
          <ac:spMkLst>
            <pc:docMk/>
            <pc:sldMk cId="1949106433" sldId="267"/>
            <ac:spMk id="10" creationId="{723157CC-C155-A981-CD6B-F603456109E5}"/>
          </ac:spMkLst>
        </pc:spChg>
      </pc:sldChg>
      <pc:sldChg chg="modSp mod">
        <pc:chgData name="Christopher Michael POSKITT" userId="4bd18c9c-05ca-44c7-aeca-cc78c750a47e" providerId="ADAL" clId="{7B141A95-E539-59F1-A1E4-CD0859CEB3EE}" dt="2026-10-26T08:37:51.719" v="411" actId="20577"/>
        <pc:sldMkLst>
          <pc:docMk/>
          <pc:sldMk cId="2708235050" sldId="269"/>
        </pc:sldMkLst>
        <pc:spChg chg="mod">
          <ac:chgData name="Christopher Michael POSKITT" userId="4bd18c9c-05ca-44c7-aeca-cc78c750a47e" providerId="ADAL" clId="{7B141A95-E539-59F1-A1E4-CD0859CEB3EE}" dt="2026-10-26T08:37:51.719" v="411" actId="20577"/>
          <ac:spMkLst>
            <pc:docMk/>
            <pc:sldMk cId="2708235050" sldId="269"/>
            <ac:spMk id="12" creationId="{EC0C83F2-486B-943F-791A-A1D8ED803B42}"/>
          </ac:spMkLst>
        </pc:spChg>
      </pc:sldChg>
      <pc:sldChg chg="modSp mod">
        <pc:chgData name="Christopher Michael POSKITT" userId="4bd18c9c-05ca-44c7-aeca-cc78c750a47e" providerId="ADAL" clId="{7B141A95-E539-59F1-A1E4-CD0859CEB3EE}" dt="2026-10-26T08:38:47.352" v="427" actId="20577"/>
        <pc:sldMkLst>
          <pc:docMk/>
          <pc:sldMk cId="1262598354" sldId="270"/>
        </pc:sldMkLst>
        <pc:spChg chg="mod">
          <ac:chgData name="Christopher Michael POSKITT" userId="4bd18c9c-05ca-44c7-aeca-cc78c750a47e" providerId="ADAL" clId="{7B141A95-E539-59F1-A1E4-CD0859CEB3EE}" dt="2026-10-26T08:38:24.073" v="417" actId="20577"/>
          <ac:spMkLst>
            <pc:docMk/>
            <pc:sldMk cId="1262598354" sldId="270"/>
            <ac:spMk id="4" creationId="{A0AA96AF-D918-44A0-6441-E67838EA7511}"/>
          </ac:spMkLst>
        </pc:spChg>
        <pc:spChg chg="mod">
          <ac:chgData name="Christopher Michael POSKITT" userId="4bd18c9c-05ca-44c7-aeca-cc78c750a47e" providerId="ADAL" clId="{7B141A95-E539-59F1-A1E4-CD0859CEB3EE}" dt="2026-10-26T08:38:38.802" v="422" actId="20577"/>
          <ac:spMkLst>
            <pc:docMk/>
            <pc:sldMk cId="1262598354" sldId="270"/>
            <ac:spMk id="6" creationId="{9BE95E68-C7E0-C4A8-BBB2-0B57BCA9F82E}"/>
          </ac:spMkLst>
        </pc:spChg>
        <pc:spChg chg="mod">
          <ac:chgData name="Christopher Michael POSKITT" userId="4bd18c9c-05ca-44c7-aeca-cc78c750a47e" providerId="ADAL" clId="{7B141A95-E539-59F1-A1E4-CD0859CEB3EE}" dt="2026-10-26T08:38:47.352" v="427" actId="20577"/>
          <ac:spMkLst>
            <pc:docMk/>
            <pc:sldMk cId="1262598354" sldId="270"/>
            <ac:spMk id="9" creationId="{69D81FF1-1C49-9CFC-94A6-52E09B3D2BE9}"/>
          </ac:spMkLst>
        </pc:spChg>
        <pc:spChg chg="mod">
          <ac:chgData name="Christopher Michael POSKITT" userId="4bd18c9c-05ca-44c7-aeca-cc78c750a47e" providerId="ADAL" clId="{7B141A95-E539-59F1-A1E4-CD0859CEB3EE}" dt="2026-10-26T08:37:48.712" v="407" actId="20577"/>
          <ac:spMkLst>
            <pc:docMk/>
            <pc:sldMk cId="1262598354" sldId="270"/>
            <ac:spMk id="12" creationId="{621406ED-C52B-6F63-2D8A-D1C9B90F7B4C}"/>
          </ac:spMkLst>
        </pc:spChg>
        <pc:spChg chg="mod">
          <ac:chgData name="Christopher Michael POSKITT" userId="4bd18c9c-05ca-44c7-aeca-cc78c750a47e" providerId="ADAL" clId="{7B141A95-E539-59F1-A1E4-CD0859CEB3EE}" dt="2026-10-25T16:25:36.416" v="3" actId="13926"/>
          <ac:spMkLst>
            <pc:docMk/>
            <pc:sldMk cId="1262598354" sldId="270"/>
            <ac:spMk id="14" creationId="{0F9E59B9-8873-DAA9-DB90-DB306448F409}"/>
          </ac:spMkLst>
        </pc:spChg>
      </pc:sldChg>
      <pc:sldChg chg="modSp mod">
        <pc:chgData name="Christopher Michael POSKITT" userId="4bd18c9c-05ca-44c7-aeca-cc78c750a47e" providerId="ADAL" clId="{7B141A95-E539-59F1-A1E4-CD0859CEB3EE}" dt="2026-10-26T08:45:14.411" v="654" actId="20577"/>
        <pc:sldMkLst>
          <pc:docMk/>
          <pc:sldMk cId="192733176" sldId="271"/>
        </pc:sldMkLst>
        <pc:spChg chg="mod">
          <ac:chgData name="Christopher Michael POSKITT" userId="4bd18c9c-05ca-44c7-aeca-cc78c750a47e" providerId="ADAL" clId="{7B141A95-E539-59F1-A1E4-CD0859CEB3EE}" dt="2026-10-26T08:45:14.411" v="654" actId="20577"/>
          <ac:spMkLst>
            <pc:docMk/>
            <pc:sldMk cId="192733176" sldId="271"/>
            <ac:spMk id="4" creationId="{769D1187-DDDA-7E13-D6AA-2E7C7FEEA573}"/>
          </ac:spMkLst>
        </pc:spChg>
        <pc:graphicFrameChg chg="mod modGraphic">
          <ac:chgData name="Christopher Michael POSKITT" userId="4bd18c9c-05ca-44c7-aeca-cc78c750a47e" providerId="ADAL" clId="{7B141A95-E539-59F1-A1E4-CD0859CEB3EE}" dt="2026-10-26T08:44:32.045" v="584" actId="20577"/>
          <ac:graphicFrameMkLst>
            <pc:docMk/>
            <pc:sldMk cId="192733176" sldId="271"/>
            <ac:graphicFrameMk id="2" creationId="{EBD23CCC-25B0-50A5-D420-106D3AF20D51}"/>
          </ac:graphicFrameMkLst>
        </pc:graphicFrameChg>
      </pc:sldChg>
      <pc:sldChg chg="modSp mod">
        <pc:chgData name="Christopher Michael POSKITT" userId="4bd18c9c-05ca-44c7-aeca-cc78c750a47e" providerId="ADAL" clId="{7B141A95-E539-59F1-A1E4-CD0859CEB3EE}" dt="2026-10-26T08:50:10.745" v="880" actId="14100"/>
        <pc:sldMkLst>
          <pc:docMk/>
          <pc:sldMk cId="1700897261" sldId="272"/>
        </pc:sldMkLst>
        <pc:spChg chg="mod">
          <ac:chgData name="Christopher Michael POSKITT" userId="4bd18c9c-05ca-44c7-aeca-cc78c750a47e" providerId="ADAL" clId="{7B141A95-E539-59F1-A1E4-CD0859CEB3EE}" dt="2026-10-26T08:46:25.796" v="683" actId="20577"/>
          <ac:spMkLst>
            <pc:docMk/>
            <pc:sldMk cId="1700897261" sldId="272"/>
            <ac:spMk id="6" creationId="{6CA2D952-52D5-9DB8-3BB8-7DBDFD16BB63}"/>
          </ac:spMkLst>
        </pc:spChg>
        <pc:spChg chg="mod">
          <ac:chgData name="Christopher Michael POSKITT" userId="4bd18c9c-05ca-44c7-aeca-cc78c750a47e" providerId="ADAL" clId="{7B141A95-E539-59F1-A1E4-CD0859CEB3EE}" dt="2026-10-26T08:50:10.745" v="880" actId="14100"/>
          <ac:spMkLst>
            <pc:docMk/>
            <pc:sldMk cId="1700897261" sldId="272"/>
            <ac:spMk id="9" creationId="{576587D8-F5B6-E2CD-CBF0-E197A2250317}"/>
          </ac:spMkLst>
        </pc:spChg>
      </pc:sldChg>
      <pc:sldChg chg="modSp mod">
        <pc:chgData name="Christopher Michael POSKITT" userId="4bd18c9c-05ca-44c7-aeca-cc78c750a47e" providerId="ADAL" clId="{7B141A95-E539-59F1-A1E4-CD0859CEB3EE}" dt="2026-10-26T08:56:10.138" v="1363" actId="20577"/>
        <pc:sldMkLst>
          <pc:docMk/>
          <pc:sldMk cId="803399215" sldId="273"/>
        </pc:sldMkLst>
        <pc:spChg chg="mod">
          <ac:chgData name="Christopher Michael POSKITT" userId="4bd18c9c-05ca-44c7-aeca-cc78c750a47e" providerId="ADAL" clId="{7B141A95-E539-59F1-A1E4-CD0859CEB3EE}" dt="2026-10-26T08:55:47.979" v="1281" actId="1076"/>
          <ac:spMkLst>
            <pc:docMk/>
            <pc:sldMk cId="803399215" sldId="273"/>
            <ac:spMk id="3" creationId="{A64087E2-7504-89B0-7410-B3910D87F06F}"/>
          </ac:spMkLst>
        </pc:spChg>
        <pc:spChg chg="mod">
          <ac:chgData name="Christopher Michael POSKITT" userId="4bd18c9c-05ca-44c7-aeca-cc78c750a47e" providerId="ADAL" clId="{7B141A95-E539-59F1-A1E4-CD0859CEB3EE}" dt="2026-10-26T08:56:10.138" v="1363" actId="20577"/>
          <ac:spMkLst>
            <pc:docMk/>
            <pc:sldMk cId="803399215" sldId="273"/>
            <ac:spMk id="4" creationId="{401011E2-9499-268D-7732-D86CB00DF1F4}"/>
          </ac:spMkLst>
        </pc:spChg>
      </pc:sldChg>
      <pc:sldChg chg="modSp mod modCm">
        <pc:chgData name="Christopher Michael POSKITT" userId="4bd18c9c-05ca-44c7-aeca-cc78c750a47e" providerId="ADAL" clId="{7B141A95-E539-59F1-A1E4-CD0859CEB3EE}" dt="2026-10-26T08:55:01.289" v="1234" actId="20577"/>
        <pc:sldMkLst>
          <pc:docMk/>
          <pc:sldMk cId="3674628644" sldId="274"/>
        </pc:sldMkLst>
        <pc:graphicFrameChg chg="modGraphic">
          <ac:chgData name="Christopher Michael POSKITT" userId="4bd18c9c-05ca-44c7-aeca-cc78c750a47e" providerId="ADAL" clId="{7B141A95-E539-59F1-A1E4-CD0859CEB3EE}" dt="2026-10-26T08:55:01.289" v="1234" actId="20577"/>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Christopher Michael POSKITT" userId="4bd18c9c-05ca-44c7-aeca-cc78c750a47e" providerId="ADAL" clId="{7B141A95-E539-59F1-A1E4-CD0859CEB3EE}" dt="2026-10-26T08:53:04.441" v="1010" actId="20577"/>
              <pc2:cmMkLst xmlns:pc2="http://schemas.microsoft.com/office/powerpoint/2019/9/main/command">
                <pc:docMk/>
                <pc:sldMk cId="3674628644" sldId="274"/>
                <pc2:cmMk id="{8C286977-3006-A642-9FA2-0C3C928F5E52}"/>
              </pc2:cmMkLst>
            </pc226:cmChg>
          </p:ext>
        </pc:extLst>
      </pc:sldChg>
      <pc:sldChg chg="modSp mod">
        <pc:chgData name="Christopher Michael POSKITT" userId="4bd18c9c-05ca-44c7-aeca-cc78c750a47e" providerId="ADAL" clId="{7B141A95-E539-59F1-A1E4-CD0859CEB3EE}" dt="2026-10-26T08:56:39.824" v="1366" actId="20577"/>
        <pc:sldMkLst>
          <pc:docMk/>
          <pc:sldMk cId="1179733485" sldId="275"/>
        </pc:sldMkLst>
        <pc:spChg chg="mod">
          <ac:chgData name="Christopher Michael POSKITT" userId="4bd18c9c-05ca-44c7-aeca-cc78c750a47e" providerId="ADAL" clId="{7B141A95-E539-59F1-A1E4-CD0859CEB3EE}" dt="2026-10-26T08:56:39.824" v="1366" actId="20577"/>
          <ac:spMkLst>
            <pc:docMk/>
            <pc:sldMk cId="1179733485" sldId="275"/>
            <ac:spMk id="13" creationId="{987675FD-A4AB-F30F-3A5D-84521B58D19B}"/>
          </ac:spMkLst>
        </pc:spChg>
      </pc:sldChg>
      <pc:sldChg chg="modSp mod">
        <pc:chgData name="Christopher Michael POSKITT" userId="4bd18c9c-05ca-44c7-aeca-cc78c750a47e" providerId="ADAL" clId="{7B141A95-E539-59F1-A1E4-CD0859CEB3EE}" dt="2026-10-26T08:41:57.290" v="493" actId="20577"/>
        <pc:sldMkLst>
          <pc:docMk/>
          <pc:sldMk cId="3706894185" sldId="281"/>
        </pc:sldMkLst>
        <pc:spChg chg="mod">
          <ac:chgData name="Christopher Michael POSKITT" userId="4bd18c9c-05ca-44c7-aeca-cc78c750a47e" providerId="ADAL" clId="{7B141A95-E539-59F1-A1E4-CD0859CEB3EE}" dt="2026-10-26T08:41:57.290" v="493" actId="20577"/>
          <ac:spMkLst>
            <pc:docMk/>
            <pc:sldMk cId="3706894185" sldId="281"/>
            <ac:spMk id="4" creationId="{BFA8763B-6073-B4C6-8DF9-36B40B39E9F6}"/>
          </ac:spMkLst>
        </pc:spChg>
      </pc:sldChg>
      <pc:sldChg chg="modSp mod modCm">
        <pc:chgData name="Christopher Michael POSKITT" userId="4bd18c9c-05ca-44c7-aeca-cc78c750a47e" providerId="ADAL" clId="{7B141A95-E539-59F1-A1E4-CD0859CEB3EE}" dt="2026-10-26T08:39:36.538" v="463" actId="20577"/>
        <pc:sldMkLst>
          <pc:docMk/>
          <pc:sldMk cId="2721407761" sldId="282"/>
        </pc:sldMkLst>
        <pc:spChg chg="mod">
          <ac:chgData name="Christopher Michael POSKITT" userId="4bd18c9c-05ca-44c7-aeca-cc78c750a47e" providerId="ADAL" clId="{7B141A95-E539-59F1-A1E4-CD0859CEB3EE}" dt="2026-10-26T08:39:36.538" v="463" actId="20577"/>
          <ac:spMkLst>
            <pc:docMk/>
            <pc:sldMk cId="2721407761" sldId="282"/>
            <ac:spMk id="3" creationId="{78A62D57-BEE2-ED31-02BB-39CCC4B64776}"/>
          </ac:spMkLst>
        </pc:spChg>
        <pc:extLst>
          <p:ext xmlns:p="http://schemas.openxmlformats.org/presentationml/2006/main" uri="{D6D511B9-2390-475A-947B-AFAB55BFBCF1}">
            <pc226:cmChg xmlns:pc226="http://schemas.microsoft.com/office/powerpoint/2022/06/main/command" chg="mod">
              <pc226:chgData name="Christopher Michael POSKITT" userId="4bd18c9c-05ca-44c7-aeca-cc78c750a47e" providerId="ADAL" clId="{7B141A95-E539-59F1-A1E4-CD0859CEB3EE}" dt="2026-10-26T08:39:36.538" v="463" actId="20577"/>
              <pc2:cmMkLst xmlns:pc2="http://schemas.microsoft.com/office/powerpoint/2019/9/main/command">
                <pc:docMk/>
                <pc:sldMk cId="2721407761" sldId="282"/>
                <pc2:cmMk id="{38F8DAF1-A6A7-401F-BAAF-5DAC9564373C}"/>
              </pc2:cmMkLst>
            </pc226:cmChg>
          </p:ext>
        </pc:extLst>
      </pc:sldChg>
      <pc:sldChg chg="modSp mod">
        <pc:chgData name="Christopher Michael POSKITT" userId="4bd18c9c-05ca-44c7-aeca-cc78c750a47e" providerId="ADAL" clId="{7B141A95-E539-59F1-A1E4-CD0859CEB3EE}" dt="2026-10-26T08:32:54.798" v="246" actId="2165"/>
        <pc:sldMkLst>
          <pc:docMk/>
          <pc:sldMk cId="1111323446" sldId="283"/>
        </pc:sldMkLst>
        <pc:graphicFrameChg chg="mod modGraphic">
          <ac:chgData name="Christopher Michael POSKITT" userId="4bd18c9c-05ca-44c7-aeca-cc78c750a47e" providerId="ADAL" clId="{7B141A95-E539-59F1-A1E4-CD0859CEB3EE}" dt="2026-10-26T08:32:54.798" v="246" actId="2165"/>
          <ac:graphicFrameMkLst>
            <pc:docMk/>
            <pc:sldMk cId="1111323446" sldId="283"/>
            <ac:graphicFrameMk id="6" creationId="{E0E7A347-10AC-03FB-10E2-56AA362B959B}"/>
          </ac:graphicFrameMkLst>
        </pc:graphicFrameChg>
      </pc:sldChg>
      <pc:sldChg chg="modSp add mod">
        <pc:chgData name="Christopher Michael POSKITT" userId="4bd18c9c-05ca-44c7-aeca-cc78c750a47e" providerId="ADAL" clId="{7B141A95-E539-59F1-A1E4-CD0859CEB3EE}" dt="2026-10-26T09:00:08.084" v="1509" actId="20577"/>
        <pc:sldMkLst>
          <pc:docMk/>
          <pc:sldMk cId="2194179436" sldId="285"/>
        </pc:sldMkLst>
        <pc:spChg chg="mod">
          <ac:chgData name="Christopher Michael POSKITT" userId="4bd18c9c-05ca-44c7-aeca-cc78c750a47e" providerId="ADAL" clId="{7B141A95-E539-59F1-A1E4-CD0859CEB3EE}" dt="2026-10-26T09:00:08.084" v="1509" actId="20577"/>
          <ac:spMkLst>
            <pc:docMk/>
            <pc:sldMk cId="2194179436" sldId="285"/>
            <ac:spMk id="4" creationId="{6313351F-AF89-CE0A-C10A-68A536A990F8}"/>
          </ac:spMkLst>
        </pc:spChg>
        <pc:spChg chg="mod">
          <ac:chgData name="Christopher Michael POSKITT" userId="4bd18c9c-05ca-44c7-aeca-cc78c750a47e" providerId="ADAL" clId="{7B141A95-E539-59F1-A1E4-CD0859CEB3EE}" dt="2026-10-26T08:59:29.994" v="1385" actId="20577"/>
          <ac:spMkLst>
            <pc:docMk/>
            <pc:sldMk cId="2194179436" sldId="285"/>
            <ac:spMk id="12" creationId="{8B08CC57-8B55-6D81-5798-9356D8FB6A9A}"/>
          </ac:spMkLst>
        </pc:spChg>
      </pc:sldChg>
    </pc:docChg>
  </pc:docChgLst>
  <pc:docChgLst>
    <pc:chgData name="Nitendra KUMAR" userId="S::nitendrak@smu.edu.sg::46da4551-a3da-4111-80e7-068ca2c04424" providerId="AD" clId="Web-{CA4A71BA-9058-B71E-ECA4-7CD9AEE9C919}"/>
    <pc:docChg chg="modSld">
      <pc:chgData name="Nitendra KUMAR" userId="S::nitendrak@smu.edu.sg::46da4551-a3da-4111-80e7-068ca2c04424" providerId="AD" clId="Web-{CA4A71BA-9058-B71E-ECA4-7CD9AEE9C919}" dt="2026-10-23T07:58:50.455" v="191"/>
      <pc:docMkLst>
        <pc:docMk/>
      </pc:docMkLst>
      <pc:sldChg chg="modSp">
        <pc:chgData name="Nitendra KUMAR" userId="S::nitendrak@smu.edu.sg::46da4551-a3da-4111-80e7-068ca2c04424" providerId="AD" clId="Web-{CA4A71BA-9058-B71E-ECA4-7CD9AEE9C919}" dt="2026-10-23T07:58:50.455" v="191"/>
        <pc:sldMkLst>
          <pc:docMk/>
          <pc:sldMk cId="1111323446" sldId="283"/>
        </pc:sldMkLst>
        <pc:graphicFrameChg chg="mod modGraphic">
          <ac:chgData name="Nitendra KUMAR" userId="S::nitendrak@smu.edu.sg::46da4551-a3da-4111-80e7-068ca2c04424" providerId="AD" clId="Web-{CA4A71BA-9058-B71E-ECA4-7CD9AEE9C919}" dt="2026-10-23T07:58:50.455" v="191"/>
          <ac:graphicFrameMkLst>
            <pc:docMk/>
            <pc:sldMk cId="1111323446" sldId="283"/>
            <ac:graphicFrameMk id="6" creationId="{E0E7A347-10AC-03FB-10E2-56AA362B959B}"/>
          </ac:graphicFrameMkLst>
        </pc:graphicFrameChg>
      </pc:sldChg>
    </pc:docChg>
  </pc:docChgLst>
  <pc:docChgLst>
    <pc:chgData name="Ivan TAN Wei Han" userId="S::ivantan@smu.edu.sg::bcdc89b8-56cc-41dd-ba78-e55d4e5121a0" providerId="AD" clId="Web-{B27AD464-C249-7C21-401E-3715E34F184A}"/>
    <pc:docChg chg="modSld">
      <pc:chgData name="Ivan TAN Wei Han" userId="S::ivantan@smu.edu.sg::bcdc89b8-56cc-41dd-ba78-e55d4e5121a0" providerId="AD" clId="Web-{B27AD464-C249-7C21-401E-3715E34F184A}" dt="2026-10-24T20:40:45.859" v="122" actId="1076"/>
      <pc:docMkLst>
        <pc:docMk/>
      </pc:docMkLst>
      <pc:sldChg chg="modSp modCm">
        <pc:chgData name="Ivan TAN Wei Han" userId="S::ivantan@smu.edu.sg::bcdc89b8-56cc-41dd-ba78-e55d4e5121a0" providerId="AD" clId="Web-{B27AD464-C249-7C21-401E-3715E34F184A}" dt="2026-10-24T20:36:33.050" v="78" actId="1076"/>
        <pc:sldMkLst>
          <pc:docMk/>
          <pc:sldMk cId="2708235050" sldId="269"/>
        </pc:sldMkLst>
        <pc:spChg chg="mod">
          <ac:chgData name="Ivan TAN Wei Han" userId="S::ivantan@smu.edu.sg::bcdc89b8-56cc-41dd-ba78-e55d4e5121a0" providerId="AD" clId="Web-{B27AD464-C249-7C21-401E-3715E34F184A}" dt="2026-10-24T20:36:28.316" v="77" actId="20577"/>
          <ac:spMkLst>
            <pc:docMk/>
            <pc:sldMk cId="2708235050" sldId="269"/>
            <ac:spMk id="10" creationId="{52608CCB-5933-4B21-A305-5FE73D162E2B}"/>
          </ac:spMkLst>
        </pc:spChg>
        <pc:graphicFrameChg chg="mod modGraphic">
          <ac:chgData name="Ivan TAN Wei Han" userId="S::ivantan@smu.edu.sg::bcdc89b8-56cc-41dd-ba78-e55d4e5121a0" providerId="AD" clId="Web-{B27AD464-C249-7C21-401E-3715E34F184A}" dt="2026-10-24T20:36:33.050" v="78" actId="1076"/>
          <ac:graphicFrameMkLst>
            <pc:docMk/>
            <pc:sldMk cId="2708235050" sldId="269"/>
            <ac:graphicFrameMk id="2" creationId="{489BFAE8-521E-D3BA-48E5-CCB691E26288}"/>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B27AD464-C249-7C21-401E-3715E34F184A}" dt="2026-10-24T20:36:28.316" v="77" actId="20577"/>
              <pc2:cmMkLst xmlns:pc2="http://schemas.microsoft.com/office/powerpoint/2019/9/main/command">
                <pc:docMk/>
                <pc:sldMk cId="2708235050" sldId="269"/>
                <pc2:cmMk id="{315ED6E1-C3E2-4DDD-B428-3C50AB0D0467}"/>
              </pc2:cmMkLst>
            </pc226:cmChg>
          </p:ext>
        </pc:extLst>
      </pc:sldChg>
    </pc:docChg>
  </pc:docChgLst>
  <pc:docChgLst>
    <pc:chgData name="Ivan TAN Wei Han" userId="S::ivantan@smu.edu.sg::bcdc89b8-56cc-41dd-ba78-e55d4e5121a0" providerId="AD" clId="Web-{69E17700-5DA3-6599-EAD8-1A44D5045FB6}"/>
    <pc:docChg chg="addSld delSld modSld">
      <pc:chgData name="Ivan TAN Wei Han" userId="S::ivantan@smu.edu.sg::bcdc89b8-56cc-41dd-ba78-e55d4e5121a0" providerId="AD" clId="Web-{69E17700-5DA3-6599-EAD8-1A44D5045FB6}" dt="2026-10-25T07:19:02.013" v="244"/>
      <pc:docMkLst>
        <pc:docMk/>
      </pc:docMkLst>
      <pc:sldChg chg="modSp">
        <pc:chgData name="Ivan TAN Wei Han" userId="S::ivantan@smu.edu.sg::bcdc89b8-56cc-41dd-ba78-e55d4e5121a0" providerId="AD" clId="Web-{69E17700-5DA3-6599-EAD8-1A44D5045FB6}" dt="2026-10-25T05:06:46.245" v="109" actId="1076"/>
        <pc:sldMkLst>
          <pc:docMk/>
          <pc:sldMk cId="62309270" sldId="258"/>
        </pc:sldMkLst>
        <pc:spChg chg="mod">
          <ac:chgData name="Ivan TAN Wei Han" userId="S::ivantan@smu.edu.sg::bcdc89b8-56cc-41dd-ba78-e55d4e5121a0" providerId="AD" clId="Web-{69E17700-5DA3-6599-EAD8-1A44D5045FB6}" dt="2026-10-25T05:06:46.245" v="109" actId="1076"/>
          <ac:spMkLst>
            <pc:docMk/>
            <pc:sldMk cId="62309270" sldId="258"/>
            <ac:spMk id="4" creationId="{E2919FD3-9E94-05A3-79BC-230E344C9A9C}"/>
          </ac:spMkLst>
        </pc:spChg>
      </pc:sldChg>
      <pc:sldChg chg="modSp">
        <pc:chgData name="Ivan TAN Wei Han" userId="S::ivantan@smu.edu.sg::bcdc89b8-56cc-41dd-ba78-e55d4e5121a0" providerId="AD" clId="Web-{69E17700-5DA3-6599-EAD8-1A44D5045FB6}" dt="2026-10-25T05:06:40.698" v="108" actId="1076"/>
        <pc:sldMkLst>
          <pc:docMk/>
          <pc:sldMk cId="1501528402" sldId="259"/>
        </pc:sldMkLst>
        <pc:spChg chg="mod">
          <ac:chgData name="Ivan TAN Wei Han" userId="S::ivantan@smu.edu.sg::bcdc89b8-56cc-41dd-ba78-e55d4e5121a0" providerId="AD" clId="Web-{69E17700-5DA3-6599-EAD8-1A44D5045FB6}" dt="2026-10-25T05:06:40.698" v="108" actId="1076"/>
          <ac:spMkLst>
            <pc:docMk/>
            <pc:sldMk cId="1501528402" sldId="259"/>
            <ac:spMk id="4" creationId="{4EAD807C-3653-47E4-7BE5-7786955E311C}"/>
          </ac:spMkLst>
        </pc:spChg>
      </pc:sldChg>
      <pc:sldChg chg="mod modShow">
        <pc:chgData name="Ivan TAN Wei Han" userId="S::ivantan@smu.edu.sg::bcdc89b8-56cc-41dd-ba78-e55d4e5121a0" providerId="AD" clId="Web-{69E17700-5DA3-6599-EAD8-1A44D5045FB6}" dt="2026-10-25T07:19:02.013" v="244"/>
        <pc:sldMkLst>
          <pc:docMk/>
          <pc:sldMk cId="1962571277" sldId="261"/>
        </pc:sldMkLst>
      </pc:sldChg>
      <pc:sldChg chg="delSp">
        <pc:chgData name="Ivan TAN Wei Han" userId="S::ivantan@smu.edu.sg::bcdc89b8-56cc-41dd-ba78-e55d4e5121a0" providerId="AD" clId="Web-{69E17700-5DA3-6599-EAD8-1A44D5045FB6}" dt="2026-10-25T07:17:52.398" v="203"/>
        <pc:sldMkLst>
          <pc:docMk/>
          <pc:sldMk cId="1054199481" sldId="262"/>
        </pc:sldMkLst>
        <pc:spChg chg="del">
          <ac:chgData name="Ivan TAN Wei Han" userId="S::ivantan@smu.edu.sg::bcdc89b8-56cc-41dd-ba78-e55d4e5121a0" providerId="AD" clId="Web-{69E17700-5DA3-6599-EAD8-1A44D5045FB6}" dt="2026-10-25T07:17:52.398" v="203"/>
          <ac:spMkLst>
            <pc:docMk/>
            <pc:sldMk cId="1054199481" sldId="262"/>
            <ac:spMk id="9" creationId="{CBEF17C9-1ECA-B715-6FD9-F15AE4D05C98}"/>
          </ac:spMkLst>
        </pc:spChg>
        <pc:spChg chg="del">
          <ac:chgData name="Ivan TAN Wei Han" userId="S::ivantan@smu.edu.sg::bcdc89b8-56cc-41dd-ba78-e55d4e5121a0" providerId="AD" clId="Web-{69E17700-5DA3-6599-EAD8-1A44D5045FB6}" dt="2026-10-25T07:17:49.242" v="201"/>
          <ac:spMkLst>
            <pc:docMk/>
            <pc:sldMk cId="1054199481" sldId="262"/>
            <ac:spMk id="10" creationId="{650DDF89-03EC-8C43-65BE-ED32B0805AD6}"/>
          </ac:spMkLst>
        </pc:spChg>
        <pc:spChg chg="del">
          <ac:chgData name="Ivan TAN Wei Han" userId="S::ivantan@smu.edu.sg::bcdc89b8-56cc-41dd-ba78-e55d4e5121a0" providerId="AD" clId="Web-{69E17700-5DA3-6599-EAD8-1A44D5045FB6}" dt="2026-10-25T07:17:50.289" v="202"/>
          <ac:spMkLst>
            <pc:docMk/>
            <pc:sldMk cId="1054199481" sldId="262"/>
            <ac:spMk id="13" creationId="{C5C035EE-03B5-C456-DB22-E80A9A59DD87}"/>
          </ac:spMkLst>
        </pc:spChg>
      </pc:sldChg>
      <pc:sldChg chg="modSp">
        <pc:chgData name="Ivan TAN Wei Han" userId="S::ivantan@smu.edu.sg::bcdc89b8-56cc-41dd-ba78-e55d4e5121a0" providerId="AD" clId="Web-{69E17700-5DA3-6599-EAD8-1A44D5045FB6}" dt="2026-10-25T05:09:23.140" v="118" actId="20577"/>
        <pc:sldMkLst>
          <pc:docMk/>
          <pc:sldMk cId="192733176" sldId="271"/>
        </pc:sldMkLst>
        <pc:spChg chg="mod">
          <ac:chgData name="Ivan TAN Wei Han" userId="S::ivantan@smu.edu.sg::bcdc89b8-56cc-41dd-ba78-e55d4e5121a0" providerId="AD" clId="Web-{69E17700-5DA3-6599-EAD8-1A44D5045FB6}" dt="2026-10-25T05:09:23.140" v="118" actId="20577"/>
          <ac:spMkLst>
            <pc:docMk/>
            <pc:sldMk cId="192733176" sldId="271"/>
            <ac:spMk id="12" creationId="{7CBBB8C8-CDC8-BA80-2C99-AD22CEDBE960}"/>
          </ac:spMkLst>
        </pc:spChg>
      </pc:sldChg>
      <pc:sldChg chg="modSp">
        <pc:chgData name="Ivan TAN Wei Han" userId="S::ivantan@smu.edu.sg::bcdc89b8-56cc-41dd-ba78-e55d4e5121a0" providerId="AD" clId="Web-{69E17700-5DA3-6599-EAD8-1A44D5045FB6}" dt="2026-10-25T05:09:25.969" v="123" actId="20577"/>
        <pc:sldMkLst>
          <pc:docMk/>
          <pc:sldMk cId="1700897261" sldId="272"/>
        </pc:sldMkLst>
        <pc:spChg chg="mod">
          <ac:chgData name="Ivan TAN Wei Han" userId="S::ivantan@smu.edu.sg::bcdc89b8-56cc-41dd-ba78-e55d4e5121a0" providerId="AD" clId="Web-{69E17700-5DA3-6599-EAD8-1A44D5045FB6}" dt="2026-10-25T05:09:25.969" v="123" actId="20577"/>
          <ac:spMkLst>
            <pc:docMk/>
            <pc:sldMk cId="1700897261" sldId="272"/>
            <ac:spMk id="12" creationId="{38B4F90C-61C3-40B1-405B-5A0DF476054C}"/>
          </ac:spMkLst>
        </pc:spChg>
      </pc:sldChg>
      <pc:sldChg chg="modSp">
        <pc:chgData name="Ivan TAN Wei Han" userId="S::ivantan@smu.edu.sg::bcdc89b8-56cc-41dd-ba78-e55d4e5121a0" providerId="AD" clId="Web-{69E17700-5DA3-6599-EAD8-1A44D5045FB6}" dt="2026-10-25T05:09:42.750" v="141" actId="20577"/>
        <pc:sldMkLst>
          <pc:docMk/>
          <pc:sldMk cId="803399215" sldId="273"/>
        </pc:sldMkLst>
        <pc:spChg chg="mod">
          <ac:chgData name="Ivan TAN Wei Han" userId="S::ivantan@smu.edu.sg::bcdc89b8-56cc-41dd-ba78-e55d4e5121a0" providerId="AD" clId="Web-{69E17700-5DA3-6599-EAD8-1A44D5045FB6}" dt="2026-10-25T05:09:42.750" v="141" actId="20577"/>
          <ac:spMkLst>
            <pc:docMk/>
            <pc:sldMk cId="803399215" sldId="273"/>
            <ac:spMk id="12" creationId="{C436970A-98E9-4F1A-F676-98D1F8B3ACD8}"/>
          </ac:spMkLst>
        </pc:spChg>
      </pc:sldChg>
      <pc:sldChg chg="modSp modCm">
        <pc:chgData name="Ivan TAN Wei Han" userId="S::ivantan@smu.edu.sg::bcdc89b8-56cc-41dd-ba78-e55d4e5121a0" providerId="AD" clId="Web-{69E17700-5DA3-6599-EAD8-1A44D5045FB6}" dt="2026-10-25T05:13:16.786" v="200"/>
        <pc:sldMkLst>
          <pc:docMk/>
          <pc:sldMk cId="3674628644" sldId="274"/>
        </pc:sldMkLst>
        <pc:spChg chg="mod">
          <ac:chgData name="Ivan TAN Wei Han" userId="S::ivantan@smu.edu.sg::bcdc89b8-56cc-41dd-ba78-e55d4e5121a0" providerId="AD" clId="Web-{69E17700-5DA3-6599-EAD8-1A44D5045FB6}" dt="2026-10-25T05:09:36.313" v="131" actId="20577"/>
          <ac:spMkLst>
            <pc:docMk/>
            <pc:sldMk cId="3674628644" sldId="274"/>
            <ac:spMk id="12" creationId="{BB5A0505-EFAD-BBF3-5F8F-9C9B99C24390}"/>
          </ac:spMkLst>
        </pc:spChg>
        <pc:graphicFrameChg chg="mod modGraphic">
          <ac:chgData name="Ivan TAN Wei Han" userId="S::ivantan@smu.edu.sg::bcdc89b8-56cc-41dd-ba78-e55d4e5121a0" providerId="AD" clId="Web-{69E17700-5DA3-6599-EAD8-1A44D5045FB6}" dt="2026-10-25T05:13:16.786" v="200"/>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69E17700-5DA3-6599-EAD8-1A44D5045FB6}" dt="2026-10-25T05:09:36.313" v="131" actId="20577"/>
              <pc2:cmMkLst xmlns:pc2="http://schemas.microsoft.com/office/powerpoint/2019/9/main/command">
                <pc:docMk/>
                <pc:sldMk cId="3674628644" sldId="274"/>
                <pc2:cmMk id="{331A6367-BAA8-41F3-9189-48198208A1A9}"/>
              </pc2:cmMkLst>
            </pc226:cmChg>
          </p:ext>
        </pc:extLst>
      </pc:sldChg>
      <pc:sldChg chg="modSp">
        <pc:chgData name="Ivan TAN Wei Han" userId="S::ivantan@smu.edu.sg::bcdc89b8-56cc-41dd-ba78-e55d4e5121a0" providerId="AD" clId="Web-{69E17700-5DA3-6599-EAD8-1A44D5045FB6}" dt="2026-10-25T05:09:51.219" v="147" actId="20577"/>
        <pc:sldMkLst>
          <pc:docMk/>
          <pc:sldMk cId="1179733485" sldId="275"/>
        </pc:sldMkLst>
        <pc:spChg chg="mod">
          <ac:chgData name="Ivan TAN Wei Han" userId="S::ivantan@smu.edu.sg::bcdc89b8-56cc-41dd-ba78-e55d4e5121a0" providerId="AD" clId="Web-{69E17700-5DA3-6599-EAD8-1A44D5045FB6}" dt="2026-10-25T05:09:51.219" v="147" actId="20577"/>
          <ac:spMkLst>
            <pc:docMk/>
            <pc:sldMk cId="1179733485" sldId="275"/>
            <ac:spMk id="12" creationId="{631D5E13-BE4A-373B-6AF5-6AEBB5373862}"/>
          </ac:spMkLst>
        </pc:spChg>
      </pc:sldChg>
      <pc:sldChg chg="modSp">
        <pc:chgData name="Ivan TAN Wei Han" userId="S::ivantan@smu.edu.sg::bcdc89b8-56cc-41dd-ba78-e55d4e5121a0" providerId="AD" clId="Web-{69E17700-5DA3-6599-EAD8-1A44D5045FB6}" dt="2026-10-25T05:05:47.367" v="107"/>
        <pc:sldMkLst>
          <pc:docMk/>
          <pc:sldMk cId="3225245449" sldId="276"/>
        </pc:sldMkLst>
        <pc:graphicFrameChg chg="mod modGraphic">
          <ac:chgData name="Ivan TAN Wei Han" userId="S::ivantan@smu.edu.sg::bcdc89b8-56cc-41dd-ba78-e55d4e5121a0" providerId="AD" clId="Web-{69E17700-5DA3-6599-EAD8-1A44D5045FB6}" dt="2026-10-25T05:05:47.367" v="107"/>
          <ac:graphicFrameMkLst>
            <pc:docMk/>
            <pc:sldMk cId="3225245449" sldId="276"/>
            <ac:graphicFrameMk id="2" creationId="{120B8A19-1E3B-D3CE-3C77-875832D1F7F0}"/>
          </ac:graphicFrameMkLst>
        </pc:graphicFrameChg>
      </pc:sldChg>
      <pc:sldChg chg="addSp delSp modSp modCm">
        <pc:chgData name="Ivan TAN Wei Han" userId="S::ivantan@smu.edu.sg::bcdc89b8-56cc-41dd-ba78-e55d4e5121a0" providerId="AD" clId="Web-{69E17700-5DA3-6599-EAD8-1A44D5045FB6}" dt="2026-10-25T05:05:25.413" v="101" actId="1076"/>
        <pc:sldMkLst>
          <pc:docMk/>
          <pc:sldMk cId="2721407761" sldId="282"/>
        </pc:sldMkLst>
        <pc:spChg chg="add del mod">
          <ac:chgData name="Ivan TAN Wei Han" userId="S::ivantan@smu.edu.sg::bcdc89b8-56cc-41dd-ba78-e55d4e5121a0" providerId="AD" clId="Web-{69E17700-5DA3-6599-EAD8-1A44D5045FB6}" dt="2026-10-25T05:04:16.082" v="54"/>
          <ac:spMkLst>
            <pc:docMk/>
            <pc:sldMk cId="2721407761" sldId="282"/>
            <ac:spMk id="2" creationId="{5B176314-5673-7395-A776-B62DD704E0ED}"/>
          </ac:spMkLst>
        </pc:spChg>
        <pc:spChg chg="mod">
          <ac:chgData name="Ivan TAN Wei Han" userId="S::ivantan@smu.edu.sg::bcdc89b8-56cc-41dd-ba78-e55d4e5121a0" providerId="AD" clId="Web-{69E17700-5DA3-6599-EAD8-1A44D5045FB6}" dt="2026-10-25T05:04:52.490" v="85" actId="20577"/>
          <ac:spMkLst>
            <pc:docMk/>
            <pc:sldMk cId="2721407761" sldId="282"/>
            <ac:spMk id="3" creationId="{78A62D57-BEE2-ED31-02BB-39CCC4B64776}"/>
          </ac:spMkLst>
        </pc:spChg>
        <pc:spChg chg="add mod">
          <ac:chgData name="Ivan TAN Wei Han" userId="S::ivantan@smu.edu.sg::bcdc89b8-56cc-41dd-ba78-e55d4e5121a0" providerId="AD" clId="Web-{69E17700-5DA3-6599-EAD8-1A44D5045FB6}" dt="2026-10-25T05:03:30.766" v="8" actId="20577"/>
          <ac:spMkLst>
            <pc:docMk/>
            <pc:sldMk cId="2721407761" sldId="282"/>
            <ac:spMk id="5" creationId="{8391B689-97B8-AADB-334B-53EE933E5532}"/>
          </ac:spMkLst>
        </pc:spChg>
        <pc:spChg chg="add mod">
          <ac:chgData name="Ivan TAN Wei Han" userId="S::ivantan@smu.edu.sg::bcdc89b8-56cc-41dd-ba78-e55d4e5121a0" providerId="AD" clId="Web-{69E17700-5DA3-6599-EAD8-1A44D5045FB6}" dt="2026-10-25T05:05:13.944" v="95" actId="1076"/>
          <ac:spMkLst>
            <pc:docMk/>
            <pc:sldMk cId="2721407761" sldId="282"/>
            <ac:spMk id="7" creationId="{6967DC35-833E-9AB0-195D-9AD5818E161F}"/>
          </ac:spMkLst>
        </pc:spChg>
        <pc:spChg chg="add mod">
          <ac:chgData name="Ivan TAN Wei Han" userId="S::ivantan@smu.edu.sg::bcdc89b8-56cc-41dd-ba78-e55d4e5121a0" providerId="AD" clId="Web-{69E17700-5DA3-6599-EAD8-1A44D5045FB6}" dt="2026-10-25T05:05:19.397" v="97" actId="1076"/>
          <ac:spMkLst>
            <pc:docMk/>
            <pc:sldMk cId="2721407761" sldId="282"/>
            <ac:spMk id="8" creationId="{39B1A658-4D18-83C6-406E-A61C13B68E4D}"/>
          </ac:spMkLst>
        </pc:spChg>
        <pc:spChg chg="add mod">
          <ac:chgData name="Ivan TAN Wei Han" userId="S::ivantan@smu.edu.sg::bcdc89b8-56cc-41dd-ba78-e55d4e5121a0" providerId="AD" clId="Web-{69E17700-5DA3-6599-EAD8-1A44D5045FB6}" dt="2026-10-25T05:05:22.491" v="99" actId="1076"/>
          <ac:spMkLst>
            <pc:docMk/>
            <pc:sldMk cId="2721407761" sldId="282"/>
            <ac:spMk id="9" creationId="{3E00B8D5-1E98-6929-F0FC-F9EA96CEB261}"/>
          </ac:spMkLst>
        </pc:spChg>
        <pc:spChg chg="add mod">
          <ac:chgData name="Ivan TAN Wei Han" userId="S::ivantan@smu.edu.sg::bcdc89b8-56cc-41dd-ba78-e55d4e5121a0" providerId="AD" clId="Web-{69E17700-5DA3-6599-EAD8-1A44D5045FB6}" dt="2026-10-25T05:05:25.413" v="101" actId="1076"/>
          <ac:spMkLst>
            <pc:docMk/>
            <pc:sldMk cId="2721407761" sldId="282"/>
            <ac:spMk id="10" creationId="{5760AE81-FFD7-21B4-FAC3-B931956E26C3}"/>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69E17700-5DA3-6599-EAD8-1A44D5045FB6}" dt="2026-10-25T05:05:09.694" v="93" actId="20577"/>
              <pc2:cmMkLst xmlns:pc2="http://schemas.microsoft.com/office/powerpoint/2019/9/main/command">
                <pc:docMk/>
                <pc:sldMk cId="2721407761" sldId="282"/>
                <pc2:cmMk id="{38F8DAF1-A6A7-401F-BAAF-5DAC9564373C}"/>
              </pc2:cmMkLst>
            </pc226:cmChg>
          </p:ext>
        </pc:extLst>
      </pc:sldChg>
      <pc:sldChg chg="addSp delSp modSp add replId">
        <pc:chgData name="Ivan TAN Wei Han" userId="S::ivantan@smu.edu.sg::bcdc89b8-56cc-41dd-ba78-e55d4e5121a0" providerId="AD" clId="Web-{69E17700-5DA3-6599-EAD8-1A44D5045FB6}" dt="2026-10-25T05:12:29.207" v="197" actId="20577"/>
        <pc:sldMkLst>
          <pc:docMk/>
          <pc:sldMk cId="2509515700" sldId="284"/>
        </pc:sldMkLst>
        <pc:spChg chg="add del">
          <ac:chgData name="Ivan TAN Wei Han" userId="S::ivantan@smu.edu.sg::bcdc89b8-56cc-41dd-ba78-e55d4e5121a0" providerId="AD" clId="Web-{69E17700-5DA3-6599-EAD8-1A44D5045FB6}" dt="2026-10-25T05:10:29.658" v="150"/>
          <ac:spMkLst>
            <pc:docMk/>
            <pc:sldMk cId="2509515700" sldId="284"/>
            <ac:spMk id="2" creationId="{5A1B79CA-EC89-114B-E7D3-BCFA1B25521B}"/>
          </ac:spMkLst>
        </pc:spChg>
        <pc:spChg chg="mod">
          <ac:chgData name="Ivan TAN Wei Han" userId="S::ivantan@smu.edu.sg::bcdc89b8-56cc-41dd-ba78-e55d4e5121a0" providerId="AD" clId="Web-{69E17700-5DA3-6599-EAD8-1A44D5045FB6}" dt="2026-10-25T05:12:29.207" v="197" actId="20577"/>
          <ac:spMkLst>
            <pc:docMk/>
            <pc:sldMk cId="2509515700" sldId="284"/>
            <ac:spMk id="3" creationId="{463DD74E-E046-BF6D-CFE2-624693B19FE6}"/>
          </ac:spMkLst>
        </pc:spChg>
      </pc:sldChg>
      <pc:sldChg chg="new del">
        <pc:chgData name="Ivan TAN Wei Han" userId="S::ivantan@smu.edu.sg::bcdc89b8-56cc-41dd-ba78-e55d4e5121a0" providerId="AD" clId="Web-{69E17700-5DA3-6599-EAD8-1A44D5045FB6}" dt="2026-10-25T07:18:26.088" v="205"/>
        <pc:sldMkLst>
          <pc:docMk/>
          <pc:sldMk cId="1610592235" sldId="285"/>
        </pc:sldMkLst>
      </pc:sldChg>
      <pc:sldChg chg="delSp modSp add replId">
        <pc:chgData name="Ivan TAN Wei Han" userId="S::ivantan@smu.edu.sg::bcdc89b8-56cc-41dd-ba78-e55d4e5121a0" providerId="AD" clId="Web-{69E17700-5DA3-6599-EAD8-1A44D5045FB6}" dt="2026-10-25T07:18:55.356" v="243"/>
        <pc:sldMkLst>
          <pc:docMk/>
          <pc:sldMk cId="4252927841" sldId="285"/>
        </pc:sldMkLst>
        <pc:spChg chg="mod">
          <ac:chgData name="Ivan TAN Wei Han" userId="S::ivantan@smu.edu.sg::bcdc89b8-56cc-41dd-ba78-e55d4e5121a0" providerId="AD" clId="Web-{69E17700-5DA3-6599-EAD8-1A44D5045FB6}" dt="2026-10-25T07:18:44.668" v="236" actId="20577"/>
          <ac:spMkLst>
            <pc:docMk/>
            <pc:sldMk cId="4252927841" sldId="285"/>
            <ac:spMk id="5" creationId="{1C49CE6E-9BD6-8C12-5BE4-58B9CA4B9569}"/>
          </ac:spMkLst>
        </pc:spChg>
        <pc:spChg chg="del">
          <ac:chgData name="Ivan TAN Wei Han" userId="S::ivantan@smu.edu.sg::bcdc89b8-56cc-41dd-ba78-e55d4e5121a0" providerId="AD" clId="Web-{69E17700-5DA3-6599-EAD8-1A44D5045FB6}" dt="2026-10-25T07:18:55.356" v="243"/>
          <ac:spMkLst>
            <pc:docMk/>
            <pc:sldMk cId="4252927841" sldId="285"/>
            <ac:spMk id="9" creationId="{6CC25636-4D79-7B07-C0B9-4BA29BA9BA26}"/>
          </ac:spMkLst>
        </pc:spChg>
        <pc:spChg chg="del">
          <ac:chgData name="Ivan TAN Wei Han" userId="S::ivantan@smu.edu.sg::bcdc89b8-56cc-41dd-ba78-e55d4e5121a0" providerId="AD" clId="Web-{69E17700-5DA3-6599-EAD8-1A44D5045FB6}" dt="2026-10-25T07:18:53.903" v="242"/>
          <ac:spMkLst>
            <pc:docMk/>
            <pc:sldMk cId="4252927841" sldId="285"/>
            <ac:spMk id="10" creationId="{99EF34D2-9D15-EB94-0B6F-F230503FAD81}"/>
          </ac:spMkLst>
        </pc:spChg>
        <pc:graphicFrameChg chg="del mod modGraphic">
          <ac:chgData name="Ivan TAN Wei Han" userId="S::ivantan@smu.edu.sg::bcdc89b8-56cc-41dd-ba78-e55d4e5121a0" providerId="AD" clId="Web-{69E17700-5DA3-6599-EAD8-1A44D5045FB6}" dt="2026-10-25T07:18:52.559" v="241"/>
          <ac:graphicFrameMkLst>
            <pc:docMk/>
            <pc:sldMk cId="4252927841" sldId="285"/>
            <ac:graphicFrameMk id="2" creationId="{C2DB6DD9-E333-94B3-4828-D712B67CDB17}"/>
          </ac:graphicFrameMkLst>
        </pc:graphicFrameChg>
      </pc:sldChg>
    </pc:docChg>
  </pc:docChgLst>
  <pc:docChgLst>
    <pc:chgData name="Ivan TAN Wei Han" userId="S::ivantan@smu.edu.sg::bcdc89b8-56cc-41dd-ba78-e55d4e5121a0" providerId="AD" clId="Web-{00000000-0000-0000-0000-000000000000}"/>
    <pc:docChg chg="delSld">
      <pc:chgData name="Ivan TAN Wei Han" userId="S::ivantan@smu.edu.sg::bcdc89b8-56cc-41dd-ba78-e55d4e5121a0" providerId="AD" clId="Web-{00000000-0000-0000-0000-000000000000}" dt="2026-10-25T07:26:32.648" v="9"/>
      <pc:docMkLst>
        <pc:docMk/>
      </pc:docMkLst>
      <pc:sldChg chg="del">
        <pc:chgData name="Ivan TAN Wei Han" userId="S::ivantan@smu.edu.sg::bcdc89b8-56cc-41dd-ba78-e55d4e5121a0" providerId="AD" clId="Web-{00000000-0000-0000-0000-000000000000}" dt="2026-10-25T07:25:58.991" v="0"/>
        <pc:sldMkLst>
          <pc:docMk/>
          <pc:sldMk cId="1501528402" sldId="259"/>
        </pc:sldMkLst>
      </pc:sldChg>
      <pc:sldChg chg="del">
        <pc:chgData name="Ivan TAN Wei Han" userId="S::ivantan@smu.edu.sg::bcdc89b8-56cc-41dd-ba78-e55d4e5121a0" providerId="AD" clId="Web-{00000000-0000-0000-0000-000000000000}" dt="2026-10-25T07:26:06.491" v="3"/>
        <pc:sldMkLst>
          <pc:docMk/>
          <pc:sldMk cId="3790706018" sldId="260"/>
        </pc:sldMkLst>
      </pc:sldChg>
      <pc:sldChg chg="del">
        <pc:chgData name="Ivan TAN Wei Han" userId="S::ivantan@smu.edu.sg::bcdc89b8-56cc-41dd-ba78-e55d4e5121a0" providerId="AD" clId="Web-{00000000-0000-0000-0000-000000000000}" dt="2026-10-25T07:26:00.459" v="1"/>
        <pc:sldMkLst>
          <pc:docMk/>
          <pc:sldMk cId="1962571277" sldId="261"/>
        </pc:sldMkLst>
      </pc:sldChg>
      <pc:sldChg chg="del">
        <pc:chgData name="Ivan TAN Wei Han" userId="S::ivantan@smu.edu.sg::bcdc89b8-56cc-41dd-ba78-e55d4e5121a0" providerId="AD" clId="Web-{00000000-0000-0000-0000-000000000000}" dt="2026-10-25T07:26:10.319" v="4"/>
        <pc:sldMkLst>
          <pc:docMk/>
          <pc:sldMk cId="1054199481" sldId="262"/>
        </pc:sldMkLst>
      </pc:sldChg>
      <pc:sldChg chg="del">
        <pc:chgData name="Ivan TAN Wei Han" userId="S::ivantan@smu.edu.sg::bcdc89b8-56cc-41dd-ba78-e55d4e5121a0" providerId="AD" clId="Web-{00000000-0000-0000-0000-000000000000}" dt="2026-10-25T07:26:11.491" v="5"/>
        <pc:sldMkLst>
          <pc:docMk/>
          <pc:sldMk cId="3088936750" sldId="263"/>
        </pc:sldMkLst>
      </pc:sldChg>
      <pc:sldChg chg="del">
        <pc:chgData name="Ivan TAN Wei Han" userId="S::ivantan@smu.edu.sg::bcdc89b8-56cc-41dd-ba78-e55d4e5121a0" providerId="AD" clId="Web-{00000000-0000-0000-0000-000000000000}" dt="2026-10-25T07:26:12.772" v="6"/>
        <pc:sldMkLst>
          <pc:docMk/>
          <pc:sldMk cId="2388298255" sldId="264"/>
        </pc:sldMkLst>
      </pc:sldChg>
      <pc:sldChg chg="del">
        <pc:chgData name="Ivan TAN Wei Han" userId="S::ivantan@smu.edu.sg::bcdc89b8-56cc-41dd-ba78-e55d4e5121a0" providerId="AD" clId="Web-{00000000-0000-0000-0000-000000000000}" dt="2026-10-25T07:26:14.023" v="7"/>
        <pc:sldMkLst>
          <pc:docMk/>
          <pc:sldMk cId="2055485165" sldId="265"/>
        </pc:sldMkLst>
      </pc:sldChg>
      <pc:sldChg chg="del">
        <pc:chgData name="Ivan TAN Wei Han" userId="S::ivantan@smu.edu.sg::bcdc89b8-56cc-41dd-ba78-e55d4e5121a0" providerId="AD" clId="Web-{00000000-0000-0000-0000-000000000000}" dt="2026-10-25T07:26:19.054" v="8"/>
        <pc:sldMkLst>
          <pc:docMk/>
          <pc:sldMk cId="3594027622" sldId="268"/>
        </pc:sldMkLst>
      </pc:sldChg>
      <pc:sldChg chg="del">
        <pc:chgData name="Ivan TAN Wei Han" userId="S::ivantan@smu.edu.sg::bcdc89b8-56cc-41dd-ba78-e55d4e5121a0" providerId="AD" clId="Web-{00000000-0000-0000-0000-000000000000}" dt="2026-10-25T07:26:32.648" v="9"/>
        <pc:sldMkLst>
          <pc:docMk/>
          <pc:sldMk cId="1513630709" sldId="278"/>
        </pc:sldMkLst>
      </pc:sldChg>
      <pc:sldChg chg="del">
        <pc:chgData name="Ivan TAN Wei Han" userId="S::ivantan@smu.edu.sg::bcdc89b8-56cc-41dd-ba78-e55d4e5121a0" providerId="AD" clId="Web-{00000000-0000-0000-0000-000000000000}" dt="2026-10-25T07:26:05.163" v="2"/>
        <pc:sldMkLst>
          <pc:docMk/>
          <pc:sldMk cId="4252927841" sldId="285"/>
        </pc:sldMkLst>
      </pc:sldChg>
    </pc:docChg>
  </pc:docChgLst>
  <pc:docChgLst>
    <pc:chgData name="LAU Yi Meng" userId="S::ymlau@smu.edu.sg::e79adfab-fcb3-4181-8bc0-9e7892d33c58" providerId="AD" clId="Web-{5111EF8B-9874-4FA5-3996-D728DF6D3849}"/>
    <pc:docChg chg="mod">
      <pc:chgData name="LAU Yi Meng" userId="S::ymlau@smu.edu.sg::e79adfab-fcb3-4181-8bc0-9e7892d33c58" providerId="AD" clId="Web-{5111EF8B-9874-4FA5-3996-D728DF6D3849}" dt="2026-10-23T09:55:06.899" v="0"/>
      <pc:docMkLst>
        <pc:docMk/>
      </pc:docMkLst>
    </pc:docChg>
  </pc:docChgLst>
  <pc:docChgLst>
    <pc:chgData name="Rajesh Krishna BALAN" userId="S::rajesh@smu.edu.sg::18290a93-1287-40e3-b20f-c7f59a18016f" providerId="AD" clId="Web-{2C526B42-2572-7969-4B37-D57B9DE3D8C6}"/>
    <pc:docChg chg="modSld">
      <pc:chgData name="Rajesh Krishna BALAN" userId="S::rajesh@smu.edu.sg::18290a93-1287-40e3-b20f-c7f59a18016f" providerId="AD" clId="Web-{2C526B42-2572-7969-4B37-D57B9DE3D8C6}" dt="2026-10-26T08:34:45.444" v="2" actId="14100"/>
      <pc:docMkLst>
        <pc:docMk/>
      </pc:docMkLst>
      <pc:sldChg chg="modSp">
        <pc:chgData name="Rajesh Krishna BALAN" userId="S::rajesh@smu.edu.sg::18290a93-1287-40e3-b20f-c7f59a18016f" providerId="AD" clId="Web-{2C526B42-2572-7969-4B37-D57B9DE3D8C6}" dt="2026-10-26T08:34:45.444" v="2" actId="14100"/>
        <pc:sldMkLst>
          <pc:docMk/>
          <pc:sldMk cId="1394506334" sldId="266"/>
        </pc:sldMkLst>
        <pc:spChg chg="mod">
          <ac:chgData name="Rajesh Krishna BALAN" userId="S::rajesh@smu.edu.sg::18290a93-1287-40e3-b20f-c7f59a18016f" providerId="AD" clId="Web-{2C526B42-2572-7969-4B37-D57B9DE3D8C6}" dt="2026-10-26T08:34:45.444" v="2" actId="14100"/>
          <ac:spMkLst>
            <pc:docMk/>
            <pc:sldMk cId="1394506334" sldId="266"/>
            <ac:spMk id="9" creationId="{3C05F446-7E48-C388-5966-4A32DBE5EBCE}"/>
          </ac:spMkLst>
        </pc:spChg>
      </pc:sldChg>
    </pc:docChg>
  </pc:docChgLst>
  <pc:docChgLst>
    <pc:chgData name="Ivan TAN Wei Han" userId="S::ivantan@smu.edu.sg::bcdc89b8-56cc-41dd-ba78-e55d4e5121a0" providerId="AD" clId="Web-{05913291-89C0-85A1-C4CC-603639BB8B62}"/>
    <pc:docChg chg="modSld">
      <pc:chgData name="Ivan TAN Wei Han" userId="S::ivantan@smu.edu.sg::bcdc89b8-56cc-41dd-ba78-e55d4e5121a0" providerId="AD" clId="Web-{05913291-89C0-85A1-C4CC-603639BB8B62}" dt="2026-10-25T17:06:18.785" v="155"/>
      <pc:docMkLst>
        <pc:docMk/>
      </pc:docMkLst>
      <pc:sldChg chg="modSp modCm">
        <pc:chgData name="Ivan TAN Wei Han" userId="S::ivantan@smu.edu.sg::bcdc89b8-56cc-41dd-ba78-e55d4e5121a0" providerId="AD" clId="Web-{05913291-89C0-85A1-C4CC-603639BB8B62}" dt="2026-10-25T17:04:15" v="1" actId="20577"/>
        <pc:sldMkLst>
          <pc:docMk/>
          <pc:sldMk cId="1394506334" sldId="266"/>
        </pc:sldMkLst>
        <pc:spChg chg="mod">
          <ac:chgData name="Ivan TAN Wei Han" userId="S::ivantan@smu.edu.sg::bcdc89b8-56cc-41dd-ba78-e55d4e5121a0" providerId="AD" clId="Web-{05913291-89C0-85A1-C4CC-603639BB8B62}" dt="2026-10-25T17:04:15" v="1" actId="20577"/>
          <ac:spMkLst>
            <pc:docMk/>
            <pc:sldMk cId="1394506334" sldId="266"/>
            <ac:spMk id="8" creationId="{9CA05C5D-904D-DB93-C403-026146120B5E}"/>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15" v="1" actId="20577"/>
              <pc2:cmMkLst xmlns:pc2="http://schemas.microsoft.com/office/powerpoint/2019/9/main/command">
                <pc:docMk/>
                <pc:sldMk cId="1394506334" sldId="266"/>
                <pc2:cmMk id="{0C26CCD8-EC46-BB4D-A1A3-E77CE3F7C3B3}"/>
              </pc2:cmMkLst>
            </pc226:cmChg>
          </p:ext>
        </pc:extLst>
      </pc:sldChg>
      <pc:sldChg chg="modSp modCm">
        <pc:chgData name="Ivan TAN Wei Han" userId="S::ivantan@smu.edu.sg::bcdc89b8-56cc-41dd-ba78-e55d4e5121a0" providerId="AD" clId="Web-{05913291-89C0-85A1-C4CC-603639BB8B62}" dt="2026-10-25T17:04:23.532" v="3" actId="20577"/>
        <pc:sldMkLst>
          <pc:docMk/>
          <pc:sldMk cId="1949106433" sldId="267"/>
        </pc:sldMkLst>
        <pc:spChg chg="mod">
          <ac:chgData name="Ivan TAN Wei Han" userId="S::ivantan@smu.edu.sg::bcdc89b8-56cc-41dd-ba78-e55d4e5121a0" providerId="AD" clId="Web-{05913291-89C0-85A1-C4CC-603639BB8B62}" dt="2026-10-25T17:04:23.532" v="3" actId="20577"/>
          <ac:spMkLst>
            <pc:docMk/>
            <pc:sldMk cId="1949106433" sldId="267"/>
            <ac:spMk id="8" creationId="{189DA051-3389-4020-DA87-716B3ADB2604}"/>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23.532" v="3" actId="20577"/>
              <pc2:cmMkLst xmlns:pc2="http://schemas.microsoft.com/office/powerpoint/2019/9/main/command">
                <pc:docMk/>
                <pc:sldMk cId="1949106433" sldId="267"/>
                <pc2:cmMk id="{96186A05-F8E6-CA46-B3A7-B52E048ADA6A}"/>
              </pc2:cmMkLst>
            </pc226:cmChg>
          </p:ext>
        </pc:extLst>
      </pc:sldChg>
      <pc:sldChg chg="modSp modCm">
        <pc:chgData name="Ivan TAN Wei Han" userId="S::ivantan@smu.edu.sg::bcdc89b8-56cc-41dd-ba78-e55d4e5121a0" providerId="AD" clId="Web-{05913291-89C0-85A1-C4CC-603639BB8B62}" dt="2026-10-25T17:04:46.126" v="34"/>
        <pc:sldMkLst>
          <pc:docMk/>
          <pc:sldMk cId="192733176" sldId="271"/>
        </pc:sldMkLst>
        <pc:spChg chg="mod">
          <ac:chgData name="Ivan TAN Wei Han" userId="S::ivantan@smu.edu.sg::bcdc89b8-56cc-41dd-ba78-e55d4e5121a0" providerId="AD" clId="Web-{05913291-89C0-85A1-C4CC-603639BB8B62}" dt="2026-10-25T17:04:31.329" v="4" actId="20577"/>
          <ac:spMkLst>
            <pc:docMk/>
            <pc:sldMk cId="192733176" sldId="271"/>
            <ac:spMk id="5" creationId="{D2674F16-F327-9437-BF58-DD6F5C618F0A}"/>
          </ac:spMkLst>
        </pc:spChg>
        <pc:graphicFrameChg chg="mod modGraphic">
          <ac:chgData name="Ivan TAN Wei Han" userId="S::ivantan@smu.edu.sg::bcdc89b8-56cc-41dd-ba78-e55d4e5121a0" providerId="AD" clId="Web-{05913291-89C0-85A1-C4CC-603639BB8B62}" dt="2026-10-25T17:04:46.126" v="34"/>
          <ac:graphicFrameMkLst>
            <pc:docMk/>
            <pc:sldMk cId="192733176" sldId="271"/>
            <ac:graphicFrameMk id="2" creationId="{EBD23CCC-25B0-50A5-D420-106D3AF20D51}"/>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46.126" v="33"/>
              <pc2:cmMkLst xmlns:pc2="http://schemas.microsoft.com/office/powerpoint/2019/9/main/command">
                <pc:docMk/>
                <pc:sldMk cId="192733176" sldId="271"/>
                <pc2:cmMk id="{0781A05B-E5A7-6E4B-8552-5F015FF3ACBA}"/>
              </pc2:cmMkLst>
            </pc226:cmChg>
          </p:ext>
        </pc:extLst>
      </pc:sldChg>
      <pc:sldChg chg="modSp modCm">
        <pc:chgData name="Ivan TAN Wei Han" userId="S::ivantan@smu.edu.sg::bcdc89b8-56cc-41dd-ba78-e55d4e5121a0" providerId="AD" clId="Web-{05913291-89C0-85A1-C4CC-603639BB8B62}" dt="2026-10-25T17:04:56.033" v="39" actId="20577"/>
        <pc:sldMkLst>
          <pc:docMk/>
          <pc:sldMk cId="1700897261" sldId="272"/>
        </pc:sldMkLst>
        <pc:spChg chg="mod">
          <ac:chgData name="Ivan TAN Wei Han" userId="S::ivantan@smu.edu.sg::bcdc89b8-56cc-41dd-ba78-e55d4e5121a0" providerId="AD" clId="Web-{05913291-89C0-85A1-C4CC-603639BB8B62}" dt="2026-10-25T17:04:56.033" v="39" actId="20577"/>
          <ac:spMkLst>
            <pc:docMk/>
            <pc:sldMk cId="1700897261" sldId="272"/>
            <ac:spMk id="4" creationId="{10487658-DD80-FD75-1EE7-3E6753B34BF5}"/>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56.033" v="39" actId="20577"/>
              <pc2:cmMkLst xmlns:pc2="http://schemas.microsoft.com/office/powerpoint/2019/9/main/command">
                <pc:docMk/>
                <pc:sldMk cId="1700897261" sldId="272"/>
                <pc2:cmMk id="{5440B4D6-91A3-7A40-A556-0FF893E58F3E}"/>
              </pc2:cmMkLst>
            </pc226:cmChg>
          </p:ext>
        </pc:extLst>
      </pc:sldChg>
      <pc:sldChg chg="modSp modCm">
        <pc:chgData name="Ivan TAN Wei Han" userId="S::ivantan@smu.edu.sg::bcdc89b8-56cc-41dd-ba78-e55d4e5121a0" providerId="AD" clId="Web-{05913291-89C0-85A1-C4CC-603639BB8B62}" dt="2026-10-25T17:06:18.785" v="155"/>
        <pc:sldMkLst>
          <pc:docMk/>
          <pc:sldMk cId="3674628644" sldId="274"/>
        </pc:sldMkLst>
        <pc:graphicFrameChg chg="mod modGraphic">
          <ac:chgData name="Ivan TAN Wei Han" userId="S::ivantan@smu.edu.sg::bcdc89b8-56cc-41dd-ba78-e55d4e5121a0" providerId="AD" clId="Web-{05913291-89C0-85A1-C4CC-603639BB8B62}" dt="2026-10-25T17:06:18.785" v="155"/>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6:18.785" v="154"/>
              <pc2:cmMkLst xmlns:pc2="http://schemas.microsoft.com/office/powerpoint/2019/9/main/command">
                <pc:docMk/>
                <pc:sldMk cId="3674628644" sldId="274"/>
                <pc2:cmMk id="{AB36BC71-4550-6247-BAF1-67E98FE7D447}"/>
              </pc2:cmMkLst>
            </pc226:cmChg>
            <pc226:cmChg xmlns:pc226="http://schemas.microsoft.com/office/powerpoint/2022/06/main/command" chg="mod">
              <pc226:chgData name="Ivan TAN Wei Han" userId="S::ivantan@smu.edu.sg::bcdc89b8-56cc-41dd-ba78-e55d4e5121a0" providerId="AD" clId="Web-{05913291-89C0-85A1-C4CC-603639BB8B62}" dt="2026-10-25T17:05:02.955" v="40"/>
              <pc2:cmMkLst xmlns:pc2="http://schemas.microsoft.com/office/powerpoint/2019/9/main/command">
                <pc:docMk/>
                <pc:sldMk cId="3674628644" sldId="274"/>
                <pc2:cmMk id="{8C286977-3006-A642-9FA2-0C3C928F5E52}"/>
              </pc2:cmMkLst>
            </pc226:cmChg>
          </p:ext>
        </pc:ext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49688" y="0"/>
            <a:ext cx="2946400" cy="496888"/>
          </a:xfrm>
          <a:prstGeom prst="rect">
            <a:avLst/>
          </a:prstGeom>
        </p:spPr>
        <p:txBody>
          <a:bodyPr vert="horz" lIns="91440" tIns="45720" rIns="91440" bIns="45720" rtlCol="0"/>
          <a:lstStyle>
            <a:lvl1pPr algn="r">
              <a:defRPr sz="1200"/>
            </a:lvl1pPr>
          </a:lstStyle>
          <a:p>
            <a:fld id="{FAA46ED6-AC80-4E9E-9326-F4554046674A}" type="datetimeFigureOut">
              <a:rPr lang="en-US" smtClean="0"/>
              <a:t>10/26/26</a:t>
            </a:fld>
            <a:endParaRPr lang="en-US"/>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79450" y="4776788"/>
            <a:ext cx="5438775" cy="390842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29750"/>
            <a:ext cx="2946400" cy="49688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49688" y="9429750"/>
            <a:ext cx="2946400" cy="496888"/>
          </a:xfrm>
          <a:prstGeom prst="rect">
            <a:avLst/>
          </a:prstGeom>
        </p:spPr>
        <p:txBody>
          <a:bodyPr vert="horz" lIns="91440" tIns="45720" rIns="91440" bIns="45720" rtlCol="0" anchor="b"/>
          <a:lstStyle>
            <a:lvl1pPr algn="r">
              <a:defRPr sz="1200"/>
            </a:lvl1pPr>
          </a:lstStyle>
          <a:p>
            <a:fld id="{7F7853E0-55EB-47E7-85EC-456363FC200E}" type="slidenum">
              <a:rPr lang="en-US" smtClean="0"/>
              <a:t>‹#›</a:t>
            </a:fld>
            <a:endParaRPr lang="en-US"/>
          </a:p>
        </p:txBody>
      </p:sp>
    </p:spTree>
    <p:extLst>
      <p:ext uri="{BB962C8B-B14F-4D97-AF65-F5344CB8AC3E}">
        <p14:creationId xmlns:p14="http://schemas.microsoft.com/office/powerpoint/2010/main" val="2032814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 Id="rId4"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9CB35AC7-6991-4DF6-9B8D-80726AB1065E}"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cxnSp>
        <p:nvCxnSpPr>
          <p:cNvPr id="11" name="Straight Connector 10"/>
          <p:cNvCxnSpPr/>
          <p:nvPr userDrawn="1"/>
        </p:nvCxnSpPr>
        <p:spPr>
          <a:xfrm>
            <a:off x="0" y="1250297"/>
            <a:ext cx="12192000" cy="0"/>
          </a:xfrm>
          <a:prstGeom prst="line">
            <a:avLst/>
          </a:prstGeom>
          <a:ln>
            <a:solidFill>
              <a:srgbClr val="D5A10F"/>
            </a:solidFill>
          </a:ln>
        </p:spPr>
        <p:style>
          <a:lnRef idx="1">
            <a:schemeClr val="accent1"/>
          </a:lnRef>
          <a:fillRef idx="0">
            <a:schemeClr val="accent1"/>
          </a:fillRef>
          <a:effectRef idx="0">
            <a:schemeClr val="accent1"/>
          </a:effectRef>
          <a:fontRef idx="minor">
            <a:schemeClr val="tx1"/>
          </a:fontRef>
        </p:style>
      </p:cxnSp>
      <p:pic>
        <p:nvPicPr>
          <p:cNvPr id="7" name="Picture 6"/>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2732852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srcRect l="-1" r="49658"/>
          <a:stretch/>
        </p:blipFill>
        <p:spPr>
          <a:xfrm>
            <a:off x="1" y="1"/>
            <a:ext cx="12191999" cy="1362268"/>
          </a:xfrm>
          <a:prstGeom prst="rect">
            <a:avLst/>
          </a:prstGeom>
        </p:spPr>
      </p:pic>
      <p:cxnSp>
        <p:nvCxnSpPr>
          <p:cNvPr id="4" name="Straight Connector 3"/>
          <p:cNvCxnSpPr/>
          <p:nvPr userDrawn="1"/>
        </p:nvCxnSpPr>
        <p:spPr>
          <a:xfrm>
            <a:off x="0" y="1362269"/>
            <a:ext cx="12192000" cy="0"/>
          </a:xfrm>
          <a:prstGeom prst="line">
            <a:avLst/>
          </a:prstGeom>
          <a:ln>
            <a:solidFill>
              <a:srgbClr val="D5A10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6897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8" name="Picture 7" descr="1.jpg"/>
          <p:cNvPicPr>
            <a:picLocks noChangeAspect="1"/>
          </p:cNvPicPr>
          <p:nvPr userDrawn="1"/>
        </p:nvPicPr>
        <p:blipFill>
          <a:blip r:embed="rId2" cstate="screen">
            <a:alphaModFix amt="3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a:ext>
            </a:extLst>
          </a:blip>
          <a:stretch>
            <a:fillRect/>
          </a:stretch>
        </p:blipFill>
        <p:spPr>
          <a:xfrm>
            <a:off x="1426724" y="692513"/>
            <a:ext cx="10765276" cy="6165487"/>
          </a:xfrm>
          <a:prstGeom prst="rect">
            <a:avLst/>
          </a:prstGeom>
          <a:noFill/>
        </p:spPr>
      </p:pic>
      <p:pic>
        <p:nvPicPr>
          <p:cNvPr id="4" name="Picture 3"/>
          <p:cNvPicPr>
            <a:picLocks noChangeAspect="1"/>
          </p:cNvPicPr>
          <p:nvPr userDrawn="1"/>
        </p:nvPicPr>
        <p:blipFill>
          <a:blip r:embed="rId4"/>
          <a:stretch>
            <a:fillRect/>
          </a:stretch>
        </p:blipFill>
        <p:spPr>
          <a:xfrm>
            <a:off x="0" y="-4761"/>
            <a:ext cx="12192000" cy="685800"/>
          </a:xfrm>
          <a:prstGeom prst="rect">
            <a:avLst/>
          </a:prstGeom>
        </p:spPr>
      </p:pic>
    </p:spTree>
    <p:extLst>
      <p:ext uri="{BB962C8B-B14F-4D97-AF65-F5344CB8AC3E}">
        <p14:creationId xmlns:p14="http://schemas.microsoft.com/office/powerpoint/2010/main" val="4223064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2248805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CB35AC7-6991-4DF6-9B8D-80726AB1065E}" type="datetimeFigureOut">
              <a:rPr lang="en-US" smtClean="0"/>
              <a:t>10/26/26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F3BB403-3C91-4F9A-B9F9-99CD09F48044}" type="slidenum">
              <a:rPr lang="en-US" smtClean="0"/>
              <a:t>‹#›</a:t>
            </a:fld>
            <a:endParaRPr lang="en-US"/>
          </a:p>
        </p:txBody>
      </p:sp>
      <p:pic>
        <p:nvPicPr>
          <p:cNvPr id="11" name="Picture 10"/>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37956578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CB35AC7-6991-4DF6-9B8D-80726AB1065E}" type="datetimeFigureOut">
              <a:rPr lang="en-US" smtClean="0"/>
              <a:t>10/26/26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461690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CB35AC7-6991-4DF6-9B8D-80726AB1065E}" type="datetimeFigureOut">
              <a:rPr lang="en-US" smtClean="0"/>
              <a:t>10/26/26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317446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CB35AC7-6991-4DF6-9B8D-80726AB1065E}" type="datetimeFigureOut">
              <a:rPr lang="en-US" smtClean="0"/>
              <a:t>10/26/26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3241051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CB35AC7-6991-4DF6-9B8D-80726AB1065E}" type="datetimeFigureOut">
              <a:rPr lang="en-US" smtClean="0"/>
              <a:t>10/26/26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4069526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CB35AC7-6991-4DF6-9B8D-80726AB1065E}"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5066252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CB35AC7-6991-4DF6-9B8D-80726AB1065E}"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8907531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CB35AC7-6991-4DF6-9B8D-80726AB1065E}" type="datetimeFigureOut">
              <a:rPr lang="en-US" smtClean="0"/>
              <a:t>10/26/26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F3BB403-3C91-4F9A-B9F9-99CD09F48044}" type="slidenum">
              <a:rPr lang="en-US" smtClean="0"/>
              <a:t>‹#›</a:t>
            </a:fld>
            <a:endParaRPr lang="en-US"/>
          </a:p>
        </p:txBody>
      </p:sp>
      <p:sp>
        <p:nvSpPr>
          <p:cNvPr id="7" name="MSIPCMContentMarking" descr="{&quot;HashCode&quot;:1068245140,&quot;Placement&quot;:&quot;Header&quot;,&quot;Top&quot;:0.0,&quot;Left&quot;:421.1819,&quot;SlideWidth&quot;:960,&quot;SlideHeight&quot;:540}">
            <a:extLst>
              <a:ext uri="{FF2B5EF4-FFF2-40B4-BE49-F238E27FC236}">
                <a16:creationId xmlns:a16="http://schemas.microsoft.com/office/drawing/2014/main" id="{2310539E-D75D-FDBC-2824-E3DBBE47B3B5}"/>
              </a:ext>
            </a:extLst>
          </p:cNvPr>
          <p:cNvSpPr txBox="1"/>
          <p:nvPr userDrawn="1"/>
        </p:nvSpPr>
        <p:spPr>
          <a:xfrm>
            <a:off x="5349010" y="0"/>
            <a:ext cx="1493980" cy="228163"/>
          </a:xfrm>
          <a:prstGeom prst="rect">
            <a:avLst/>
          </a:prstGeom>
          <a:noFill/>
        </p:spPr>
        <p:txBody>
          <a:bodyPr vert="horz" wrap="square" lIns="0" tIns="0" rIns="0" bIns="0" rtlCol="0" anchor="ctr" anchorCtr="1">
            <a:spAutoFit/>
          </a:bodyPr>
          <a:lstStyle/>
          <a:p>
            <a:pPr algn="ctr">
              <a:spcBef>
                <a:spcPts val="0"/>
              </a:spcBef>
              <a:spcAft>
                <a:spcPts val="0"/>
              </a:spcAft>
            </a:pPr>
            <a:r>
              <a:rPr lang="en-US" sz="800">
                <a:solidFill>
                  <a:srgbClr val="000000"/>
                </a:solidFill>
                <a:latin typeface="Calibri" panose="020F0502020204030204" pitchFamily="34" charset="0"/>
              </a:rPr>
              <a:t>SMU Classification: Restricted</a:t>
            </a:r>
          </a:p>
        </p:txBody>
      </p:sp>
    </p:spTree>
    <p:extLst>
      <p:ext uri="{BB962C8B-B14F-4D97-AF65-F5344CB8AC3E}">
        <p14:creationId xmlns:p14="http://schemas.microsoft.com/office/powerpoint/2010/main" val="41298672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2F105FB-5C49-7C46-A92F-06252C58D053}"/>
              </a:ext>
            </a:extLst>
          </p:cNvPr>
          <p:cNvSpPr txBox="1">
            <a:spLocks noChangeArrowheads="1"/>
          </p:cNvSpPr>
          <p:nvPr/>
        </p:nvSpPr>
        <p:spPr>
          <a:xfrm>
            <a:off x="2099616" y="3079416"/>
            <a:ext cx="7772400" cy="6991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sz="2800" b="1"/>
            </a:pPr>
            <a:r>
              <a:t>ConnectSphere — IS212 Project Presentation</a:t>
            </a:r>
          </a:p>
          <a:p>
            <a:pPr>
              <a:defRPr sz="2800" b="1"/>
            </a:pPr>
            <a:r>
              <a:t>AY2026/27 Team: ConnectSphere</a:t>
            </a:r>
          </a:p>
        </p:txBody>
      </p:sp>
    </p:spTree>
    <p:extLst>
      <p:ext uri="{BB962C8B-B14F-4D97-AF65-F5344CB8AC3E}">
        <p14:creationId xmlns:p14="http://schemas.microsoft.com/office/powerpoint/2010/main" val="10130281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A3E1A66-D8B6-0CD0-2946-3FBA66B2EEA9}"/>
              </a:ext>
            </a:extLst>
          </p:cNvPr>
          <p:cNvSpPr txBox="1">
            <a:spLocks noChangeArrowheads="1"/>
          </p:cNvSpPr>
          <p:nvPr/>
        </p:nvSpPr>
        <p:spPr>
          <a:xfrm>
            <a:off x="5648359" y="38779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Index</a:t>
            </a:r>
          </a:p>
        </p:txBody>
      </p:sp>
      <p:sp>
        <p:nvSpPr>
          <p:cNvPr id="4" name="TextBox 3">
            <a:extLst>
              <a:ext uri="{FF2B5EF4-FFF2-40B4-BE49-F238E27FC236}">
                <a16:creationId xmlns:a16="http://schemas.microsoft.com/office/drawing/2014/main" id="{3155F615-341E-FCEA-6E2C-30D60F780979}"/>
              </a:ext>
            </a:extLst>
          </p:cNvPr>
          <p:cNvSpPr txBox="1"/>
          <p:nvPr/>
        </p:nvSpPr>
        <p:spPr>
          <a:xfrm>
            <a:off x="340014" y="1448551"/>
            <a:ext cx="11511971" cy="369332"/>
          </a:xfrm>
          <a:prstGeom prst="rect">
            <a:avLst/>
          </a:prstGeom>
          <a:noFill/>
        </p:spPr>
        <p:txBody>
          <a:bodyPr wrap="square">
            <a:spAutoFit/>
          </a:bodyPr>
          <a:lstStyle/>
          <a:p>
            <a:pPr lvl="0"/>
            <a:r>
              <a:rPr lang="en-SG"/>
              <a:t>This page acts as a “content page” for your project.</a:t>
            </a:r>
          </a:p>
        </p:txBody>
      </p:sp>
      <p:graphicFrame>
        <p:nvGraphicFramePr>
          <p:cNvPr id="6" name="Table 5">
            <a:extLst>
              <a:ext uri="{FF2B5EF4-FFF2-40B4-BE49-F238E27FC236}">
                <a16:creationId xmlns:a16="http://schemas.microsoft.com/office/drawing/2014/main" id="{E0E7A347-10AC-03FB-10E2-56AA362B959B}"/>
              </a:ext>
            </a:extLst>
          </p:cNvPr>
          <p:cNvGraphicFramePr>
            <a:graphicFrameLocks noGrp="1"/>
          </p:cNvGraphicFramePr>
          <p:nvPr>
            <p:extLst>
              <p:ext uri="{D42A27DB-BD31-4B8C-83A1-F6EECF244321}">
                <p14:modId xmlns:p14="http://schemas.microsoft.com/office/powerpoint/2010/main" val="2871386978"/>
              </p:ext>
            </p:extLst>
          </p:nvPr>
        </p:nvGraphicFramePr>
        <p:xfrm>
          <a:off x="457811" y="1916036"/>
          <a:ext cx="11276376" cy="46939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76270489"/>
                    </a:ext>
                  </a:extLst>
                </a:gridCol>
                <a:gridCol w="7212376">
                  <a:extLst>
                    <a:ext uri="{9D8B030D-6E8A-4147-A177-3AD203B41FA5}">
                      <a16:colId xmlns:a16="http://schemas.microsoft.com/office/drawing/2014/main" val="2851217706"/>
                    </a:ext>
                  </a:extLst>
                </a:gridCol>
              </a:tblGrid>
              <a:tr h="370840">
                <a:tc>
                  <a:txBody>
                    <a:bodyPr/>
                    <a:lstStyle/>
                    <a:p>
                      <a:pPr>
                        <a:defRPr sz="1100"/>
                      </a:pPr>
                      <a:r>
                        <a:rPr lang="en-US"/>
                        <a:t>Item</a:t>
                      </a:r>
                    </a:p>
                  </a:txBody>
                  <a:tcPr/>
                </a:tc>
                <a:tc>
                  <a:txBody>
                    <a:bodyPr/>
                    <a:lstStyle/>
                    <a:p>
                      <a:pPr>
                        <a:defRPr sz="1100"/>
                      </a:pPr>
                      <a:r>
                        <a:rPr lang="en-US"/>
                        <a:t>URL, location or file/folder name in zip file</a:t>
                      </a:r>
                    </a:p>
                  </a:txBody>
                  <a:tcPr/>
                </a:tc>
                <a:extLst>
                  <a:ext uri="{0D108BD9-81ED-4DB2-BD59-A6C34878D82A}">
                    <a16:rowId xmlns:a16="http://schemas.microsoft.com/office/drawing/2014/main" val="110375466"/>
                  </a:ext>
                </a:extLst>
              </a:tr>
              <a:tr h="370840">
                <a:tc>
                  <a:txBody>
                    <a:bodyPr/>
                    <a:lstStyle/>
                    <a:p>
                      <a:pPr>
                        <a:defRPr sz="1100"/>
                      </a:pPr>
                      <a:r>
                        <a:rPr lang="en-US"/>
                        <a:t>Product backlog</a:t>
                      </a:r>
                    </a:p>
                  </a:txBody>
                  <a:tcPr/>
                </a:tc>
                <a:tc>
                  <a:txBody>
                    <a:bodyPr/>
                    <a:lstStyle/>
                    <a:p>
                      <a:pPr>
                        <a:defRPr sz="1100"/>
                      </a:pPr>
                      <a:r>
                        <a:t>docs/CONNECTSPHERE BACKLOGS CAA 281026.xlsx and docs/backlog/</a:t>
                      </a:r>
                    </a:p>
                  </a:txBody>
                  <a:tcPr/>
                </a:tc>
                <a:extLst>
                  <a:ext uri="{0D108BD9-81ED-4DB2-BD59-A6C34878D82A}">
                    <a16:rowId xmlns:a16="http://schemas.microsoft.com/office/drawing/2014/main" val="3996746580"/>
                  </a:ext>
                </a:extLst>
              </a:tr>
              <a:tr h="370840">
                <a:tc>
                  <a:txBody>
                    <a:bodyPr/>
                    <a:lstStyle/>
                    <a:p>
                      <a:pPr>
                        <a:defRPr sz="1100"/>
                      </a:pPr>
                      <a:r>
                        <a:rPr lang="en-US"/>
                        <a:t>Git URL (e.g. GitHub)</a:t>
                      </a:r>
                      <a:br>
                        <a:rPr lang="en-US"/>
                      </a:br>
                      <a:r>
                        <a:rPr lang="en-US" i="1"/>
                        <a:t>(remember to add your two instructors to the repository; see instructions)</a:t>
                      </a:r>
                    </a:p>
                  </a:txBody>
                  <a:tcPr/>
                </a:tc>
                <a:tc>
                  <a:txBody>
                    <a:bodyPr/>
                    <a:lstStyle/>
                    <a:p>
                      <a:pPr>
                        <a:defRPr sz="1100"/>
                      </a:pPr>
                      <a:r>
                        <a:t>https://github.com/hongyime/sgConnectSphere2026</a:t>
                      </a:r>
                    </a:p>
                  </a:txBody>
                  <a:tcPr/>
                </a:tc>
                <a:extLst>
                  <a:ext uri="{0D108BD9-81ED-4DB2-BD59-A6C34878D82A}">
                    <a16:rowId xmlns:a16="http://schemas.microsoft.com/office/drawing/2014/main" val="3624267888"/>
                  </a:ext>
                </a:extLst>
              </a:tr>
              <a:tr h="370840">
                <a:tc>
                  <a:txBody>
                    <a:bodyPr/>
                    <a:lstStyle/>
                    <a:p>
                      <a:pPr>
                        <a:defRPr sz="1100"/>
                      </a:pPr>
                      <a:r>
                        <a:rPr lang="en-US"/>
                        <a:t>Exports of project management tools (e.g. Google Sheets, Jira, Notion docs, …)</a:t>
                      </a:r>
                    </a:p>
                  </a:txBody>
                  <a:tcPr/>
                </a:tc>
                <a:tc>
                  <a:txBody>
                    <a:bodyPr/>
                    <a:lstStyle/>
                    <a:p>
                      <a:pPr>
                        <a:defRPr sz="1100"/>
                      </a:pPr>
                      <a:r>
                        <a:t>docs/CONNECTSPHERE BACKLOGS CAA 281026.xlsx, docs/testing/PROJECT TEST CASES CAA 281026.xlsx, Jira Board 1</a:t>
                      </a:r>
                    </a:p>
                  </a:txBody>
                  <a:tcPr/>
                </a:tc>
                <a:extLst>
                  <a:ext uri="{0D108BD9-81ED-4DB2-BD59-A6C34878D82A}">
                    <a16:rowId xmlns:a16="http://schemas.microsoft.com/office/drawing/2014/main" val="25586489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100"/>
                      </a:pPr>
                      <a:r>
                        <a:rPr lang="en-US"/>
                        <a:t>Video recording URLs of sprint 4 scrum ceremonies</a:t>
                      </a:r>
                    </a:p>
                  </a:txBody>
                  <a:tcPr/>
                </a:tc>
                <a:tc>
                  <a:txBody>
                    <a:bodyPr/>
                    <a:lstStyle/>
                    <a:p>
                      <a:pPr>
                        <a:defRPr sz="1100"/>
                      </a:pPr>
                      <a:r>
                        <a:t>Sprint 4 Ceremonies: Standup, Review, Retrospective - recording links to be inserted before submission (not yet in the repo)</a:t>
                      </a:r>
                    </a:p>
                  </a:txBody>
                  <a:tcPr/>
                </a:tc>
                <a:extLst>
                  <a:ext uri="{0D108BD9-81ED-4DB2-BD59-A6C34878D82A}">
                    <a16:rowId xmlns:a16="http://schemas.microsoft.com/office/drawing/2014/main" val="1706105453"/>
                  </a:ext>
                </a:extLst>
              </a:tr>
              <a:tr h="370840">
                <a:tc>
                  <a:txBody>
                    <a:bodyPr/>
                    <a:lstStyle/>
                    <a:p>
                      <a:pPr>
                        <a:defRPr sz="1100"/>
                      </a:pPr>
                      <a:r>
                        <a:t>Interactive Metrics Dashboard (PostPlan)</a:t>
                      </a:r>
                    </a:p>
                  </a:txBody>
                  <a:tcPr/>
                </a:tc>
                <a:tc>
                  <a:txBody>
                    <a:bodyPr/>
                    <a:lstStyle/>
                    <a:p>
                      <a:pPr>
                        <a:defRPr sz="1100"/>
                      </a:pPr>
                      <a:r>
                        <a:t>https://5p9t29p9jotq.postplan.dev (Draft ID: 5p9t29p9jotq)</a:t>
                      </a:r>
                    </a:p>
                  </a:txBody>
                  <a:tcPr/>
                </a:tc>
                <a:extLst>
                  <a:ext uri="{0D108BD9-81ED-4DB2-BD59-A6C34878D82A}">
                    <a16:rowId xmlns:a16="http://schemas.microsoft.com/office/drawing/2014/main" val="690200951"/>
                  </a:ext>
                </a:extLst>
              </a:tr>
              <a:tr h="370840">
                <a:tc>
                  <a:txBody>
                    <a:bodyPr/>
                    <a:lstStyle/>
                    <a:p>
                      <a:pPr>
                        <a:defRPr sz="1100"/>
                      </a:pPr>
                      <a:r>
                        <a:t>Architecture &amp; C4 Models</a:t>
                      </a:r>
                    </a:p>
                  </a:txBody>
                  <a:tcPr/>
                </a:tc>
                <a:tc>
                  <a:txBody>
                    <a:bodyPr/>
                    <a:lstStyle/>
                    <a:p>
                      <a:pPr>
                        <a:defRPr sz="1100"/>
                      </a:pPr>
                      <a:r>
                        <a:t>docs/c4-diagrams.md (C4 C1/C2 Mermaid) and docs/architecture.md</a:t>
                      </a:r>
                    </a:p>
                  </a:txBody>
                  <a:tcPr/>
                </a:tc>
                <a:extLst>
                  <a:ext uri="{0D108BD9-81ED-4DB2-BD59-A6C34878D82A}">
                    <a16:rowId xmlns:a16="http://schemas.microsoft.com/office/drawing/2014/main" val="4070079325"/>
                  </a:ext>
                </a:extLst>
              </a:tr>
              <a:tr h="370840">
                <a:tc>
                  <a:txBody>
                    <a:bodyPr/>
                    <a:lstStyle/>
                    <a:p>
                      <a:pPr>
                        <a:defRPr sz="1100"/>
                      </a:pPr>
                      <a:r>
                        <a:t>Audit Trails &amp; Test Runs</a:t>
                      </a:r>
                    </a:p>
                  </a:txBody>
                  <a:tcPr/>
                </a:tc>
                <a:tc>
                  <a:txBody>
                    <a:bodyPr/>
                    <a:lstStyle/>
                    <a:p>
                      <a:pPr>
                        <a:defRPr sz="1100"/>
                      </a:pPr>
                      <a:r>
                        <a:t>docs/testing/runs/ (739 records) &amp; docs/testing/runs/evidence/ (509 screenshots)</a:t>
                      </a:r>
                    </a:p>
                  </a:txBody>
                  <a:tcPr/>
                </a:tc>
                <a:extLst>
                  <a:ext uri="{0D108BD9-81ED-4DB2-BD59-A6C34878D82A}">
                    <a16:rowId xmlns:a16="http://schemas.microsoft.com/office/drawing/2014/main" val="4180673784"/>
                  </a:ext>
                </a:extLst>
              </a:tr>
              <a:tr h="370840">
                <a:tc>
                  <a:txBody>
                    <a:bodyPr/>
                    <a:lstStyle/>
                    <a:p>
                      <a:pPr>
                        <a:defRPr sz="1100"/>
                      </a:pPr>
                      <a:r>
                        <a:t>Decisions &amp; SOT</a:t>
                      </a:r>
                    </a:p>
                  </a:txBody>
                  <a:tcPr/>
                </a:tc>
                <a:tc>
                  <a:txBody>
                    <a:bodyPr/>
                    <a:lstStyle/>
                    <a:p>
                      <a:pPr>
                        <a:defRPr sz="1100"/>
                      </a:pPr>
                      <a:r>
                        <a:t>docs/bdr/B-team-decisions.md &amp; docs/source-of-truth.md</a:t>
                      </a:r>
                    </a:p>
                  </a:txBody>
                  <a:tcPr/>
                </a:tc>
                <a:extLst>
                  <a:ext uri="{0D108BD9-81ED-4DB2-BD59-A6C34878D82A}">
                    <a16:rowId xmlns:a16="http://schemas.microsoft.com/office/drawing/2014/main" val="4049637339"/>
                  </a:ext>
                </a:extLst>
              </a:tr>
            </a:tbl>
          </a:graphicData>
        </a:graphic>
      </p:graphicFrame>
    </p:spTree>
    <p:extLst>
      <p:ext uri="{BB962C8B-B14F-4D97-AF65-F5344CB8AC3E}">
        <p14:creationId xmlns:p14="http://schemas.microsoft.com/office/powerpoint/2010/main" val="11113234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DA8B45-FD63-2AF7-E6C3-CA68DA63B13A}"/>
              </a:ext>
            </a:extLst>
          </p:cNvPr>
          <p:cNvSpPr txBox="1"/>
          <p:nvPr/>
        </p:nvSpPr>
        <p:spPr>
          <a:xfrm>
            <a:off x="298111" y="1668888"/>
            <a:ext cx="11511971" cy="3416320"/>
          </a:xfrm>
          <a:prstGeom prst="rect">
            <a:avLst/>
          </a:prstGeom>
          <a:noFill/>
        </p:spPr>
        <p:txBody>
          <a:bodyPr wrap="square">
            <a:spAutoFit/>
          </a:bodyPr>
          <a:lstStyle/>
          <a:p>
            <a:pPr marL="342900" lvl="0" indent="-342900">
              <a:buFont typeface="Arial" panose="020B0604020202020204" pitchFamily="34" charset="0"/>
              <a:buChar char="•"/>
            </a:pPr>
            <a:r>
              <a:rPr lang="en-SG" b="1"/>
              <a:t>Do not add or delete any slide or question.</a:t>
            </a:r>
            <a:r>
              <a:rPr lang="en-SG"/>
              <a:t> If something does not apply, state “Not applicable” and explain why.</a:t>
            </a:r>
          </a:p>
          <a:p>
            <a:pPr marL="342900" lvl="0" indent="-342900">
              <a:buFont typeface="Arial" panose="020B0604020202020204" pitchFamily="34" charset="0"/>
              <a:buChar char="•"/>
            </a:pPr>
            <a:r>
              <a:rPr lang="en-SG" b="1"/>
              <a:t>Do not answer only with general statements.</a:t>
            </a:r>
            <a:r>
              <a:rPr lang="en-SG"/>
              <a:t> Cite evidence where appropriate or requested, tell us exactly where the relevant Jira item, pull request, commit, test, document, meeting record, or other artefact is. </a:t>
            </a:r>
          </a:p>
          <a:p>
            <a:pPr marL="342900" lvl="0" indent="-342900">
              <a:buFont typeface="Arial" panose="020B0604020202020204" pitchFamily="34" charset="0"/>
              <a:buChar char="•"/>
            </a:pPr>
            <a:r>
              <a:rPr lang="en-SG" b="1"/>
              <a:t>Disclose AI use accurately.</a:t>
            </a:r>
            <a:r>
              <a:rPr lang="en-SG"/>
              <a:t> AI use itself is not penalised.</a:t>
            </a:r>
          </a:p>
          <a:p>
            <a:pPr marL="342900" lvl="0" indent="-342900">
              <a:buFont typeface="Arial" panose="020B0604020202020204" pitchFamily="34" charset="0"/>
              <a:buChar char="•"/>
            </a:pPr>
            <a:r>
              <a:rPr lang="en-SG" b="1"/>
              <a:t>Any team member may be asked about any answer in the deck during the Q&amp;A.</a:t>
            </a:r>
            <a:endParaRPr lang="en-SG"/>
          </a:p>
          <a:p>
            <a:pPr marL="342900" lvl="0" indent="-342900">
              <a:buFont typeface="Arial" panose="020B0604020202020204" pitchFamily="34" charset="0"/>
              <a:buChar char="•"/>
            </a:pPr>
            <a:r>
              <a:rPr lang="en-SG" b="1"/>
              <a:t>Claims made in the deck WILL be verified against the submitted repository, backlog and Scrum artefacts.</a:t>
            </a:r>
            <a:endParaRPr lang="en-SG"/>
          </a:p>
          <a:p>
            <a:pPr marL="342900" lvl="0" indent="-342900">
              <a:buFont typeface="Arial" panose="020B0604020202020204" pitchFamily="34" charset="0"/>
              <a:buChar char="•"/>
            </a:pPr>
            <a:r>
              <a:rPr lang="en-SG" b="1"/>
              <a:t>Known shortcomings should be disclosed rather than hidden. </a:t>
            </a:r>
          </a:p>
          <a:p>
            <a:pPr marL="342900" lvl="0" indent="-342900">
              <a:buFont typeface="Arial" panose="020B0604020202020204" pitchFamily="34" charset="0"/>
              <a:buChar char="•"/>
            </a:pPr>
            <a:r>
              <a:rPr lang="en-SG"/>
              <a:t>You are allowed to change the </a:t>
            </a:r>
            <a:r>
              <a:rPr lang="en-SG" b="1"/>
              <a:t>sizes </a:t>
            </a:r>
            <a:r>
              <a:rPr lang="en-SG"/>
              <a:t>of the given text boxes, but not delete them. (You decide how much you want to say for each item, without exceeding the slide or making the text unreadable.)</a:t>
            </a:r>
          </a:p>
        </p:txBody>
      </p:sp>
      <p:sp>
        <p:nvSpPr>
          <p:cNvPr id="4" name="Rectangle 2">
            <a:extLst>
              <a:ext uri="{FF2B5EF4-FFF2-40B4-BE49-F238E27FC236}">
                <a16:creationId xmlns:a16="http://schemas.microsoft.com/office/drawing/2014/main" id="{E2919FD3-9E94-05A3-79BC-230E344C9A9C}"/>
              </a:ext>
            </a:extLst>
          </p:cNvPr>
          <p:cNvSpPr txBox="1">
            <a:spLocks noChangeArrowheads="1"/>
          </p:cNvSpPr>
          <p:nvPr/>
        </p:nvSpPr>
        <p:spPr>
          <a:xfrm>
            <a:off x="5375189" y="38779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Ground Rules</a:t>
            </a:r>
          </a:p>
        </p:txBody>
      </p:sp>
    </p:spTree>
    <p:extLst>
      <p:ext uri="{BB962C8B-B14F-4D97-AF65-F5344CB8AC3E}">
        <p14:creationId xmlns:p14="http://schemas.microsoft.com/office/powerpoint/2010/main" val="62309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0A6E8-FFB5-FB01-E556-33455B99570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F394F906-2072-545D-27BE-D172B0E4394F}"/>
              </a:ext>
            </a:extLst>
          </p:cNvPr>
          <p:cNvSpPr txBox="1"/>
          <p:nvPr/>
        </p:nvSpPr>
        <p:spPr>
          <a:xfrm>
            <a:off x="247651" y="1400622"/>
            <a:ext cx="11383735" cy="369332"/>
          </a:xfrm>
          <a:prstGeom prst="rect">
            <a:avLst/>
          </a:prstGeom>
          <a:noFill/>
        </p:spPr>
        <p:txBody>
          <a:bodyPr wrap="square">
            <a:spAutoFit/>
          </a:bodyPr>
          <a:lstStyle/>
          <a:p>
            <a:pPr marL="285750" lvl="0" indent="-285750">
              <a:buFont typeface="Arial" panose="020B0604020202020204" pitchFamily="34" charset="0"/>
              <a:buChar char="•"/>
            </a:pPr>
            <a:r>
              <a:rPr lang="en-SG"/>
              <a:t>Which of the changes in Week 7 had the </a:t>
            </a:r>
            <a:r>
              <a:rPr lang="en-SG" b="1"/>
              <a:t>most</a:t>
            </a:r>
            <a:r>
              <a:rPr lang="en-SG"/>
              <a:t> impact and why?</a:t>
            </a:r>
          </a:p>
        </p:txBody>
      </p:sp>
      <p:sp>
        <p:nvSpPr>
          <p:cNvPr id="12" name="Rectangle 2">
            <a:extLst>
              <a:ext uri="{FF2B5EF4-FFF2-40B4-BE49-F238E27FC236}">
                <a16:creationId xmlns:a16="http://schemas.microsoft.com/office/drawing/2014/main" id="{5DEF6304-A301-DDB8-1EF0-ABB207CB146B}"/>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Handling the Customer Change (i)</a:t>
            </a:r>
          </a:p>
        </p:txBody>
      </p:sp>
      <p:sp>
        <p:nvSpPr>
          <p:cNvPr id="3" name="TextBox 2">
            <a:extLst>
              <a:ext uri="{FF2B5EF4-FFF2-40B4-BE49-F238E27FC236}">
                <a16:creationId xmlns:a16="http://schemas.microsoft.com/office/drawing/2014/main" id="{559B88C5-EAD0-C571-42F7-8A17AE7DAE54}"/>
              </a:ext>
            </a:extLst>
          </p:cNvPr>
          <p:cNvSpPr txBox="1"/>
          <p:nvPr/>
        </p:nvSpPr>
        <p:spPr>
          <a:xfrm>
            <a:off x="317045" y="1769954"/>
            <a:ext cx="11582403" cy="646331"/>
          </a:xfrm>
          <a:prstGeom prst="rect">
            <a:avLst/>
          </a:prstGeom>
          <a:solidFill>
            <a:schemeClr val="accent1">
              <a:lumMod val="40000"/>
              <a:lumOff val="60000"/>
            </a:schemeClr>
          </a:solidFill>
        </p:spPr>
        <p:txBody>
          <a:bodyPr wrap="square" rtlCol="0">
            <a:spAutoFit/>
          </a:bodyPr>
          <a:lstStyle/>
          <a:p>
            <a:pPr>
              <a:defRPr sz="1300"/>
            </a:pPr>
            <a:r>
              <a:t>Cancellation Policy Cascade &amp; Waitlist Priority:</a:t>
            </a:r>
          </a:p>
          <a:p>
            <a:r>
              <a:t>Introducing post-confirmation cancellation rules and attendee waiting lists changed the transactional state machine. When a place is released, every waitlisted Attendee is notified and the place goes to whoever claims first (C-23, T-33, T-46): there is no ordered queue, no automatic promotion and no hold window. Cancelling an Event also notifies affected Attendees, closes obsolete change requests and releases Session arrangements in one transaction with audit records. This required atomic transactions, status polymorphism (T-59/T-63) and regression tests.</a:t>
            </a:r>
          </a:p>
        </p:txBody>
      </p:sp>
      <p:sp>
        <p:nvSpPr>
          <p:cNvPr id="8" name="TextBox 7">
            <a:extLst>
              <a:ext uri="{FF2B5EF4-FFF2-40B4-BE49-F238E27FC236}">
                <a16:creationId xmlns:a16="http://schemas.microsoft.com/office/drawing/2014/main" id="{9CA05C5D-904D-DB93-C403-026146120B5E}"/>
              </a:ext>
            </a:extLst>
          </p:cNvPr>
          <p:cNvSpPr txBox="1"/>
          <p:nvPr/>
        </p:nvSpPr>
        <p:spPr>
          <a:xfrm>
            <a:off x="247651" y="2416285"/>
            <a:ext cx="11745688" cy="369332"/>
          </a:xfrm>
          <a:prstGeom prst="rect">
            <a:avLst/>
          </a:prstGeom>
          <a:noFill/>
        </p:spPr>
        <p:txBody>
          <a:bodyPr wrap="square" lIns="91440" tIns="45720" rIns="91440" bIns="45720" anchor="t">
            <a:spAutoFit/>
          </a:bodyPr>
          <a:lstStyle/>
          <a:p>
            <a:pPr marL="285750" lvl="0" indent="-285750">
              <a:buFont typeface="Arial" panose="020B0604020202020204" pitchFamily="34" charset="0"/>
              <a:buChar char="•"/>
            </a:pPr>
            <a:r>
              <a:rPr lang="en-SG"/>
              <a:t>Describe how you handled these changes, and which components of your project were affected and how.</a:t>
            </a:r>
          </a:p>
        </p:txBody>
      </p:sp>
      <p:sp>
        <p:nvSpPr>
          <p:cNvPr id="9" name="TextBox 8">
            <a:extLst>
              <a:ext uri="{FF2B5EF4-FFF2-40B4-BE49-F238E27FC236}">
                <a16:creationId xmlns:a16="http://schemas.microsoft.com/office/drawing/2014/main" id="{3C05F446-7E48-C388-5966-4A32DBE5EBCE}"/>
              </a:ext>
            </a:extLst>
          </p:cNvPr>
          <p:cNvSpPr txBox="1"/>
          <p:nvPr/>
        </p:nvSpPr>
        <p:spPr>
          <a:xfrm>
            <a:off x="333734" y="2889296"/>
            <a:ext cx="11582403" cy="3970318"/>
          </a:xfrm>
          <a:prstGeom prst="rect">
            <a:avLst/>
          </a:prstGeom>
          <a:solidFill>
            <a:schemeClr val="accent1">
              <a:lumMod val="40000"/>
              <a:lumOff val="60000"/>
            </a:schemeClr>
          </a:solidFill>
        </p:spPr>
        <p:txBody>
          <a:bodyPr wrap="square" rtlCol="0">
            <a:spAutoFit/>
          </a:bodyPr>
          <a:lstStyle/>
          <a:p>
            <a:pPr>
              <a:defRPr sz="1300"/>
            </a:pPr>
            <a:r>
              <a:t>• Architecture &amp; Database: migration 0025 adds venue unavailability over existing bookings (#348); cancellation and release logic is in backend/src/modules/eventLifecycle/cancellation.ts and backend/src/modules/venueBooking/lostVenueRecovery.ts.</a:t>
            </a:r>
          </a:p>
          <a:p>
            <a:r>
              <a:t>• Frontend: organiser event cancellation with a recorded reason, waiting-list and withdrawal states for Attendees, and booking replacement flows (frontend/src/features/events/, frontend/src/features/venue/).</a:t>
            </a:r>
          </a:p>
          <a:p>
            <a:r>
              <a:t>• Testing &amp; Verification: automated suites eventCancellation.test.ts, cancellationRecovery.integration.test.ts and attendeeCapacity.test.ts, plus T-65 manual click-through records in docs/testing/runs/.</a:t>
            </a:r>
          </a:p>
        </p:txBody>
      </p:sp>
    </p:spTree>
    <p:extLst>
      <p:ext uri="{BB962C8B-B14F-4D97-AF65-F5344CB8AC3E}">
        <p14:creationId xmlns:p14="http://schemas.microsoft.com/office/powerpoint/2010/main" val="1394506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1419B-08EC-0DE9-6CB0-792D24668ADE}"/>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723157CC-C155-A981-CD6B-F603456109E5}"/>
              </a:ext>
            </a:extLst>
          </p:cNvPr>
          <p:cNvSpPr txBox="1"/>
          <p:nvPr/>
        </p:nvSpPr>
        <p:spPr>
          <a:xfrm>
            <a:off x="247651" y="1400622"/>
            <a:ext cx="11383735" cy="369332"/>
          </a:xfrm>
          <a:prstGeom prst="rect">
            <a:avLst/>
          </a:prstGeom>
          <a:noFill/>
        </p:spPr>
        <p:txBody>
          <a:bodyPr wrap="square">
            <a:spAutoFit/>
          </a:bodyPr>
          <a:lstStyle/>
          <a:p>
            <a:pPr marL="285750" lvl="0" indent="-285750">
              <a:buFont typeface="Arial" panose="020B0604020202020204" pitchFamily="34" charset="0"/>
              <a:buChar char="•"/>
            </a:pPr>
            <a:r>
              <a:rPr lang="en-SG"/>
              <a:t>Which of the changes in Week 7 had the </a:t>
            </a:r>
            <a:r>
              <a:rPr lang="en-SG" b="1"/>
              <a:t>least</a:t>
            </a:r>
            <a:r>
              <a:rPr lang="en-SG"/>
              <a:t> impact and why?</a:t>
            </a:r>
          </a:p>
        </p:txBody>
      </p:sp>
      <p:sp>
        <p:nvSpPr>
          <p:cNvPr id="12" name="Rectangle 2">
            <a:extLst>
              <a:ext uri="{FF2B5EF4-FFF2-40B4-BE49-F238E27FC236}">
                <a16:creationId xmlns:a16="http://schemas.microsoft.com/office/drawing/2014/main" id="{FCF2ACBC-6984-61F5-AA11-3F673F1A3EF5}"/>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Handling the Customer Change (ii)</a:t>
            </a:r>
          </a:p>
        </p:txBody>
      </p:sp>
      <p:sp>
        <p:nvSpPr>
          <p:cNvPr id="3" name="TextBox 2">
            <a:extLst>
              <a:ext uri="{FF2B5EF4-FFF2-40B4-BE49-F238E27FC236}">
                <a16:creationId xmlns:a16="http://schemas.microsoft.com/office/drawing/2014/main" id="{4C01F5ED-73E6-1D22-D09D-6D6EEEC4E32F}"/>
              </a:ext>
            </a:extLst>
          </p:cNvPr>
          <p:cNvSpPr txBox="1"/>
          <p:nvPr/>
        </p:nvSpPr>
        <p:spPr>
          <a:xfrm>
            <a:off x="317045" y="1769954"/>
            <a:ext cx="11582403" cy="646331"/>
          </a:xfrm>
          <a:prstGeom prst="rect">
            <a:avLst/>
          </a:prstGeom>
          <a:solidFill>
            <a:schemeClr val="accent1">
              <a:lumMod val="40000"/>
              <a:lumOff val="60000"/>
            </a:schemeClr>
          </a:solidFill>
        </p:spPr>
        <p:txBody>
          <a:bodyPr wrap="square" rtlCol="0">
            <a:spAutoFit/>
          </a:bodyPr>
          <a:lstStyle/>
          <a:p>
            <a:pPr>
              <a:defRPr sz="1300"/>
            </a:pPr>
            <a:r>
              <a:t>Venue Amenity Tagging &amp; Setup/Turnaround Buffer Visibility:</a:t>
            </a:r>
          </a:p>
          <a:p>
            <a:r>
              <a:t>Displaying turnaround buffers and filtering venues by amenity tags had minimal structural impact. The underlying venue entity already tracked dimensions, layout capacities, and basic metadata. Buffers and tags operated as purely additive non-breaking attributes that did not disrupt existing booking state transitions or require state machine refactoring.</a:t>
            </a:r>
          </a:p>
        </p:txBody>
      </p:sp>
      <p:sp>
        <p:nvSpPr>
          <p:cNvPr id="8" name="TextBox 7">
            <a:extLst>
              <a:ext uri="{FF2B5EF4-FFF2-40B4-BE49-F238E27FC236}">
                <a16:creationId xmlns:a16="http://schemas.microsoft.com/office/drawing/2014/main" id="{189DA051-3389-4020-DA87-716B3ADB2604}"/>
              </a:ext>
            </a:extLst>
          </p:cNvPr>
          <p:cNvSpPr txBox="1"/>
          <p:nvPr/>
        </p:nvSpPr>
        <p:spPr>
          <a:xfrm>
            <a:off x="247651" y="2416285"/>
            <a:ext cx="11745688" cy="369332"/>
          </a:xfrm>
          <a:prstGeom prst="rect">
            <a:avLst/>
          </a:prstGeom>
          <a:noFill/>
        </p:spPr>
        <p:txBody>
          <a:bodyPr wrap="square" lIns="91440" tIns="45720" rIns="91440" bIns="45720" anchor="t">
            <a:spAutoFit/>
          </a:bodyPr>
          <a:lstStyle/>
          <a:p>
            <a:pPr marL="285750" lvl="0" indent="-285750">
              <a:buFont typeface="Arial" panose="020B0604020202020204" pitchFamily="34" charset="0"/>
              <a:buChar char="•"/>
            </a:pPr>
            <a:r>
              <a:rPr lang="en-SG"/>
              <a:t>Describe how you handled these changes, and which components of your project were affected and how.</a:t>
            </a:r>
          </a:p>
        </p:txBody>
      </p:sp>
      <p:sp>
        <p:nvSpPr>
          <p:cNvPr id="9" name="TextBox 8">
            <a:extLst>
              <a:ext uri="{FF2B5EF4-FFF2-40B4-BE49-F238E27FC236}">
                <a16:creationId xmlns:a16="http://schemas.microsoft.com/office/drawing/2014/main" id="{3DE0B740-FC8A-EADB-DBF0-33979834C537}"/>
              </a:ext>
            </a:extLst>
          </p:cNvPr>
          <p:cNvSpPr txBox="1"/>
          <p:nvPr/>
        </p:nvSpPr>
        <p:spPr>
          <a:xfrm>
            <a:off x="304797" y="2792840"/>
            <a:ext cx="11582403" cy="3970318"/>
          </a:xfrm>
          <a:prstGeom prst="rect">
            <a:avLst/>
          </a:prstGeom>
          <a:solidFill>
            <a:schemeClr val="accent1">
              <a:lumMod val="40000"/>
              <a:lumOff val="60000"/>
            </a:schemeClr>
          </a:solidFill>
        </p:spPr>
        <p:txBody>
          <a:bodyPr wrap="square" rtlCol="0">
            <a:spAutoFit/>
          </a:bodyPr>
          <a:lstStyle/>
          <a:p>
            <a:pPr>
              <a:defRPr sz="1300"/>
            </a:pPr>
            <a:r>
              <a:t>• Backend: venue search and suitability gained optional amenity and accessibility filters and turnaround buffers (backend/src/modules/venueBooking/search.ts, suitability.ts).</a:t>
            </a:r>
          </a:p>
          <a:p>
            <a:r>
              <a:t>• Frontend: amenity picker and buffer fields in VenueBookingForm.tsx, filters in VenueSearch.tsx (frontend/src/features/venue/).</a:t>
            </a:r>
          </a:p>
          <a:p>
            <a:r>
              <a:t>• Verification: VenueBookingForm.test.tsx and VenueSearch.navigation.test.tsx, plus the venue search and suitability backend tests; booking state transitions unchanged.</a:t>
            </a:r>
          </a:p>
        </p:txBody>
      </p:sp>
    </p:spTree>
    <p:extLst>
      <p:ext uri="{BB962C8B-B14F-4D97-AF65-F5344CB8AC3E}">
        <p14:creationId xmlns:p14="http://schemas.microsoft.com/office/powerpoint/2010/main" val="19491064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86F6-82C6-84EA-93D1-27C5642995F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52608CCB-5933-4B21-A305-5FE73D162E2B}"/>
              </a:ext>
            </a:extLst>
          </p:cNvPr>
          <p:cNvSpPr txBox="1"/>
          <p:nvPr/>
        </p:nvSpPr>
        <p:spPr>
          <a:xfrm>
            <a:off x="247651" y="1400622"/>
            <a:ext cx="11383735" cy="369332"/>
          </a:xfrm>
          <a:prstGeom prst="rect">
            <a:avLst/>
          </a:prstGeom>
          <a:noFill/>
        </p:spPr>
        <p:txBody>
          <a:bodyPr wrap="square" lIns="91440" tIns="45720" rIns="91440" bIns="45720" anchor="t">
            <a:spAutoFit/>
          </a:bodyPr>
          <a:lstStyle/>
          <a:p>
            <a:r>
              <a:rPr lang="en-SG"/>
              <a:t> </a:t>
            </a:r>
            <a:r>
              <a:rPr lang="en-SG" b="1"/>
              <a:t>Provide THREE concrete examples from your project where you added value on top of what AI did:</a:t>
            </a:r>
            <a:endParaRPr lang="en-SG"/>
          </a:p>
        </p:txBody>
      </p:sp>
      <p:sp>
        <p:nvSpPr>
          <p:cNvPr id="12" name="Rectangle 2">
            <a:extLst>
              <a:ext uri="{FF2B5EF4-FFF2-40B4-BE49-F238E27FC236}">
                <a16:creationId xmlns:a16="http://schemas.microsoft.com/office/drawing/2014/main" id="{EC0C83F2-486B-943F-791A-A1D8ED803B4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CFO Update</a:t>
            </a:r>
          </a:p>
        </p:txBody>
      </p:sp>
      <p:graphicFrame>
        <p:nvGraphicFramePr>
          <p:cNvPr id="2" name="Table 1">
            <a:extLst>
              <a:ext uri="{FF2B5EF4-FFF2-40B4-BE49-F238E27FC236}">
                <a16:creationId xmlns:a16="http://schemas.microsoft.com/office/drawing/2014/main" id="{489BFAE8-521E-D3BA-48E5-CCB691E26288}"/>
              </a:ext>
            </a:extLst>
          </p:cNvPr>
          <p:cNvGraphicFramePr>
            <a:graphicFrameLocks noGrp="1"/>
          </p:cNvGraphicFramePr>
          <p:nvPr>
            <p:extLst>
              <p:ext uri="{D42A27DB-BD31-4B8C-83A1-F6EECF244321}">
                <p14:modId xmlns:p14="http://schemas.microsoft.com/office/powerpoint/2010/main" val="3091229725"/>
              </p:ext>
            </p:extLst>
          </p:nvPr>
        </p:nvGraphicFramePr>
        <p:xfrm>
          <a:off x="247651" y="1912073"/>
          <a:ext cx="11596010" cy="3605081"/>
        </p:xfrm>
        <a:graphic>
          <a:graphicData uri="http://schemas.openxmlformats.org/drawingml/2006/table">
            <a:tbl>
              <a:tblPr>
                <a:tableStyleId>{5C22544A-7EE6-4342-B048-85BDC9FD1C3A}</a:tableStyleId>
              </a:tblPr>
              <a:tblGrid>
                <a:gridCol w="2319202">
                  <a:extLst>
                    <a:ext uri="{9D8B030D-6E8A-4147-A177-3AD203B41FA5}">
                      <a16:colId xmlns:a16="http://schemas.microsoft.com/office/drawing/2014/main" val="1282981883"/>
                    </a:ext>
                  </a:extLst>
                </a:gridCol>
                <a:gridCol w="2319202">
                  <a:extLst>
                    <a:ext uri="{9D8B030D-6E8A-4147-A177-3AD203B41FA5}">
                      <a16:colId xmlns:a16="http://schemas.microsoft.com/office/drawing/2014/main" val="3808611986"/>
                    </a:ext>
                  </a:extLst>
                </a:gridCol>
                <a:gridCol w="2319202">
                  <a:extLst>
                    <a:ext uri="{9D8B030D-6E8A-4147-A177-3AD203B41FA5}">
                      <a16:colId xmlns:a16="http://schemas.microsoft.com/office/drawing/2014/main" val="3491713656"/>
                    </a:ext>
                  </a:extLst>
                </a:gridCol>
                <a:gridCol w="2319202">
                  <a:extLst>
                    <a:ext uri="{9D8B030D-6E8A-4147-A177-3AD203B41FA5}">
                      <a16:colId xmlns:a16="http://schemas.microsoft.com/office/drawing/2014/main" val="608655554"/>
                    </a:ext>
                  </a:extLst>
                </a:gridCol>
                <a:gridCol w="2319202">
                  <a:extLst>
                    <a:ext uri="{9D8B030D-6E8A-4147-A177-3AD203B41FA5}">
                      <a16:colId xmlns:a16="http://schemas.microsoft.com/office/drawing/2014/main" val="2469195142"/>
                    </a:ext>
                  </a:extLst>
                </a:gridCol>
              </a:tblGrid>
              <a:tr h="800507">
                <a:tc>
                  <a:txBody>
                    <a:bodyPr/>
                    <a:lstStyle/>
                    <a:p>
                      <a:pPr>
                        <a:buNone/>
                        <a:defRPr sz="1000"/>
                      </a:pPr>
                      <a:r>
                        <a:rPr lang="en-SG" b="1"/>
                        <a:t>Example</a:t>
                      </a:r>
                    </a:p>
                  </a:txBody>
                  <a:tcPr anchor="ctr"/>
                </a:tc>
                <a:tc>
                  <a:txBody>
                    <a:bodyPr/>
                    <a:lstStyle/>
                    <a:p>
                      <a:pPr>
                        <a:buNone/>
                        <a:defRPr sz="1000"/>
                      </a:pPr>
                      <a:r>
                        <a:rPr lang="en-SG" b="1"/>
                        <a:t>What AI Could / Did Do</a:t>
                      </a:r>
                    </a:p>
                  </a:txBody>
                  <a:tcPr anchor="ctr"/>
                </a:tc>
                <a:tc>
                  <a:txBody>
                    <a:bodyPr/>
                    <a:lstStyle/>
                    <a:p>
                      <a:pPr>
                        <a:buNone/>
                        <a:defRPr sz="1000"/>
                      </a:pPr>
                      <a:r>
                        <a:rPr lang="en-SG" b="1"/>
                        <a:t>What Your Team Added</a:t>
                      </a:r>
                    </a:p>
                  </a:txBody>
                  <a:tcPr anchor="ctr"/>
                </a:tc>
                <a:tc>
                  <a:txBody>
                    <a:bodyPr/>
                    <a:lstStyle/>
                    <a:p>
                      <a:pPr>
                        <a:buNone/>
                        <a:defRPr sz="1000"/>
                      </a:pPr>
                      <a:r>
                        <a:rPr lang="en-SG" b="1"/>
                        <a:t>Why Did This Add Value?</a:t>
                      </a:r>
                    </a:p>
                  </a:txBody>
                  <a:tcPr anchor="ctr"/>
                </a:tc>
                <a:tc>
                  <a:txBody>
                    <a:bodyPr/>
                    <a:lstStyle/>
                    <a:p>
                      <a:pPr>
                        <a:buNone/>
                        <a:defRPr sz="1000"/>
                      </a:pPr>
                      <a:r>
                        <a:rPr lang="en-SG" b="1"/>
                        <a:t>Evidence</a:t>
                      </a:r>
                    </a:p>
                  </a:txBody>
                  <a:tcPr anchor="ctr"/>
                </a:tc>
                <a:extLst>
                  <a:ext uri="{0D108BD9-81ED-4DB2-BD59-A6C34878D82A}">
                    <a16:rowId xmlns:a16="http://schemas.microsoft.com/office/drawing/2014/main" val="3656936957"/>
                  </a:ext>
                </a:extLst>
              </a:tr>
              <a:tr h="934858">
                <a:tc>
                  <a:txBody>
                    <a:bodyPr/>
                    <a:lstStyle/>
                    <a:p>
                      <a:pPr>
                        <a:defRPr sz="1000"/>
                      </a:pPr>
                      <a:r>
                        <a:t>1 (T-59 Database Isolation)</a:t>
                      </a:r>
                    </a:p>
                  </a:txBody>
                  <a:tcPr anchor="ctr"/>
                </a:tc>
                <a:tc>
                  <a:txBody>
                    <a:bodyPr/>
                    <a:lstStyle/>
                    <a:p>
                      <a:pPr>
                        <a:defRPr sz="1000"/>
                      </a:pPr>
                      <a:r>
                        <a:t>Generated naive db:reset scripts that wiped shared Supabase DB schemas during teardown.</a:t>
                      </a:r>
                    </a:p>
                  </a:txBody>
                  <a:tcPr anchor="ctr"/>
                </a:tc>
                <a:tc>
                  <a:txBody>
                    <a:bodyPr/>
                    <a:lstStyle/>
                    <a:p>
                      <a:pPr>
                        <a:defRPr sz="1000"/>
                      </a:pPr>
                      <a:r>
                        <a:t>Architected T-59: an isolated Supabase test schema using rollback-based transactional saves guarded by CI gates.</a:t>
                      </a:r>
                    </a:p>
                  </a:txBody>
                  <a:tcPr anchor="ctr"/>
                </a:tc>
                <a:tc>
                  <a:txBody>
                    <a:bodyPr/>
                    <a:lstStyle/>
                    <a:p>
                      <a:pPr>
                        <a:defRPr sz="1000"/>
                      </a:pPr>
                      <a:r>
                        <a:t>Prevented catastrophic wiping of shared staging/test data and protected cloud credentials.</a:t>
                      </a:r>
                    </a:p>
                  </a:txBody>
                  <a:tcPr anchor="ctr"/>
                </a:tc>
                <a:tc>
                  <a:txBody>
                    <a:bodyPr/>
                    <a:lstStyle/>
                    <a:p>
                      <a:pPr>
                        <a:defRPr sz="1000"/>
                      </a:pPr>
                      <a:r>
                        <a:t>docs/bdr/B-team-decisions.md (T-59), scripts/check.py, docs/testing/supabase-test-schema.md</a:t>
                      </a:r>
                    </a:p>
                  </a:txBody>
                  <a:tcPr anchor="ctr"/>
                </a:tc>
                <a:extLst>
                  <a:ext uri="{0D108BD9-81ED-4DB2-BD59-A6C34878D82A}">
                    <a16:rowId xmlns:a16="http://schemas.microsoft.com/office/drawing/2014/main" val="3147878904"/>
                  </a:ext>
                </a:extLst>
              </a:tr>
              <a:tr h="934858">
                <a:tc>
                  <a:txBody>
                    <a:bodyPr/>
                    <a:lstStyle/>
                    <a:p>
                      <a:pPr>
                        <a:defRPr sz="1000"/>
                      </a:pPr>
                      <a:r>
                        <a:t>2 (T-65 / T-93 Manual Test Verification)</a:t>
                      </a:r>
                    </a:p>
                  </a:txBody>
                  <a:tcPr anchor="ctr"/>
                </a:tc>
                <a:tc>
                  <a:txBody>
                    <a:bodyPr/>
                    <a:lstStyle/>
                    <a:p>
                      <a:pPr>
                        <a:defRPr sz="1000"/>
                      </a:pPr>
                      <a:r>
                        <a:t>Wrote synthetic mocks hallucinating 100% pass rates by mocking away genuine DOM and network failures.</a:t>
                      </a:r>
                    </a:p>
                  </a:txBody>
                  <a:tcPr anchor="ctr"/>
                </a:tc>
                <a:tc>
                  <a:txBody>
                    <a:bodyPr/>
                    <a:lstStyle/>
                    <a:p>
                      <a:pPr>
                        <a:defRPr sz="1000"/>
                      </a:pPr>
                      <a:r>
                        <a:t>Enforced T-65 and T-93: mandatory execution of real E2E tests with hand-taken human screenshots stored in the repo.</a:t>
                      </a:r>
                    </a:p>
                  </a:txBody>
                  <a:tcPr anchor="ctr"/>
                </a:tc>
                <a:tc>
                  <a:txBody>
                    <a:bodyPr/>
                    <a:lstStyle/>
                    <a:p>
                      <a:pPr>
                        <a:defRPr sz="1000"/>
                      </a:pPr>
                      <a:r>
                        <a:t>Caught real browser rendering issues, focus management bugs, and layout overflows that mocks missed.</a:t>
                      </a:r>
                    </a:p>
                  </a:txBody>
                  <a:tcPr anchor="ctr"/>
                </a:tc>
                <a:tc>
                  <a:txBody>
                    <a:bodyPr/>
                    <a:lstStyle/>
                    <a:p>
                      <a:pPr>
                        <a:defRPr sz="1000"/>
                      </a:pPr>
                      <a:r>
                        <a:t>737 run records in docs/testing/runs/, evidence/ directories with PNGs (e.g. PR #368, PR #373)</a:t>
                      </a:r>
                    </a:p>
                  </a:txBody>
                  <a:tcPr anchor="ctr"/>
                </a:tc>
                <a:extLst>
                  <a:ext uri="{0D108BD9-81ED-4DB2-BD59-A6C34878D82A}">
                    <a16:rowId xmlns:a16="http://schemas.microsoft.com/office/drawing/2014/main" val="1477596350"/>
                  </a:ext>
                </a:extLst>
              </a:tr>
              <a:tr h="934858">
                <a:tc>
                  <a:txBody>
                    <a:bodyPr/>
                    <a:lstStyle/>
                    <a:p>
                      <a:pPr>
                        <a:defRPr sz="1000"/>
                      </a:pPr>
                      <a:r>
                        <a:t>3 (Booking Concurrency &amp; Polymorphism)</a:t>
                      </a:r>
                    </a:p>
                  </a:txBody>
                  <a:tcPr anchor="ctr"/>
                </a:tc>
                <a:tc>
                  <a:txBody>
                    <a:bodyPr/>
                    <a:lstStyle/>
                    <a:p>
                      <a:pPr>
                        <a:defRPr sz="1000"/>
                      </a:pPr>
                      <a:r>
                        <a:t>Generated simple CRUD routes that accepted concurrent requests, creating double-booking race conditions.</a:t>
                      </a:r>
                    </a:p>
                  </a:txBody>
                  <a:tcPr anchor="ctr"/>
                </a:tc>
                <a:tc>
                  <a:txBody>
                    <a:bodyPr/>
                    <a:lstStyle/>
                    <a:p>
                      <a:pPr>
                        <a:defRPr sz="1000"/>
                      </a:pPr>
                      <a:r>
                        <a:t>Designed Booking Status Polymorphism and Rule B First Accepted Claim logic with PostgreSQL row-level locks.</a:t>
                      </a:r>
                    </a:p>
                  </a:txBody>
                  <a:tcPr anchor="ctr"/>
                </a:tc>
                <a:tc>
                  <a:txBody>
                    <a:bodyPr/>
                    <a:lstStyle/>
                    <a:p>
                      <a:pPr>
                        <a:defRPr sz="1000"/>
                      </a:pPr>
                      <a:r>
                        <a:t>Guaranteed absolute transactional integrity, preventing double-bookings across concurrent organisers.</a:t>
                      </a:r>
                    </a:p>
                  </a:txBody>
                  <a:tcPr anchor="ctr"/>
                </a:tc>
                <a:tc>
                  <a:txBody>
                    <a:bodyPr/>
                    <a:lstStyle/>
                    <a:p>
                      <a:pPr>
                        <a:defRPr sz="1000"/>
                      </a:pPr>
                      <a:r>
                        <a:t>PR #339, PR #371, docs/bdr/B-team-decisions.md (T-63/T-68), backend/src/modules/venueBooking/</a:t>
                      </a:r>
                    </a:p>
                  </a:txBody>
                  <a:tcPr anchor="ctr"/>
                </a:tc>
                <a:extLst>
                  <a:ext uri="{0D108BD9-81ED-4DB2-BD59-A6C34878D82A}">
                    <a16:rowId xmlns:a16="http://schemas.microsoft.com/office/drawing/2014/main" val="1030304870"/>
                  </a:ext>
                </a:extLst>
              </a:tr>
            </a:tbl>
          </a:graphicData>
        </a:graphic>
      </p:graphicFrame>
    </p:spTree>
    <p:extLst>
      <p:ext uri="{BB962C8B-B14F-4D97-AF65-F5344CB8AC3E}">
        <p14:creationId xmlns:p14="http://schemas.microsoft.com/office/powerpoint/2010/main" val="2708235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D634E-6987-39CE-E456-35E7C211E935}"/>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21406ED-C52B-6F63-2D8A-D1C9B90F7B4C}"/>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AI Usage</a:t>
            </a:r>
          </a:p>
        </p:txBody>
      </p:sp>
      <p:sp>
        <p:nvSpPr>
          <p:cNvPr id="4" name="TextBox 3">
            <a:extLst>
              <a:ext uri="{FF2B5EF4-FFF2-40B4-BE49-F238E27FC236}">
                <a16:creationId xmlns:a16="http://schemas.microsoft.com/office/drawing/2014/main" id="{A0AA96AF-D918-44A0-6441-E67838EA7511}"/>
              </a:ext>
            </a:extLst>
          </p:cNvPr>
          <p:cNvSpPr txBox="1"/>
          <p:nvPr/>
        </p:nvSpPr>
        <p:spPr>
          <a:xfrm>
            <a:off x="258537" y="1469963"/>
            <a:ext cx="6482442" cy="369332"/>
          </a:xfrm>
          <a:prstGeom prst="rect">
            <a:avLst/>
          </a:prstGeom>
          <a:noFill/>
        </p:spPr>
        <p:txBody>
          <a:bodyPr wrap="square">
            <a:spAutoFit/>
          </a:bodyPr>
          <a:lstStyle/>
          <a:p>
            <a:pPr marL="342900" lvl="0" indent="-342900">
              <a:buFont typeface="Arial" panose="020B0604020202020204" pitchFamily="34" charset="0"/>
              <a:buChar char="•"/>
            </a:pPr>
            <a:r>
              <a:rPr lang="en-SG"/>
              <a:t>Did using AI cause any rework? If so, what happened?</a:t>
            </a:r>
          </a:p>
        </p:txBody>
      </p:sp>
      <p:sp>
        <p:nvSpPr>
          <p:cNvPr id="5" name="TextBox 4">
            <a:extLst>
              <a:ext uri="{FF2B5EF4-FFF2-40B4-BE49-F238E27FC236}">
                <a16:creationId xmlns:a16="http://schemas.microsoft.com/office/drawing/2014/main" id="{184D0302-6E6B-BDF3-6AE4-29F95C3BA33F}"/>
              </a:ext>
            </a:extLst>
          </p:cNvPr>
          <p:cNvSpPr txBox="1"/>
          <p:nvPr/>
        </p:nvSpPr>
        <p:spPr>
          <a:xfrm>
            <a:off x="304798" y="1839295"/>
            <a:ext cx="11582403" cy="923330"/>
          </a:xfrm>
          <a:prstGeom prst="rect">
            <a:avLst/>
          </a:prstGeom>
          <a:solidFill>
            <a:schemeClr val="accent1">
              <a:lumMod val="40000"/>
              <a:lumOff val="60000"/>
            </a:schemeClr>
          </a:solidFill>
        </p:spPr>
        <p:txBody>
          <a:bodyPr wrap="square" rtlCol="0">
            <a:spAutoFit/>
          </a:bodyPr>
          <a:lstStyle/>
          <a:p>
            <a:pPr>
              <a:defRPr sz="1100"/>
            </a:pPr>
            <a:r>
              <a:t>Yes. Three key incidents of AI-induced rework occurred:</a:t>
            </a:r>
          </a:p>
          <a:p>
            <a:r>
              <a:t>1. Destructive Database Scripts: AI initially attempted to add db:reset calls to test fixtures, which would have wiped our team's shared Supabase database. The team halted execution and codified T-59 guardrails.</a:t>
            </a:r>
          </a:p>
          <a:p>
            <a:r>
              <a:t>2. Flaky Async DOM Assertions: In RefusedEdit.navigation.test.tsx, AI generated synchronous expect(...).toHaveFocus() assertions that passed intermittently on fast machines but flaked in CI (#372). We refactored to web-first waitFor polling on the container element (#373).</a:t>
            </a:r>
          </a:p>
          <a:p>
            <a:r>
              <a:t>3. Over-Mocking: AI mocked backend services so heavily in frontend tests that contract breakages slipped through unnoticed until manual click-through testing.</a:t>
            </a:r>
          </a:p>
        </p:txBody>
      </p:sp>
      <p:sp>
        <p:nvSpPr>
          <p:cNvPr id="6" name="TextBox 5">
            <a:extLst>
              <a:ext uri="{FF2B5EF4-FFF2-40B4-BE49-F238E27FC236}">
                <a16:creationId xmlns:a16="http://schemas.microsoft.com/office/drawing/2014/main" id="{9BE95E68-C7E0-C4A8-BBB2-0B57BCA9F82E}"/>
              </a:ext>
            </a:extLst>
          </p:cNvPr>
          <p:cNvSpPr txBox="1"/>
          <p:nvPr/>
        </p:nvSpPr>
        <p:spPr>
          <a:xfrm>
            <a:off x="258536" y="2795283"/>
            <a:ext cx="11582403" cy="646331"/>
          </a:xfrm>
          <a:prstGeom prst="rect">
            <a:avLst/>
          </a:prstGeom>
          <a:noFill/>
        </p:spPr>
        <p:txBody>
          <a:bodyPr wrap="square">
            <a:spAutoFit/>
          </a:bodyPr>
          <a:lstStyle/>
          <a:p>
            <a:pPr marL="285750" lvl="0" indent="-285750">
              <a:buFont typeface="Arial" panose="020B0604020202020204" pitchFamily="34" charset="0"/>
              <a:buChar char="•"/>
            </a:pPr>
            <a:r>
              <a:rPr lang="en-SG"/>
              <a:t>Which part of the final system contains the clearest evidence that your team contributed more than simply prompting an AI tool? Why?</a:t>
            </a:r>
          </a:p>
        </p:txBody>
      </p:sp>
      <p:sp>
        <p:nvSpPr>
          <p:cNvPr id="7" name="TextBox 6">
            <a:extLst>
              <a:ext uri="{FF2B5EF4-FFF2-40B4-BE49-F238E27FC236}">
                <a16:creationId xmlns:a16="http://schemas.microsoft.com/office/drawing/2014/main" id="{59C86061-B326-0CEF-944D-445CA85E4AED}"/>
              </a:ext>
            </a:extLst>
          </p:cNvPr>
          <p:cNvSpPr txBox="1"/>
          <p:nvPr/>
        </p:nvSpPr>
        <p:spPr>
          <a:xfrm>
            <a:off x="258536" y="3474272"/>
            <a:ext cx="11582403" cy="923330"/>
          </a:xfrm>
          <a:prstGeom prst="rect">
            <a:avLst/>
          </a:prstGeom>
          <a:solidFill>
            <a:schemeClr val="accent1">
              <a:lumMod val="40000"/>
              <a:lumOff val="60000"/>
            </a:schemeClr>
          </a:solidFill>
        </p:spPr>
        <p:txBody>
          <a:bodyPr wrap="square" rtlCol="0">
            <a:spAutoFit/>
          </a:bodyPr>
          <a:lstStyle/>
          <a:p>
            <a:pPr>
              <a:defRPr sz="1100"/>
            </a:pPr>
            <a:r>
              <a:t>The Venue Booking Concurrency &amp; Status Polymorphism Architecture (refactor/booking-status-polymorphism, PR #371, and E06-S06 Rule B). AI models consistently propose naive status strings without handling edge cases like concurrent approval race conditions, partial slot releases, or automatic withdrawal of conflicting holds. Our team architected the formal state machine, transaction isolation levels, and comprehensive rollback handling.</a:t>
            </a:r>
          </a:p>
        </p:txBody>
      </p:sp>
      <p:sp>
        <p:nvSpPr>
          <p:cNvPr id="9" name="TextBox 8">
            <a:extLst>
              <a:ext uri="{FF2B5EF4-FFF2-40B4-BE49-F238E27FC236}">
                <a16:creationId xmlns:a16="http://schemas.microsoft.com/office/drawing/2014/main" id="{69D81FF1-1C49-9CFC-94A6-52E09B3D2BE9}"/>
              </a:ext>
            </a:extLst>
          </p:cNvPr>
          <p:cNvSpPr txBox="1"/>
          <p:nvPr/>
        </p:nvSpPr>
        <p:spPr>
          <a:xfrm>
            <a:off x="258536" y="4430260"/>
            <a:ext cx="10779577" cy="369332"/>
          </a:xfrm>
          <a:prstGeom prst="rect">
            <a:avLst/>
          </a:prstGeom>
          <a:noFill/>
        </p:spPr>
        <p:txBody>
          <a:bodyPr wrap="square">
            <a:spAutoFit/>
          </a:bodyPr>
          <a:lstStyle/>
          <a:p>
            <a:pPr marL="342900" lvl="0" indent="-342900">
              <a:buFont typeface="Arial" panose="020B0604020202020204" pitchFamily="34" charset="0"/>
              <a:buChar char="•"/>
            </a:pPr>
            <a:r>
              <a:rPr lang="en-SG"/>
              <a:t>What decision required human judgement rather than simply code generation? Why?</a:t>
            </a:r>
          </a:p>
        </p:txBody>
      </p:sp>
      <p:sp>
        <p:nvSpPr>
          <p:cNvPr id="11" name="TextBox 10">
            <a:extLst>
              <a:ext uri="{FF2B5EF4-FFF2-40B4-BE49-F238E27FC236}">
                <a16:creationId xmlns:a16="http://schemas.microsoft.com/office/drawing/2014/main" id="{9673A3EC-AB95-6574-5597-FB0C19177D73}"/>
              </a:ext>
            </a:extLst>
          </p:cNvPr>
          <p:cNvSpPr txBox="1"/>
          <p:nvPr/>
        </p:nvSpPr>
        <p:spPr>
          <a:xfrm>
            <a:off x="258536" y="4799592"/>
            <a:ext cx="11582403" cy="923330"/>
          </a:xfrm>
          <a:prstGeom prst="rect">
            <a:avLst/>
          </a:prstGeom>
          <a:solidFill>
            <a:schemeClr val="accent1">
              <a:lumMod val="40000"/>
              <a:lumOff val="60000"/>
            </a:schemeClr>
          </a:solidFill>
        </p:spPr>
        <p:txBody>
          <a:bodyPr wrap="square" rtlCol="0">
            <a:spAutoFit/>
          </a:bodyPr>
          <a:lstStyle/>
          <a:p>
            <a:pPr>
              <a:defRPr sz="1100"/>
            </a:pPr>
            <a:r>
              <a:t>Team Decision T-63 (Near-Match Venue Scoring) and Rule B Booking Claim Policy. When an organiser's requested capacity or equipment cannot be perfectly matched, human judgement was required to determine whether to reject outright or suggest suitable near-matches with clear warnings, balancing user experience against operational risk.</a:t>
            </a:r>
          </a:p>
        </p:txBody>
      </p:sp>
      <p:sp>
        <p:nvSpPr>
          <p:cNvPr id="14" name="TextBox 13">
            <a:extLst>
              <a:ext uri="{FF2B5EF4-FFF2-40B4-BE49-F238E27FC236}">
                <a16:creationId xmlns:a16="http://schemas.microsoft.com/office/drawing/2014/main" id="{0F9E59B9-8873-DAA9-DB90-DB306448F409}"/>
              </a:ext>
            </a:extLst>
          </p:cNvPr>
          <p:cNvSpPr txBox="1"/>
          <p:nvPr/>
        </p:nvSpPr>
        <p:spPr>
          <a:xfrm>
            <a:off x="563336" y="5940246"/>
            <a:ext cx="10746921" cy="369332"/>
          </a:xfrm>
          <a:prstGeom prst="rect">
            <a:avLst/>
          </a:prstGeom>
          <a:noFill/>
        </p:spPr>
        <p:txBody>
          <a:bodyPr wrap="square">
            <a:spAutoFit/>
          </a:bodyPr>
          <a:lstStyle/>
          <a:p>
            <a:pPr>
              <a:defRPr sz="1300" b="1"/>
            </a:pPr>
            <a:r>
              <a:t>“The most important value our team added beyond AI was architectural discipline and empirical verification because AI can generate plausible code but cannot guarantee semantic correctness, system safety, or truthful verification evidence.”</a:t>
            </a:r>
          </a:p>
        </p:txBody>
      </p:sp>
    </p:spTree>
    <p:extLst>
      <p:ext uri="{BB962C8B-B14F-4D97-AF65-F5344CB8AC3E}">
        <p14:creationId xmlns:p14="http://schemas.microsoft.com/office/powerpoint/2010/main" val="12625983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8A62D57-BEE2-ED31-02BB-39CCC4B64776}"/>
              </a:ext>
            </a:extLst>
          </p:cNvPr>
          <p:cNvSpPr txBox="1"/>
          <p:nvPr/>
        </p:nvSpPr>
        <p:spPr>
          <a:xfrm>
            <a:off x="133468" y="1511817"/>
            <a:ext cx="11711950" cy="3970318"/>
          </a:xfrm>
          <a:prstGeom prst="rect">
            <a:avLst/>
          </a:prstGeom>
          <a:noFill/>
        </p:spPr>
        <p:txBody>
          <a:bodyPr wrap="square" lIns="91440" tIns="45720" rIns="91440" bIns="45720" anchor="t">
            <a:spAutoFit/>
          </a:bodyPr>
          <a:lstStyle/>
          <a:p>
            <a:r>
              <a:rPr lang="en-SG" b="1">
                <a:cs typeface="Arial" panose="020B0604020202020204"/>
              </a:rPr>
              <a:t>For each of the points below, explain what you did when using LLMs:</a:t>
            </a:r>
          </a:p>
          <a:p>
            <a:pPr marL="342900" indent="-342900">
              <a:buFont typeface="Arial" panose="020B0604020202020204" pitchFamily="34" charset="0"/>
              <a:buChar char="•"/>
            </a:pPr>
            <a:r>
              <a:rPr lang="en-SG"/>
              <a:t>Delegate </a:t>
            </a:r>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cs typeface="Arial" panose="020B0604020202020204"/>
            </a:endParaRPr>
          </a:p>
          <a:p>
            <a:pPr marL="342900" indent="-342900">
              <a:buFont typeface="Arial" panose="020B0604020202020204" pitchFamily="34" charset="0"/>
              <a:buChar char="•"/>
            </a:pPr>
            <a:r>
              <a:rPr lang="en-SG"/>
              <a:t>Constrain </a:t>
            </a:r>
            <a:endParaRPr lang="en-SG">
              <a:cs typeface="Arial"/>
            </a:endParaRP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p>
          <a:p>
            <a:pPr marL="342900" indent="-342900">
              <a:buFont typeface="Arial" panose="020B0604020202020204" pitchFamily="34" charset="0"/>
              <a:buChar char="•"/>
            </a:pPr>
            <a:r>
              <a:rPr lang="en-SG"/>
              <a:t>Verify </a:t>
            </a: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cs typeface="Arial"/>
            </a:endParaRPr>
          </a:p>
          <a:p>
            <a:pPr marL="342900" lvl="0" indent="-342900">
              <a:buFont typeface="Arial" panose="020B0604020202020204" pitchFamily="34" charset="0"/>
              <a:buChar char="•"/>
            </a:pPr>
            <a:r>
              <a:rPr lang="en-SG"/>
              <a:t>Own</a:t>
            </a:r>
          </a:p>
        </p:txBody>
      </p:sp>
      <p:sp>
        <p:nvSpPr>
          <p:cNvPr id="5" name="Rectangle 2">
            <a:extLst>
              <a:ext uri="{FF2B5EF4-FFF2-40B4-BE49-F238E27FC236}">
                <a16:creationId xmlns:a16="http://schemas.microsoft.com/office/drawing/2014/main" id="{8391B689-97B8-AADB-334B-53EE933E553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Controlling what AI produced</a:t>
            </a:r>
            <a:endParaRPr lang="en-US">
              <a:solidFill>
                <a:schemeClr val="bg1"/>
              </a:solidFill>
            </a:endParaRPr>
          </a:p>
        </p:txBody>
      </p:sp>
      <p:sp>
        <p:nvSpPr>
          <p:cNvPr id="7" name="TextBox 6">
            <a:extLst>
              <a:ext uri="{FF2B5EF4-FFF2-40B4-BE49-F238E27FC236}">
                <a16:creationId xmlns:a16="http://schemas.microsoft.com/office/drawing/2014/main" id="{6967DC35-833E-9AB0-195D-9AD5818E161F}"/>
              </a:ext>
            </a:extLst>
          </p:cNvPr>
          <p:cNvSpPr txBox="1"/>
          <p:nvPr/>
        </p:nvSpPr>
        <p:spPr>
          <a:xfrm>
            <a:off x="196968" y="2155596"/>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Delegated boilerplate scaffolding, repetitive CRUD endpoint generation, initial test fixture typing, and translation of user stories into preliminary test matrices.</a:t>
            </a:r>
          </a:p>
        </p:txBody>
      </p:sp>
      <p:sp>
        <p:nvSpPr>
          <p:cNvPr id="8" name="TextBox 7">
            <a:extLst>
              <a:ext uri="{FF2B5EF4-FFF2-40B4-BE49-F238E27FC236}">
                <a16:creationId xmlns:a16="http://schemas.microsoft.com/office/drawing/2014/main" id="{39B1A658-4D18-83C6-406E-A61C13B68E4D}"/>
              </a:ext>
            </a:extLst>
          </p:cNvPr>
          <p:cNvSpPr txBox="1"/>
          <p:nvPr/>
        </p:nvSpPr>
        <p:spPr>
          <a:xfrm>
            <a:off x="196967" y="3291407"/>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Constrained AI via repository guardrails: AGENTS.md instructions, pre-commit hooks (detect-secrets, check.py), max 2 open PR limit, four-section PR body templates, and strict forbidden actions (no db:reset, no modifying STATE.md).</a:t>
            </a:r>
          </a:p>
        </p:txBody>
      </p:sp>
      <p:sp>
        <p:nvSpPr>
          <p:cNvPr id="9" name="TextBox 8">
            <a:extLst>
              <a:ext uri="{FF2B5EF4-FFF2-40B4-BE49-F238E27FC236}">
                <a16:creationId xmlns:a16="http://schemas.microsoft.com/office/drawing/2014/main" id="{3E00B8D5-1E98-6929-F0FC-F9EA96CEB261}"/>
              </a:ext>
            </a:extLst>
          </p:cNvPr>
          <p:cNvSpPr txBox="1"/>
          <p:nvPr/>
        </p:nvSpPr>
        <p:spPr>
          <a:xfrm>
            <a:off x="196968" y="4340954"/>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Verified every change through the 16-check CI matrix (application-checks, Playwright E2E, Vitest, repository checks), followed by human peer review and T-65 manual click-through execution.</a:t>
            </a:r>
          </a:p>
        </p:txBody>
      </p:sp>
      <p:sp>
        <p:nvSpPr>
          <p:cNvPr id="10" name="TextBox 9">
            <a:extLst>
              <a:ext uri="{FF2B5EF4-FFF2-40B4-BE49-F238E27FC236}">
                <a16:creationId xmlns:a16="http://schemas.microsoft.com/office/drawing/2014/main" id="{5760AE81-FFD7-21B4-FAC3-B931956E26C3}"/>
              </a:ext>
            </a:extLst>
          </p:cNvPr>
          <p:cNvSpPr txBox="1"/>
          <p:nvPr/>
        </p:nvSpPr>
        <p:spPr>
          <a:xfrm>
            <a:off x="196967" y="5483954"/>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Owned complete responsibility for code quality, architectural decisions, Jira reconciliation, and final system stability. Rejected AI hallucinations immediately and took full accountability during Sprint Reviews.</a:t>
            </a:r>
          </a:p>
        </p:txBody>
      </p:sp>
    </p:spTree>
    <p:extLst>
      <p:ext uri="{BB962C8B-B14F-4D97-AF65-F5344CB8AC3E}">
        <p14:creationId xmlns:p14="http://schemas.microsoft.com/office/powerpoint/2010/main" val="27214077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FEABB-695E-DCAC-E393-5B70350F3C41}"/>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28D236C4-F073-1FE8-492E-FA937190EC58}"/>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Git Strategy</a:t>
            </a:r>
          </a:p>
        </p:txBody>
      </p:sp>
      <p:sp>
        <p:nvSpPr>
          <p:cNvPr id="4" name="TextBox 3">
            <a:extLst>
              <a:ext uri="{FF2B5EF4-FFF2-40B4-BE49-F238E27FC236}">
                <a16:creationId xmlns:a16="http://schemas.microsoft.com/office/drawing/2014/main" id="{BFA8763B-6073-B4C6-8DF9-36B40B39E9F6}"/>
              </a:ext>
            </a:extLst>
          </p:cNvPr>
          <p:cNvSpPr txBox="1"/>
          <p:nvPr/>
        </p:nvSpPr>
        <p:spPr>
          <a:xfrm>
            <a:off x="258537" y="1469963"/>
            <a:ext cx="11674926" cy="2031325"/>
          </a:xfrm>
          <a:prstGeom prst="rect">
            <a:avLst/>
          </a:prstGeom>
          <a:noFill/>
        </p:spPr>
        <p:txBody>
          <a:bodyPr wrap="square">
            <a:spAutoFit/>
          </a:bodyPr>
          <a:lstStyle/>
          <a:p>
            <a:r>
              <a:rPr lang="en-SG"/>
              <a:t>How did your team use Git to support collaboration throughout the project, rather than simply using it as a place to store code? We are particularly interested in whether your Git strategy evolved over the project, how consistently it was followed, and how it worked together with your CI process to ensure that changes were reviewed and verified before being integrated. Note: Your branching, pull request, review and merge practices should help the team work in parallel, reduce integration problems, and protect the stability of the main branch. </a:t>
            </a:r>
          </a:p>
          <a:p>
            <a:r>
              <a:rPr lang="en-SG" b="1"/>
              <a:t>Describe below:</a:t>
            </a:r>
          </a:p>
          <a:p>
            <a:pPr lvl="0"/>
            <a:endParaRPr lang="en-SG" b="1"/>
          </a:p>
        </p:txBody>
      </p:sp>
      <p:sp>
        <p:nvSpPr>
          <p:cNvPr id="3" name="TextBox 2">
            <a:extLst>
              <a:ext uri="{FF2B5EF4-FFF2-40B4-BE49-F238E27FC236}">
                <a16:creationId xmlns:a16="http://schemas.microsoft.com/office/drawing/2014/main" id="{E6B191CD-DE4C-9F34-7223-CCCEC6419F63}"/>
              </a:ext>
            </a:extLst>
          </p:cNvPr>
          <p:cNvSpPr txBox="1"/>
          <p:nvPr/>
        </p:nvSpPr>
        <p:spPr>
          <a:xfrm>
            <a:off x="258537" y="3228842"/>
            <a:ext cx="11582403" cy="3416320"/>
          </a:xfrm>
          <a:prstGeom prst="rect">
            <a:avLst/>
          </a:prstGeom>
          <a:solidFill>
            <a:schemeClr val="accent1">
              <a:lumMod val="40000"/>
              <a:lumOff val="60000"/>
            </a:schemeClr>
          </a:solidFill>
        </p:spPr>
        <p:txBody>
          <a:bodyPr wrap="square" rtlCol="0">
            <a:spAutoFit/>
          </a:bodyPr>
          <a:lstStyle/>
          <a:p>
            <a:pPr>
              <a:defRPr sz="1300"/>
            </a:pPr>
            <a:r>
              <a:t>• Trunk-Based Collaboration with Short-Lived Branches: Enforced strict branch prefixes (feat/, fix/, docs/, test/, chore/) tied directly to Jira keys (e.g. feature/SCRUM-216-e09-registration-list).</a:t>
            </a:r>
          </a:p>
          <a:p>
            <a:r>
              <a:t>• Guardrails &amp; PR Hygiene: Maximum 2 open PRs per author (scripts/check_pr_guardrails.py) prevented WIP bloat and merge debt. Every PR required four mandatory headers (What and why, Verification, Checklist, Follow-ups).</a:t>
            </a:r>
          </a:p>
          <a:p>
            <a:r>
              <a:t>• Worktree Isolation: Utilised Git worktrees (sgConnectSphere2026-wt/) to review and test stacked branches without dirtying local environments, validated by check_worktrees.py.</a:t>
            </a:r>
          </a:p>
          <a:p>
            <a:r>
              <a:t>• Linear Git History: Rebase-and-merge / squash workflow kept main clean, bisectable, and always production-ready, backed by branch protection rules.</a:t>
            </a:r>
          </a:p>
        </p:txBody>
      </p:sp>
    </p:spTree>
    <p:extLst>
      <p:ext uri="{BB962C8B-B14F-4D97-AF65-F5344CB8AC3E}">
        <p14:creationId xmlns:p14="http://schemas.microsoft.com/office/powerpoint/2010/main" val="3706894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0EA01-4539-4B34-D583-460E062EA590}"/>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7CBBB8C8-CDC8-BA80-2C99-AD22CEDBE960}"/>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Testing Strategy (</a:t>
            </a:r>
            <a:r>
              <a:rPr lang="en-US" altLang="en-US" sz="3200" b="1" err="1">
                <a:solidFill>
                  <a:schemeClr val="bg1"/>
                </a:solidFill>
              </a:rPr>
              <a:t>i</a:t>
            </a:r>
            <a:r>
              <a:rPr lang="en-US" altLang="en-US" sz="3200" b="1">
                <a:solidFill>
                  <a:schemeClr val="bg1"/>
                </a:solidFill>
              </a:rPr>
              <a:t>)</a:t>
            </a:r>
          </a:p>
        </p:txBody>
      </p:sp>
      <p:sp>
        <p:nvSpPr>
          <p:cNvPr id="4" name="TextBox 3">
            <a:extLst>
              <a:ext uri="{FF2B5EF4-FFF2-40B4-BE49-F238E27FC236}">
                <a16:creationId xmlns:a16="http://schemas.microsoft.com/office/drawing/2014/main" id="{769D1187-DDDA-7E13-D6AA-2E7C7FEEA573}"/>
              </a:ext>
            </a:extLst>
          </p:cNvPr>
          <p:cNvSpPr txBox="1"/>
          <p:nvPr/>
        </p:nvSpPr>
        <p:spPr>
          <a:xfrm>
            <a:off x="247651" y="1480979"/>
            <a:ext cx="9938339" cy="369332"/>
          </a:xfrm>
          <a:prstGeom prst="rect">
            <a:avLst/>
          </a:prstGeom>
          <a:noFill/>
        </p:spPr>
        <p:txBody>
          <a:bodyPr wrap="square">
            <a:spAutoFit/>
          </a:bodyPr>
          <a:lstStyle/>
          <a:p>
            <a:pPr lvl="0"/>
            <a:r>
              <a:rPr lang="en-SG" b="1"/>
              <a:t>Complete the following table on tests (at the time of your project submission):</a:t>
            </a:r>
          </a:p>
        </p:txBody>
      </p:sp>
      <p:graphicFrame>
        <p:nvGraphicFramePr>
          <p:cNvPr id="2" name="Table 1">
            <a:extLst>
              <a:ext uri="{FF2B5EF4-FFF2-40B4-BE49-F238E27FC236}">
                <a16:creationId xmlns:a16="http://schemas.microsoft.com/office/drawing/2014/main" id="{EBD23CCC-25B0-50A5-D420-106D3AF20D51}"/>
              </a:ext>
            </a:extLst>
          </p:cNvPr>
          <p:cNvGraphicFramePr>
            <a:graphicFrameLocks noGrp="1"/>
          </p:cNvGraphicFramePr>
          <p:nvPr>
            <p:extLst>
              <p:ext uri="{D42A27DB-BD31-4B8C-83A1-F6EECF244321}">
                <p14:modId xmlns:p14="http://schemas.microsoft.com/office/powerpoint/2010/main" val="1119944281"/>
              </p:ext>
            </p:extLst>
          </p:nvPr>
        </p:nvGraphicFramePr>
        <p:xfrm>
          <a:off x="326571" y="1939670"/>
          <a:ext cx="11538858" cy="3657600"/>
        </p:xfrm>
        <a:graphic>
          <a:graphicData uri="http://schemas.openxmlformats.org/drawingml/2006/table">
            <a:tbl>
              <a:tblPr>
                <a:tableStyleId>{5C22544A-7EE6-4342-B048-85BDC9FD1C3A}</a:tableStyleId>
              </a:tblPr>
              <a:tblGrid>
                <a:gridCol w="5769429">
                  <a:extLst>
                    <a:ext uri="{9D8B030D-6E8A-4147-A177-3AD203B41FA5}">
                      <a16:colId xmlns:a16="http://schemas.microsoft.com/office/drawing/2014/main" val="3213861442"/>
                    </a:ext>
                  </a:extLst>
                </a:gridCol>
                <a:gridCol w="5769429">
                  <a:extLst>
                    <a:ext uri="{9D8B030D-6E8A-4147-A177-3AD203B41FA5}">
                      <a16:colId xmlns:a16="http://schemas.microsoft.com/office/drawing/2014/main" val="3823906008"/>
                    </a:ext>
                  </a:extLst>
                </a:gridCol>
              </a:tblGrid>
              <a:tr h="0">
                <a:tc>
                  <a:txBody>
                    <a:bodyPr/>
                    <a:lstStyle/>
                    <a:p>
                      <a:pPr>
                        <a:buNone/>
                        <a:defRPr sz="1000"/>
                      </a:pPr>
                      <a:r>
                        <a:rPr lang="en-SG" b="1"/>
                        <a:t>Metric</a:t>
                      </a:r>
                    </a:p>
                  </a:txBody>
                  <a:tcPr anchor="ctr"/>
                </a:tc>
                <a:tc>
                  <a:txBody>
                    <a:bodyPr/>
                    <a:lstStyle/>
                    <a:p>
                      <a:pPr algn="r">
                        <a:buNone/>
                        <a:defRPr sz="1000"/>
                      </a:pPr>
                      <a:r>
                        <a:rPr lang="en-SG" b="1"/>
                        <a:t>Result</a:t>
                      </a:r>
                    </a:p>
                  </a:txBody>
                  <a:tcPr anchor="ctr"/>
                </a:tc>
                <a:extLst>
                  <a:ext uri="{0D108BD9-81ED-4DB2-BD59-A6C34878D82A}">
                    <a16:rowId xmlns:a16="http://schemas.microsoft.com/office/drawing/2014/main" val="3342973514"/>
                  </a:ext>
                </a:extLst>
              </a:tr>
              <a:tr h="0">
                <a:tc>
                  <a:txBody>
                    <a:bodyPr/>
                    <a:lstStyle/>
                    <a:p>
                      <a:pPr>
                        <a:buNone/>
                        <a:defRPr sz="1000"/>
                      </a:pPr>
                      <a:r>
                        <a:rPr lang="en-SG"/>
                        <a:t>Number of manual e2e test cases using Wk4 template</a:t>
                      </a:r>
                    </a:p>
                  </a:txBody>
                  <a:tcPr anchor="ctr"/>
                </a:tc>
                <a:tc>
                  <a:txBody>
                    <a:bodyPr/>
                    <a:lstStyle/>
                    <a:p>
                      <a:pPr>
                        <a:defRPr sz="1000"/>
                      </a:pPr>
                      <a:r>
                        <a:t>379 test-case IDs in docs/testing/cases/ (export: PROJECT TEST CASES CAA 281026.xlsx)</a:t>
                      </a:r>
                    </a:p>
                  </a:txBody>
                  <a:tcPr anchor="ctr"/>
                </a:tc>
                <a:extLst>
                  <a:ext uri="{0D108BD9-81ED-4DB2-BD59-A6C34878D82A}">
                    <a16:rowId xmlns:a16="http://schemas.microsoft.com/office/drawing/2014/main" val="2560557115"/>
                  </a:ext>
                </a:extLst>
              </a:tr>
              <a:tr h="0">
                <a:tc>
                  <a:txBody>
                    <a:bodyPr/>
                    <a:lstStyle/>
                    <a:p>
                      <a:pPr>
                        <a:buNone/>
                        <a:defRPr sz="1000"/>
                      </a:pPr>
                      <a:r>
                        <a:rPr lang="en-SG"/>
                        <a:t>Number of unit tests</a:t>
                      </a:r>
                    </a:p>
                  </a:txBody>
                  <a:tcPr anchor="ctr"/>
                </a:tc>
                <a:tc>
                  <a:txBody>
                    <a:bodyPr/>
                    <a:lstStyle/>
                    <a:p>
                      <a:pPr>
                        <a:defRPr sz="1000"/>
                      </a:pPr>
                      <a:r>
                        <a:t>1,288 unit tests (676 frontend Vitest + 612 backend) - CI run 40901918683, 29 Oct 2026</a:t>
                      </a:r>
                    </a:p>
                  </a:txBody>
                  <a:tcPr anchor="ctr"/>
                </a:tc>
                <a:extLst>
                  <a:ext uri="{0D108BD9-81ED-4DB2-BD59-A6C34878D82A}">
                    <a16:rowId xmlns:a16="http://schemas.microsoft.com/office/drawing/2014/main" val="337229949"/>
                  </a:ext>
                </a:extLst>
              </a:tr>
              <a:tr h="0">
                <a:tc>
                  <a:txBody>
                    <a:bodyPr/>
                    <a:lstStyle/>
                    <a:p>
                      <a:pPr>
                        <a:buNone/>
                        <a:defRPr sz="1000"/>
                      </a:pPr>
                      <a:r>
                        <a:rPr lang="en-SG"/>
                        <a:t>Number of integration tests (if any)</a:t>
                      </a:r>
                    </a:p>
                  </a:txBody>
                  <a:tcPr anchor="ctr"/>
                </a:tc>
                <a:tc>
                  <a:txBody>
                    <a:bodyPr/>
                    <a:lstStyle/>
                    <a:p>
                      <a:pPr>
                        <a:defRPr sz="1000"/>
                      </a:pPr>
                      <a:r>
                        <a:t>48 integration test files (backend database rollback and API suites)</a:t>
                      </a:r>
                    </a:p>
                  </a:txBody>
                  <a:tcPr anchor="ctr"/>
                </a:tc>
                <a:extLst>
                  <a:ext uri="{0D108BD9-81ED-4DB2-BD59-A6C34878D82A}">
                    <a16:rowId xmlns:a16="http://schemas.microsoft.com/office/drawing/2014/main" val="1543926784"/>
                  </a:ext>
                </a:extLst>
              </a:tr>
              <a:tr h="0">
                <a:tc>
                  <a:txBody>
                    <a:bodyPr/>
                    <a:lstStyle/>
                    <a:p>
                      <a:pPr>
                        <a:buNone/>
                        <a:defRPr sz="1000"/>
                      </a:pPr>
                      <a:r>
                        <a:rPr lang="en-SG"/>
                        <a:t>Number of automated e2e tests (if any)</a:t>
                      </a:r>
                    </a:p>
                  </a:txBody>
                  <a:tcPr anchor="ctr"/>
                </a:tc>
                <a:tc>
                  <a:txBody>
                    <a:bodyPr/>
                    <a:lstStyle/>
                    <a:p>
                      <a:pPr>
                        <a:defRPr sz="1000"/>
                      </a:pPr>
                      <a:r>
                        <a:t>40 Playwright spec files in tests/e2e/ (E01-E14; some are still test.fixme)</a:t>
                      </a:r>
                    </a:p>
                  </a:txBody>
                  <a:tcPr anchor="ctr"/>
                </a:tc>
                <a:extLst>
                  <a:ext uri="{0D108BD9-81ED-4DB2-BD59-A6C34878D82A}">
                    <a16:rowId xmlns:a16="http://schemas.microsoft.com/office/drawing/2014/main" val="2280732537"/>
                  </a:ext>
                </a:extLst>
              </a:tr>
              <a:tr h="0">
                <a:tc>
                  <a:txBody>
                    <a:bodyPr/>
                    <a:lstStyle/>
                    <a:p>
                      <a:pPr>
                        <a:buNone/>
                        <a:defRPr sz="1000"/>
                      </a:pPr>
                      <a:r>
                        <a:rPr lang="en-SG"/>
                        <a:t>Coverage (explain why if not 100%)</a:t>
                      </a:r>
                    </a:p>
                  </a:txBody>
                  <a:tcPr anchor="ctr"/>
                </a:tc>
                <a:tc>
                  <a:txBody>
                    <a:bodyPr/>
                    <a:lstStyle/>
                    <a:p>
                      <a:pPr>
                        <a:defRPr sz="1000"/>
                      </a:pPr>
                      <a:r>
                        <a:t>DoD requires 100% unit coverage on changed code (npm run test:coverage); no CI gate</a:t>
                      </a:r>
                    </a:p>
                  </a:txBody>
                  <a:tcPr anchor="ctr"/>
                </a:tc>
                <a:extLst>
                  <a:ext uri="{0D108BD9-81ED-4DB2-BD59-A6C34878D82A}">
                    <a16:rowId xmlns:a16="http://schemas.microsoft.com/office/drawing/2014/main" val="2516810282"/>
                  </a:ext>
                </a:extLst>
              </a:tr>
              <a:tr h="0">
                <a:tc>
                  <a:txBody>
                    <a:bodyPr/>
                    <a:lstStyle/>
                    <a:p>
                      <a:pPr>
                        <a:buNone/>
                        <a:defRPr sz="1000"/>
                      </a:pPr>
                      <a:r>
                        <a:rPr lang="en-SG"/>
                        <a:t>Current passing tests</a:t>
                      </a:r>
                    </a:p>
                  </a:txBody>
                  <a:tcPr anchor="ctr"/>
                </a:tc>
                <a:tc>
                  <a:txBody>
                    <a:bodyPr/>
                    <a:lstStyle/>
                    <a:p>
                      <a:pPr>
                        <a:defRPr sz="1000"/>
                      </a:pPr>
                      <a:r>
                        <a:t>All suites green in CI on main: 676 frontend + 612 backend (29 Oct 2026)</a:t>
                      </a:r>
                    </a:p>
                  </a:txBody>
                  <a:tcPr anchor="ctr"/>
                </a:tc>
                <a:extLst>
                  <a:ext uri="{0D108BD9-81ED-4DB2-BD59-A6C34878D82A}">
                    <a16:rowId xmlns:a16="http://schemas.microsoft.com/office/drawing/2014/main" val="2349477081"/>
                  </a:ext>
                </a:extLst>
              </a:tr>
              <a:tr h="0">
                <a:tc>
                  <a:txBody>
                    <a:bodyPr/>
                    <a:lstStyle/>
                    <a:p>
                      <a:pPr>
                        <a:buNone/>
                        <a:defRPr sz="1000"/>
                      </a:pPr>
                      <a:r>
                        <a:rPr lang="en-SG"/>
                        <a:t>Current failing tests</a:t>
                      </a:r>
                    </a:p>
                  </a:txBody>
                  <a:tcPr anchor="ctr"/>
                </a:tc>
                <a:tc>
                  <a:txBody>
                    <a:bodyPr/>
                    <a:lstStyle/>
                    <a:p>
                      <a:pPr>
                        <a:defRPr sz="1000"/>
                      </a:pPr>
                      <a:r>
                        <a:t>0 in CI on main (29 Oct 2026); Vitest flakes locally under load</a:t>
                      </a:r>
                    </a:p>
                  </a:txBody>
                  <a:tcPr anchor="ctr"/>
                </a:tc>
                <a:extLst>
                  <a:ext uri="{0D108BD9-81ED-4DB2-BD59-A6C34878D82A}">
                    <a16:rowId xmlns:a16="http://schemas.microsoft.com/office/drawing/2014/main" val="698918804"/>
                  </a:ext>
                </a:extLst>
              </a:tr>
              <a:tr h="0">
                <a:tc>
                  <a:txBody>
                    <a:bodyPr/>
                    <a:lstStyle/>
                    <a:p>
                      <a:pPr>
                        <a:buNone/>
                        <a:defRPr sz="1000"/>
                      </a:pPr>
                      <a:r>
                        <a:rPr lang="en-SG"/>
                        <a:t>CI status</a:t>
                      </a:r>
                    </a:p>
                  </a:txBody>
                  <a:tcPr anchor="ctr"/>
                </a:tc>
                <a:tc>
                  <a:txBody>
                    <a:bodyPr/>
                    <a:lstStyle/>
                    <a:p>
                      <a:pPr>
                        <a:defRPr sz="1000"/>
                      </a:pPr>
                      <a:r>
                        <a:t>Pass - 16/16 checks green on main (29 Oct 2026)</a:t>
                      </a:r>
                    </a:p>
                  </a:txBody>
                  <a:tcPr anchor="ctr"/>
                </a:tc>
                <a:extLst>
                  <a:ext uri="{0D108BD9-81ED-4DB2-BD59-A6C34878D82A}">
                    <a16:rowId xmlns:a16="http://schemas.microsoft.com/office/drawing/2014/main" val="1182502127"/>
                  </a:ext>
                </a:extLst>
              </a:tr>
              <a:tr h="0">
                <a:tc>
                  <a:txBody>
                    <a:bodyPr/>
                    <a:lstStyle/>
                    <a:p>
                      <a:pPr>
                        <a:buNone/>
                        <a:defRPr sz="1000"/>
                      </a:pPr>
                      <a:r>
                        <a:rPr lang="en-SG"/>
                        <a:t>Number of known unresolved defects</a:t>
                      </a:r>
                    </a:p>
                  </a:txBody>
                  <a:tcPr anchor="ctr"/>
                </a:tc>
                <a:tc>
                  <a:txBody>
                    <a:bodyPr/>
                    <a:lstStyle/>
                    <a:p>
                      <a:pPr>
                        <a:defRPr sz="1000"/>
                      </a:pPr>
                      <a:r>
                        <a:t>Open follow-ups: PRs #309, #328, #361; 1 open issue; no Done story reopened</a:t>
                      </a:r>
                    </a:p>
                  </a:txBody>
                  <a:tcPr anchor="ctr"/>
                </a:tc>
                <a:extLst>
                  <a:ext uri="{0D108BD9-81ED-4DB2-BD59-A6C34878D82A}">
                    <a16:rowId xmlns:a16="http://schemas.microsoft.com/office/drawing/2014/main" val="841089056"/>
                  </a:ext>
                </a:extLst>
              </a:tr>
            </a:tbl>
          </a:graphicData>
        </a:graphic>
      </p:graphicFrame>
      <p:sp>
        <p:nvSpPr>
          <p:cNvPr id="3" name="TextBox 2">
            <a:extLst>
              <a:ext uri="{FF2B5EF4-FFF2-40B4-BE49-F238E27FC236}">
                <a16:creationId xmlns:a16="http://schemas.microsoft.com/office/drawing/2014/main" id="{7E52F0E2-E226-8764-A130-D8FCC1CDCB54}"/>
              </a:ext>
            </a:extLst>
          </p:cNvPr>
          <p:cNvSpPr txBox="1"/>
          <p:nvPr/>
        </p:nvSpPr>
        <p:spPr>
          <a:xfrm>
            <a:off x="326571" y="6251252"/>
            <a:ext cx="11582403" cy="369332"/>
          </a:xfrm>
          <a:prstGeom prst="rect">
            <a:avLst/>
          </a:prstGeom>
          <a:solidFill>
            <a:schemeClr val="accent1">
              <a:lumMod val="40000"/>
              <a:lumOff val="60000"/>
            </a:schemeClr>
          </a:solidFill>
        </p:spPr>
        <p:txBody>
          <a:bodyPr wrap="square" rtlCol="0">
            <a:spAutoFit/>
          </a:bodyPr>
          <a:lstStyle/>
          <a:p>
            <a:pPr>
              <a:defRPr sz="1200"/>
            </a:pPr>
            <a:r>
              <a:t>Overly-isolated Mock-Only Unit Tests:</a:t>
            </a:r>
          </a:p>
          <a:p>
            <a:r>
              <a:t>Unit tests that heavily mocked the database layer and external browser events provided the least practical value. They often passed even when underlying SQL column types mismatched or when DOM focus transitions failed in real browsers. Value dramatically increased when we shifted towards integration tests with rollback transactions and Playwright browser tests.</a:t>
            </a:r>
          </a:p>
        </p:txBody>
      </p:sp>
      <p:sp>
        <p:nvSpPr>
          <p:cNvPr id="5" name="TextBox 4">
            <a:extLst>
              <a:ext uri="{FF2B5EF4-FFF2-40B4-BE49-F238E27FC236}">
                <a16:creationId xmlns:a16="http://schemas.microsoft.com/office/drawing/2014/main" id="{D2674F16-F327-9437-BF58-DD6F5C618F0A}"/>
              </a:ext>
            </a:extLst>
          </p:cNvPr>
          <p:cNvSpPr txBox="1"/>
          <p:nvPr/>
        </p:nvSpPr>
        <p:spPr>
          <a:xfrm>
            <a:off x="326571" y="5788664"/>
            <a:ext cx="11201402" cy="369332"/>
          </a:xfrm>
          <a:prstGeom prst="rect">
            <a:avLst/>
          </a:prstGeom>
          <a:noFill/>
        </p:spPr>
        <p:txBody>
          <a:bodyPr wrap="square" lIns="91440" tIns="45720" rIns="91440" bIns="45720" anchor="t">
            <a:spAutoFit/>
          </a:bodyPr>
          <a:lstStyle/>
          <a:p>
            <a:pPr marL="342900" lvl="0" indent="-342900">
              <a:buFont typeface="Arial" panose="020B0604020202020204" pitchFamily="34" charset="0"/>
              <a:buChar char="•"/>
            </a:pPr>
            <a:r>
              <a:rPr lang="en-SG"/>
              <a:t>Which type of testing provided the </a:t>
            </a:r>
            <a:r>
              <a:rPr lang="en-SG" b="1"/>
              <a:t>least</a:t>
            </a:r>
            <a:r>
              <a:rPr lang="en-SG"/>
              <a:t> value to your team, and why?</a:t>
            </a:r>
          </a:p>
        </p:txBody>
      </p:sp>
    </p:spTree>
    <p:extLst>
      <p:ext uri="{BB962C8B-B14F-4D97-AF65-F5344CB8AC3E}">
        <p14:creationId xmlns:p14="http://schemas.microsoft.com/office/powerpoint/2010/main" val="192733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3D8F2-3F45-A812-0F59-1762EF6E3BCC}"/>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38B4F90C-61C3-40B1-405B-5A0DF476054C}"/>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Testing Strategy (ii)</a:t>
            </a:r>
          </a:p>
        </p:txBody>
      </p:sp>
      <p:sp>
        <p:nvSpPr>
          <p:cNvPr id="4" name="TextBox 3">
            <a:extLst>
              <a:ext uri="{FF2B5EF4-FFF2-40B4-BE49-F238E27FC236}">
                <a16:creationId xmlns:a16="http://schemas.microsoft.com/office/drawing/2014/main" id="{10487658-DD80-FD75-1EE7-3E6753B34BF5}"/>
              </a:ext>
            </a:extLst>
          </p:cNvPr>
          <p:cNvSpPr txBox="1"/>
          <p:nvPr/>
        </p:nvSpPr>
        <p:spPr>
          <a:xfrm>
            <a:off x="258537" y="1469963"/>
            <a:ext cx="6482442" cy="923330"/>
          </a:xfrm>
          <a:prstGeom prst="rect">
            <a:avLst/>
          </a:prstGeom>
          <a:noFill/>
        </p:spPr>
        <p:txBody>
          <a:bodyPr wrap="square" lIns="91440" tIns="45720" rIns="91440" bIns="45720" anchor="t">
            <a:spAutoFit/>
          </a:bodyPr>
          <a:lstStyle/>
          <a:p>
            <a:pPr lvl="0"/>
            <a:r>
              <a:rPr lang="en-SG" b="1"/>
              <a:t>Describe:</a:t>
            </a:r>
          </a:p>
          <a:p>
            <a:pPr marL="285750" lvl="0" indent="-285750">
              <a:buFont typeface="Arial" panose="020B0604020202020204" pitchFamily="34" charset="0"/>
              <a:buChar char="•"/>
            </a:pPr>
            <a:r>
              <a:rPr lang="en-SG"/>
              <a:t>How you identified edge-cases in testing</a:t>
            </a:r>
          </a:p>
          <a:p>
            <a:pPr lvl="0"/>
            <a:endParaRPr lang="en-SG" b="1"/>
          </a:p>
        </p:txBody>
      </p:sp>
      <p:sp>
        <p:nvSpPr>
          <p:cNvPr id="3" name="TextBox 2">
            <a:extLst>
              <a:ext uri="{FF2B5EF4-FFF2-40B4-BE49-F238E27FC236}">
                <a16:creationId xmlns:a16="http://schemas.microsoft.com/office/drawing/2014/main" id="{7EE9770B-4837-738D-D26A-B85C071E0CD9}"/>
              </a:ext>
            </a:extLst>
          </p:cNvPr>
          <p:cNvSpPr txBox="1"/>
          <p:nvPr/>
        </p:nvSpPr>
        <p:spPr>
          <a:xfrm>
            <a:off x="258537" y="2100552"/>
            <a:ext cx="11582403" cy="1200329"/>
          </a:xfrm>
          <a:prstGeom prst="rect">
            <a:avLst/>
          </a:prstGeom>
          <a:solidFill>
            <a:schemeClr val="accent1">
              <a:lumMod val="40000"/>
              <a:lumOff val="60000"/>
            </a:schemeClr>
          </a:solidFill>
        </p:spPr>
        <p:txBody>
          <a:bodyPr wrap="square" rtlCol="0">
            <a:spAutoFit/>
          </a:bodyPr>
          <a:lstStyle/>
          <a:p>
            <a:pPr>
              <a:defRPr sz="1200"/>
            </a:pPr>
            <a:r>
              <a:t>Identified edge cases through boundary analysis and state-transition modelling: concurrent booking submissions within the same millisecond, negative capacities, venue unavailability spanning across existing multi-day reservations, registration cancellations when waiting lists are empty vs populated, and rapid double-click form submissions.</a:t>
            </a:r>
          </a:p>
        </p:txBody>
      </p:sp>
      <p:sp>
        <p:nvSpPr>
          <p:cNvPr id="6" name="TextBox 5">
            <a:extLst>
              <a:ext uri="{FF2B5EF4-FFF2-40B4-BE49-F238E27FC236}">
                <a16:creationId xmlns:a16="http://schemas.microsoft.com/office/drawing/2014/main" id="{6CA2D952-52D5-9DB8-3BB8-7DBDFD16BB63}"/>
              </a:ext>
            </a:extLst>
          </p:cNvPr>
          <p:cNvSpPr txBox="1"/>
          <p:nvPr/>
        </p:nvSpPr>
        <p:spPr>
          <a:xfrm>
            <a:off x="258537" y="3374571"/>
            <a:ext cx="7535128" cy="369332"/>
          </a:xfrm>
          <a:prstGeom prst="rect">
            <a:avLst/>
          </a:prstGeom>
          <a:noFill/>
        </p:spPr>
        <p:txBody>
          <a:bodyPr wrap="square">
            <a:spAutoFit/>
          </a:bodyPr>
          <a:lstStyle/>
          <a:p>
            <a:pPr marL="342900" lvl="0" indent="-342900">
              <a:buFont typeface="Arial" panose="020B0604020202020204" pitchFamily="34" charset="0"/>
              <a:buChar char="•"/>
            </a:pPr>
            <a:r>
              <a:rPr lang="en-SG"/>
              <a:t>How the customer change and/or CFO statement affected testing</a:t>
            </a:r>
          </a:p>
        </p:txBody>
      </p:sp>
      <p:sp>
        <p:nvSpPr>
          <p:cNvPr id="7" name="TextBox 6">
            <a:extLst>
              <a:ext uri="{FF2B5EF4-FFF2-40B4-BE49-F238E27FC236}">
                <a16:creationId xmlns:a16="http://schemas.microsoft.com/office/drawing/2014/main" id="{CF55520A-A86C-183F-C43D-AC3DE03B1748}"/>
              </a:ext>
            </a:extLst>
          </p:cNvPr>
          <p:cNvSpPr txBox="1"/>
          <p:nvPr/>
        </p:nvSpPr>
        <p:spPr>
          <a:xfrm>
            <a:off x="258537" y="3743903"/>
            <a:ext cx="11582403" cy="1200329"/>
          </a:xfrm>
          <a:prstGeom prst="rect">
            <a:avLst/>
          </a:prstGeom>
          <a:solidFill>
            <a:schemeClr val="accent1">
              <a:lumMod val="40000"/>
              <a:lumOff val="60000"/>
            </a:schemeClr>
          </a:solidFill>
        </p:spPr>
        <p:txBody>
          <a:bodyPr wrap="square" rtlCol="0">
            <a:spAutoFit/>
          </a:bodyPr>
          <a:lstStyle/>
          <a:p>
            <a:pPr>
              <a:defRPr sz="1200"/>
            </a:pPr>
            <a:r>
              <a:t>Customer changes introduced asynchronous state dependencies (e.g. waiting-list notification and first-come claims, plus turnaround buffer overlaps) that required testing time-based workflows and multi-role interactions (Organiser, Venue Staff, Coordinator, Attendee). CFO guidance reinforced our focus on cost efficiency, preventing expensive database resets and keeping CI execution lean.</a:t>
            </a:r>
          </a:p>
        </p:txBody>
      </p:sp>
      <p:sp>
        <p:nvSpPr>
          <p:cNvPr id="9" name="TextBox 8">
            <a:extLst>
              <a:ext uri="{FF2B5EF4-FFF2-40B4-BE49-F238E27FC236}">
                <a16:creationId xmlns:a16="http://schemas.microsoft.com/office/drawing/2014/main" id="{576587D8-F5B6-E2CD-CBF0-E197A2250317}"/>
              </a:ext>
            </a:extLst>
          </p:cNvPr>
          <p:cNvSpPr txBox="1"/>
          <p:nvPr/>
        </p:nvSpPr>
        <p:spPr>
          <a:xfrm>
            <a:off x="258536" y="4944232"/>
            <a:ext cx="10703631" cy="369332"/>
          </a:xfrm>
          <a:prstGeom prst="rect">
            <a:avLst/>
          </a:prstGeom>
          <a:noFill/>
        </p:spPr>
        <p:txBody>
          <a:bodyPr wrap="square">
            <a:spAutoFit/>
          </a:bodyPr>
          <a:lstStyle/>
          <a:p>
            <a:pPr marL="342900" lvl="0" indent="-342900">
              <a:buFont typeface="Arial" panose="020B0604020202020204" pitchFamily="34" charset="0"/>
              <a:buChar char="•"/>
            </a:pPr>
            <a:r>
              <a:rPr lang="en-SG"/>
              <a:t>Has every test case been verified by a human? If not, why? If so, what was the process/challenges?</a:t>
            </a:r>
          </a:p>
        </p:txBody>
      </p:sp>
      <p:sp>
        <p:nvSpPr>
          <p:cNvPr id="10" name="TextBox 9">
            <a:extLst>
              <a:ext uri="{FF2B5EF4-FFF2-40B4-BE49-F238E27FC236}">
                <a16:creationId xmlns:a16="http://schemas.microsoft.com/office/drawing/2014/main" id="{7340E3D6-29FE-FFB9-824E-4E99DA314F3C}"/>
              </a:ext>
            </a:extLst>
          </p:cNvPr>
          <p:cNvSpPr txBox="1"/>
          <p:nvPr/>
        </p:nvSpPr>
        <p:spPr>
          <a:xfrm>
            <a:off x="258536" y="5387254"/>
            <a:ext cx="11582403" cy="1200329"/>
          </a:xfrm>
          <a:prstGeom prst="rect">
            <a:avLst/>
          </a:prstGeom>
          <a:solidFill>
            <a:schemeClr val="accent1">
              <a:lumMod val="40000"/>
              <a:lumOff val="60000"/>
            </a:schemeClr>
          </a:solidFill>
        </p:spPr>
        <p:txBody>
          <a:bodyPr wrap="square" rtlCol="0">
            <a:spAutoFit/>
          </a:bodyPr>
          <a:lstStyle/>
          <a:p>
            <a:pPr>
              <a:defRPr sz="1100"/>
            </a:pPr>
            <a:r>
              <a:t>No - not all 379 test-case IDs. T-65/T-93 require a recorded manual run for each story accepted as Done: 739 run records and 509 evidence images in docs/testing/runs/. The 74 scaffold-only cases have had no human click-through.</a:t>
            </a:r>
          </a:p>
          <a:p>
            <a:r>
              <a:t>• Process: Testers followed documented markdown scripts (docs/testing/manual/), set up preconditions via SQL scripts, executed flows in the browser, captured hand-taken screenshots, and committed session records to docs/testing/runs/.</a:t>
            </a:r>
          </a:p>
          <a:p>
            <a:r>
              <a:t>• Challenges: Synchronising test accounts across roles without overwriting active test state required careful SQL fixture design.</a:t>
            </a:r>
          </a:p>
        </p:txBody>
      </p:sp>
    </p:spTree>
    <p:extLst>
      <p:ext uri="{BB962C8B-B14F-4D97-AF65-F5344CB8AC3E}">
        <p14:creationId xmlns:p14="http://schemas.microsoft.com/office/powerpoint/2010/main" val="1700897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E6ABC-36BD-E14E-F53A-0375088944B3}"/>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BB5A0505-EFAD-BBF3-5F8F-9C9B99C24390}"/>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a:t>
            </a:r>
            <a:r>
              <a:rPr lang="en-US" altLang="en-US" sz="3200" b="1" err="1">
                <a:solidFill>
                  <a:schemeClr val="bg1"/>
                </a:solidFill>
              </a:rPr>
              <a:t>i</a:t>
            </a:r>
            <a:r>
              <a:rPr lang="en-US" altLang="en-US" sz="3200" b="1">
                <a:solidFill>
                  <a:schemeClr val="bg1"/>
                </a:solidFill>
              </a:rPr>
              <a:t>)</a:t>
            </a:r>
          </a:p>
        </p:txBody>
      </p:sp>
      <p:sp>
        <p:nvSpPr>
          <p:cNvPr id="4" name="TextBox 3">
            <a:extLst>
              <a:ext uri="{FF2B5EF4-FFF2-40B4-BE49-F238E27FC236}">
                <a16:creationId xmlns:a16="http://schemas.microsoft.com/office/drawing/2014/main" id="{C0F38726-0C4D-1B42-2FCE-70FEF8AE2C56}"/>
              </a:ext>
            </a:extLst>
          </p:cNvPr>
          <p:cNvSpPr txBox="1"/>
          <p:nvPr/>
        </p:nvSpPr>
        <p:spPr>
          <a:xfrm>
            <a:off x="258537" y="1469963"/>
            <a:ext cx="11582402" cy="646331"/>
          </a:xfrm>
          <a:prstGeom prst="rect">
            <a:avLst/>
          </a:prstGeom>
          <a:noFill/>
        </p:spPr>
        <p:txBody>
          <a:bodyPr wrap="square">
            <a:spAutoFit/>
          </a:bodyPr>
          <a:lstStyle/>
          <a:p>
            <a:pPr marL="285750" indent="-285750">
              <a:buFont typeface="Arial" panose="020B0604020202020204" pitchFamily="34" charset="0"/>
              <a:buChar char="•"/>
            </a:pPr>
            <a:r>
              <a:rPr lang="en-SG" b="1"/>
              <a:t>Complete:</a:t>
            </a:r>
          </a:p>
          <a:p>
            <a:pPr marL="285750" lvl="0" indent="-285750">
              <a:buFont typeface="Arial" panose="020B0604020202020204" pitchFamily="34" charset="0"/>
              <a:buChar char="•"/>
            </a:pPr>
            <a:endParaRPr lang="en-SG" b="1"/>
          </a:p>
        </p:txBody>
      </p:sp>
      <p:graphicFrame>
        <p:nvGraphicFramePr>
          <p:cNvPr id="2" name="Table 1">
            <a:extLst>
              <a:ext uri="{FF2B5EF4-FFF2-40B4-BE49-F238E27FC236}">
                <a16:creationId xmlns:a16="http://schemas.microsoft.com/office/drawing/2014/main" id="{539EA8CD-2DB7-12C9-3AD5-5FCF98B8D6F5}"/>
              </a:ext>
            </a:extLst>
          </p:cNvPr>
          <p:cNvGraphicFramePr>
            <a:graphicFrameLocks noGrp="1"/>
          </p:cNvGraphicFramePr>
          <p:nvPr>
            <p:extLst>
              <p:ext uri="{D42A27DB-BD31-4B8C-83A1-F6EECF244321}">
                <p14:modId xmlns:p14="http://schemas.microsoft.com/office/powerpoint/2010/main" val="2974236289"/>
              </p:ext>
            </p:extLst>
          </p:nvPr>
        </p:nvGraphicFramePr>
        <p:xfrm>
          <a:off x="225216" y="1830251"/>
          <a:ext cx="11649044" cy="5021516"/>
        </p:xfrm>
        <a:graphic>
          <a:graphicData uri="http://schemas.openxmlformats.org/drawingml/2006/table">
            <a:tbl>
              <a:tblPr>
                <a:tableStyleId>{5C22544A-7EE6-4342-B048-85BDC9FD1C3A}</a:tableStyleId>
              </a:tblPr>
              <a:tblGrid>
                <a:gridCol w="4276695">
                  <a:extLst>
                    <a:ext uri="{9D8B030D-6E8A-4147-A177-3AD203B41FA5}">
                      <a16:colId xmlns:a16="http://schemas.microsoft.com/office/drawing/2014/main" val="4175266295"/>
                    </a:ext>
                  </a:extLst>
                </a:gridCol>
                <a:gridCol w="7372349">
                  <a:extLst>
                    <a:ext uri="{9D8B030D-6E8A-4147-A177-3AD203B41FA5}">
                      <a16:colId xmlns:a16="http://schemas.microsoft.com/office/drawing/2014/main" val="2584215645"/>
                    </a:ext>
                  </a:extLst>
                </a:gridCol>
              </a:tblGrid>
              <a:tr h="377776">
                <a:tc>
                  <a:txBody>
                    <a:bodyPr/>
                    <a:lstStyle/>
                    <a:p>
                      <a:pPr>
                        <a:buNone/>
                        <a:defRPr sz="1000"/>
                      </a:pPr>
                      <a:r>
                        <a:rPr lang="en-SG" sz="1700" b="1"/>
                        <a:t>CI Question</a:t>
                      </a:r>
                    </a:p>
                  </a:txBody>
                  <a:tcPr marL="85320" marR="85320" marT="42660" marB="42660" anchor="ctr"/>
                </a:tc>
                <a:tc>
                  <a:txBody>
                    <a:bodyPr/>
                    <a:lstStyle/>
                    <a:p>
                      <a:pPr>
                        <a:buNone/>
                        <a:defRPr sz="1000"/>
                      </a:pPr>
                      <a:r>
                        <a:rPr lang="en-SG" sz="1700" b="1"/>
                        <a:t>Your Team’s Answer</a:t>
                      </a:r>
                    </a:p>
                  </a:txBody>
                  <a:tcPr marL="85320" marR="85320" marT="42660" marB="42660" anchor="ctr"/>
                </a:tc>
                <a:extLst>
                  <a:ext uri="{0D108BD9-81ED-4DB2-BD59-A6C34878D82A}">
                    <a16:rowId xmlns:a16="http://schemas.microsoft.com/office/drawing/2014/main" val="1899935958"/>
                  </a:ext>
                </a:extLst>
              </a:tr>
              <a:tr h="377776">
                <a:tc>
                  <a:txBody>
                    <a:bodyPr/>
                    <a:lstStyle/>
                    <a:p>
                      <a:pPr>
                        <a:buNone/>
                        <a:defRPr sz="1000"/>
                      </a:pPr>
                      <a:r>
                        <a:rPr lang="en-SG" sz="1700"/>
                        <a:t>What events trigger your CI pipeline?</a:t>
                      </a:r>
                    </a:p>
                  </a:txBody>
                  <a:tcPr marL="85320" marR="85320" marT="42660" marB="42660" anchor="ctr"/>
                </a:tc>
                <a:tc>
                  <a:txBody>
                    <a:bodyPr/>
                    <a:lstStyle/>
                    <a:p>
                      <a:pPr>
                        <a:defRPr sz="1000"/>
                      </a:pPr>
                      <a:r>
                        <a:t>Pull request open/synchronize/reopen, push to main, and manual workflow dispatch.</a:t>
                      </a:r>
                    </a:p>
                  </a:txBody>
                  <a:tcPr marL="85320" marR="85320" marT="42660" marB="42660" anchor="ctr"/>
                </a:tc>
                <a:extLst>
                  <a:ext uri="{0D108BD9-81ED-4DB2-BD59-A6C34878D82A}">
                    <a16:rowId xmlns:a16="http://schemas.microsoft.com/office/drawing/2014/main" val="2381012995"/>
                  </a:ext>
                </a:extLst>
              </a:tr>
              <a:tr h="377776">
                <a:tc>
                  <a:txBody>
                    <a:bodyPr/>
                    <a:lstStyle/>
                    <a:p>
                      <a:pPr>
                        <a:buNone/>
                        <a:defRPr sz="1000"/>
                      </a:pPr>
                      <a:r>
                        <a:rPr lang="en-SG" sz="1700"/>
                        <a:t>What checks/tests are run automatically?</a:t>
                      </a:r>
                    </a:p>
                  </a:txBody>
                  <a:tcPr marL="85320" marR="85320" marT="42660" marB="42660" anchor="ctr"/>
                </a:tc>
                <a:tc>
                  <a:txBody>
                    <a:bodyPr/>
                    <a:lstStyle/>
                    <a:p>
                      <a:pPr>
                        <a:defRPr sz="1000"/>
                      </a:pPr>
                      <a:r>
                        <a:t>pr-conventions, pr-guardrails (max 2 PRs/author), application-checks (lint, typecheck, Vitest, backend unit/db, Playwright E2E, check.py, tc-coverage audit).</a:t>
                      </a:r>
                    </a:p>
                  </a:txBody>
                  <a:tcPr marL="85320" marR="85320" marT="42660" marB="42660" anchor="ctr"/>
                </a:tc>
                <a:extLst>
                  <a:ext uri="{0D108BD9-81ED-4DB2-BD59-A6C34878D82A}">
                    <a16:rowId xmlns:a16="http://schemas.microsoft.com/office/drawing/2014/main" val="3027506273"/>
                  </a:ext>
                </a:extLst>
              </a:tr>
              <a:tr h="661963">
                <a:tc>
                  <a:txBody>
                    <a:bodyPr/>
                    <a:lstStyle/>
                    <a:p>
                      <a:pPr>
                        <a:buNone/>
                        <a:defRPr sz="1000"/>
                      </a:pPr>
                      <a:r>
                        <a:rPr lang="en-SG" sz="1700"/>
                        <a:t>Is CI required to pass before code can be merged into main?</a:t>
                      </a:r>
                    </a:p>
                  </a:txBody>
                  <a:tcPr marL="85320" marR="85320" marT="42660" marB="42660" anchor="ctr"/>
                </a:tc>
                <a:tc>
                  <a:txBody>
                    <a:bodyPr/>
                    <a:lstStyle/>
                    <a:p>
                      <a:pPr>
                        <a:defRPr sz="1000"/>
                      </a:pPr>
                      <a:r>
                        <a:t>Yes. Enforced via GitHub branch protection rules requiring all status checks to be green.</a:t>
                      </a:r>
                    </a:p>
                  </a:txBody>
                  <a:tcPr marL="85320" marR="85320" marT="42660" marB="42660" anchor="ctr"/>
                </a:tc>
                <a:extLst>
                  <a:ext uri="{0D108BD9-81ED-4DB2-BD59-A6C34878D82A}">
                    <a16:rowId xmlns:a16="http://schemas.microsoft.com/office/drawing/2014/main" val="3275610482"/>
                  </a:ext>
                </a:extLst>
              </a:tr>
              <a:tr h="661963">
                <a:tc>
                  <a:txBody>
                    <a:bodyPr/>
                    <a:lstStyle/>
                    <a:p>
                      <a:pPr>
                        <a:buNone/>
                        <a:defRPr sz="1000"/>
                      </a:pPr>
                      <a:r>
                        <a:rPr lang="en-SG" sz="1700"/>
                        <a:t>How many CI failures (CI going red) did your team encounter during the project?</a:t>
                      </a:r>
                      <a:endParaRPr lang="en-US"/>
                    </a:p>
                  </a:txBody>
                  <a:tcPr marL="85320" marR="85320" marT="42660" marB="42660" anchor="ctr"/>
                </a:tc>
                <a:tc>
                  <a:txBody>
                    <a:bodyPr/>
                    <a:lstStyle/>
                    <a:p>
                      <a:pPr>
                        <a:defRPr sz="1000"/>
                      </a:pPr>
                      <a:r>
                        <a:t>Approximately 38 CI failures across the 4 sprints (all caught pre-merge).</a:t>
                      </a:r>
                    </a:p>
                  </a:txBody>
                  <a:tcPr marL="85320" marR="85320" marT="42660" marB="42660" anchor="ctr"/>
                </a:tc>
                <a:extLst>
                  <a:ext uri="{0D108BD9-81ED-4DB2-BD59-A6C34878D82A}">
                    <a16:rowId xmlns:a16="http://schemas.microsoft.com/office/drawing/2014/main" val="870716701"/>
                  </a:ext>
                </a:extLst>
              </a:tr>
              <a:tr h="661963">
                <a:tc>
                  <a:txBody>
                    <a:bodyPr/>
                    <a:lstStyle/>
                    <a:p>
                      <a:pPr>
                        <a:buNone/>
                        <a:defRPr sz="1000"/>
                      </a:pPr>
                      <a:r>
                        <a:rPr lang="en-SG" sz="1700"/>
                        <a:t>What was the most meaningful CI failure you encountered?</a:t>
                      </a:r>
                    </a:p>
                  </a:txBody>
                  <a:tcPr marL="85320" marR="85320" marT="42660" marB="42660" anchor="ctr"/>
                </a:tc>
                <a:tc>
                  <a:txBody>
                    <a:bodyPr/>
                    <a:lstStyle/>
                    <a:p>
                      <a:pPr>
                        <a:defRPr sz="1000"/>
                      </a:pPr>
                      <a:r>
                        <a:t>The RefusedEdit navigation focus assertion race condition (#372) and author PR guardrail limit detection (#373).</a:t>
                      </a:r>
                    </a:p>
                  </a:txBody>
                  <a:tcPr marL="85320" marR="85320" marT="42660" marB="42660" anchor="ctr"/>
                </a:tc>
                <a:extLst>
                  <a:ext uri="{0D108BD9-81ED-4DB2-BD59-A6C34878D82A}">
                    <a16:rowId xmlns:a16="http://schemas.microsoft.com/office/drawing/2014/main" val="3373337732"/>
                  </a:ext>
                </a:extLst>
              </a:tr>
              <a:tr h="377776">
                <a:tc>
                  <a:txBody>
                    <a:bodyPr/>
                    <a:lstStyle/>
                    <a:p>
                      <a:pPr>
                        <a:buNone/>
                        <a:defRPr sz="1000"/>
                      </a:pPr>
                      <a:r>
                        <a:rPr lang="en-SG" sz="1700"/>
                        <a:t>What caused it, and how was it resolved?</a:t>
                      </a:r>
                    </a:p>
                  </a:txBody>
                  <a:tcPr marL="85320" marR="85320" marT="42660" marB="42660" anchor="ctr"/>
                </a:tc>
                <a:tc>
                  <a:txBody>
                    <a:bodyPr/>
                    <a:lstStyle/>
                    <a:p>
                      <a:pPr>
                        <a:defRPr sz="1000"/>
                      </a:pPr>
                      <a:r>
                        <a:t>Caused by synchronous focus expectation before DOM rendering completed. Resolved by introducing web-first waitFor polling on container element in PR #373.</a:t>
                      </a:r>
                    </a:p>
                  </a:txBody>
                  <a:tcPr marL="85320" marR="85320" marT="42660" marB="42660" anchor="ctr"/>
                </a:tc>
                <a:extLst>
                  <a:ext uri="{0D108BD9-81ED-4DB2-BD59-A6C34878D82A}">
                    <a16:rowId xmlns:a16="http://schemas.microsoft.com/office/drawing/2014/main" val="399138234"/>
                  </a:ext>
                </a:extLst>
              </a:tr>
              <a:tr h="661963">
                <a:tc>
                  <a:txBody>
                    <a:bodyPr/>
                    <a:lstStyle/>
                    <a:p>
                      <a:pPr>
                        <a:buNone/>
                        <a:defRPr sz="1000"/>
                      </a:pPr>
                      <a:r>
                        <a:rPr lang="en-SG" sz="1700"/>
                        <a:t>Did CI ever prevent faulty code from being merged? Give one example.</a:t>
                      </a:r>
                    </a:p>
                  </a:txBody>
                  <a:tcPr marL="85320" marR="85320" marT="42660" marB="42660" anchor="ctr"/>
                </a:tc>
                <a:tc>
                  <a:txBody>
                    <a:bodyPr/>
                    <a:lstStyle/>
                    <a:p>
                      <a:pPr>
                        <a:defRPr sz="1000"/>
                      </a:pPr>
                      <a:r>
                        <a:t>Yes. An agent submitted a PR touching .agents/STATE.md directly. CI pr-conventions immediately blocked the merge, preventing severe branch conflict across teammate PRs.</a:t>
                      </a:r>
                    </a:p>
                  </a:txBody>
                  <a:tcPr marL="85320" marR="85320" marT="42660" marB="42660" anchor="ctr"/>
                </a:tc>
                <a:extLst>
                  <a:ext uri="{0D108BD9-81ED-4DB2-BD59-A6C34878D82A}">
                    <a16:rowId xmlns:a16="http://schemas.microsoft.com/office/drawing/2014/main" val="937799439"/>
                  </a:ext>
                </a:extLst>
              </a:tr>
              <a:tr h="661963">
                <a:tc>
                  <a:txBody>
                    <a:bodyPr/>
                    <a:lstStyle/>
                    <a:p>
                      <a:pPr>
                        <a:buNone/>
                        <a:defRPr sz="1000"/>
                      </a:pPr>
                      <a:r>
                        <a:rPr lang="en-SG" sz="1700"/>
                        <a:t>Did you ever need to bypass CI (e.g. git force push / move code from local main to local branch)? Why? What did you do?</a:t>
                      </a:r>
                    </a:p>
                  </a:txBody>
                  <a:tcPr marL="85320" marR="85320" marT="42660" marB="42660" anchor="ctr"/>
                </a:tc>
                <a:tc>
                  <a:txBody>
                    <a:bodyPr/>
                    <a:lstStyle/>
                    <a:p>
                      <a:pPr>
                        <a:defRPr sz="1000"/>
                      </a:pPr>
                      <a:r>
                        <a:t>Never bypassed CI. Branch protection rules strictly prohibited force pushes or administrative bypasses. All issues were resolved through proper fix commits.</a:t>
                      </a:r>
                    </a:p>
                  </a:txBody>
                  <a:tcPr marL="85320" marR="85320" marT="42660" marB="42660" anchor="ctr"/>
                </a:tc>
                <a:extLst>
                  <a:ext uri="{0D108BD9-81ED-4DB2-BD59-A6C34878D82A}">
                    <a16:rowId xmlns:a16="http://schemas.microsoft.com/office/drawing/2014/main" val="3879166377"/>
                  </a:ext>
                </a:extLst>
              </a:tr>
            </a:tbl>
          </a:graphicData>
        </a:graphic>
      </p:graphicFrame>
    </p:spTree>
    <p:extLst>
      <p:ext uri="{BB962C8B-B14F-4D97-AF65-F5344CB8AC3E}">
        <p14:creationId xmlns:p14="http://schemas.microsoft.com/office/powerpoint/2010/main" val="36746286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DA009-4C37-3C2F-C4E6-6F93B24A9DE1}"/>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C436970A-98E9-4F1A-F676-98D1F8B3ACD8}"/>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(ii)</a:t>
            </a:r>
          </a:p>
        </p:txBody>
      </p:sp>
      <p:sp>
        <p:nvSpPr>
          <p:cNvPr id="4" name="TextBox 3">
            <a:extLst>
              <a:ext uri="{FF2B5EF4-FFF2-40B4-BE49-F238E27FC236}">
                <a16:creationId xmlns:a16="http://schemas.microsoft.com/office/drawing/2014/main" id="{401011E2-9499-268D-7732-D86CB00DF1F4}"/>
              </a:ext>
            </a:extLst>
          </p:cNvPr>
          <p:cNvSpPr txBox="1"/>
          <p:nvPr/>
        </p:nvSpPr>
        <p:spPr>
          <a:xfrm>
            <a:off x="205647" y="1514031"/>
            <a:ext cx="11582402" cy="646331"/>
          </a:xfrm>
          <a:prstGeom prst="rect">
            <a:avLst/>
          </a:prstGeom>
          <a:noFill/>
        </p:spPr>
        <p:txBody>
          <a:bodyPr wrap="square">
            <a:spAutoFit/>
          </a:bodyPr>
          <a:lstStyle/>
          <a:p>
            <a:pPr marL="285750" indent="-285750">
              <a:buFont typeface="Arial" panose="020B0604020202020204" pitchFamily="34" charset="0"/>
              <a:buChar char="•"/>
            </a:pPr>
            <a:r>
              <a:rPr lang="en-SG"/>
              <a:t>What are the most interesting things in your CI Pipeline that you wish to highlight? Why? Where did you get the idea from, and what benefits do you get from this?</a:t>
            </a:r>
          </a:p>
        </p:txBody>
      </p:sp>
      <p:sp>
        <p:nvSpPr>
          <p:cNvPr id="3" name="TextBox 2">
            <a:extLst>
              <a:ext uri="{FF2B5EF4-FFF2-40B4-BE49-F238E27FC236}">
                <a16:creationId xmlns:a16="http://schemas.microsoft.com/office/drawing/2014/main" id="{A64087E2-7504-89B0-7410-B3910D87F06F}"/>
              </a:ext>
            </a:extLst>
          </p:cNvPr>
          <p:cNvSpPr txBox="1"/>
          <p:nvPr/>
        </p:nvSpPr>
        <p:spPr>
          <a:xfrm>
            <a:off x="205646" y="2224898"/>
            <a:ext cx="11582403" cy="1200329"/>
          </a:xfrm>
          <a:prstGeom prst="rect">
            <a:avLst/>
          </a:prstGeom>
          <a:solidFill>
            <a:schemeClr val="accent1">
              <a:lumMod val="40000"/>
              <a:lumOff val="60000"/>
            </a:schemeClr>
          </a:solidFill>
        </p:spPr>
        <p:txBody>
          <a:bodyPr wrap="square" rtlCol="0">
            <a:spAutoFit/>
          </a:bodyPr>
          <a:lstStyle/>
          <a:p>
            <a:pPr>
              <a:defRPr sz="1200"/>
            </a:pPr>
            <a:r>
              <a:t>1. Derived-Document Drift Audits: CI runs python scripts/check.py and scripts/tc_coverage_audit.py, automatically validating that .env.template and tc-coverage.md never drift from actual codebase usage. Any discrepancy fails the build.</a:t>
            </a:r>
          </a:p>
          <a:p>
            <a:r>
              <a:t>2. Continuity &amp; State Protection Gate: Custom pre-commit and CI hooks prevent feature branches from editing shared continuity logs (STATE.md, JOURNAL.md), eliminating merge conflicts across parallel developer agents.</a:t>
            </a:r>
          </a:p>
          <a:p>
            <a:r>
              <a:t>3. Worktree &amp; Artifact Hygiene: Automated scanners warn developers of orphaned worktrees or unstaged test evidence, keeping local workspaces pristine and preventing accidental credential leakage.</a:t>
            </a:r>
          </a:p>
          <a:p>
            <a:r>
              <a:t>Benefit: Absolute reproducibility, zero merge lockouts, and 100% auditable traceability.</a:t>
            </a:r>
          </a:p>
        </p:txBody>
      </p:sp>
    </p:spTree>
    <p:extLst>
      <p:ext uri="{BB962C8B-B14F-4D97-AF65-F5344CB8AC3E}">
        <p14:creationId xmlns:p14="http://schemas.microsoft.com/office/powerpoint/2010/main" val="8033992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41160-6184-6317-3A3E-018717023A77}"/>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31D5E13-BE4A-373B-6AF5-6AEBB537386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(iii)</a:t>
            </a:r>
          </a:p>
        </p:txBody>
      </p:sp>
      <p:sp>
        <p:nvSpPr>
          <p:cNvPr id="4" name="TextBox 3">
            <a:extLst>
              <a:ext uri="{FF2B5EF4-FFF2-40B4-BE49-F238E27FC236}">
                <a16:creationId xmlns:a16="http://schemas.microsoft.com/office/drawing/2014/main" id="{52BA2071-7E17-DE3A-E1DA-90F5C8F23D34}"/>
              </a:ext>
            </a:extLst>
          </p:cNvPr>
          <p:cNvSpPr txBox="1"/>
          <p:nvPr/>
        </p:nvSpPr>
        <p:spPr>
          <a:xfrm>
            <a:off x="258537" y="1469963"/>
            <a:ext cx="11582402" cy="1477328"/>
          </a:xfrm>
          <a:prstGeom prst="rect">
            <a:avLst/>
          </a:prstGeom>
          <a:noFill/>
        </p:spPr>
        <p:txBody>
          <a:bodyPr wrap="square">
            <a:spAutoFit/>
          </a:bodyPr>
          <a:lstStyle/>
          <a:p>
            <a:r>
              <a:rPr lang="en-SG" b="1"/>
              <a:t>Show ONE concrete example of CI providing value:</a:t>
            </a:r>
          </a:p>
          <a:p>
            <a:pPr marL="285750" indent="-285750">
              <a:buFont typeface="Arial" panose="020B0604020202020204" pitchFamily="34" charset="0"/>
              <a:buChar char="•"/>
            </a:pPr>
            <a:r>
              <a:rPr lang="en-SG" b="1"/>
              <a:t>Change being integrated:</a:t>
            </a:r>
            <a:br>
              <a:rPr lang="en-SG"/>
            </a:br>
            <a:r>
              <a:rPr lang="en-SG"/>
              <a:t>What feature/fix was the team trying to merge?</a:t>
            </a:r>
          </a:p>
          <a:p>
            <a:pPr marL="285750" indent="-285750">
              <a:buFont typeface="Arial" panose="020B0604020202020204" pitchFamily="34" charset="0"/>
              <a:buChar char="•"/>
            </a:pPr>
            <a:endParaRPr lang="en-SG"/>
          </a:p>
          <a:p>
            <a:pPr marL="285750" lvl="0" indent="-285750">
              <a:buFont typeface="Arial" panose="020B0604020202020204" pitchFamily="34" charset="0"/>
              <a:buChar char="•"/>
            </a:pPr>
            <a:endParaRPr lang="en-SG" b="1"/>
          </a:p>
        </p:txBody>
      </p:sp>
      <p:sp>
        <p:nvSpPr>
          <p:cNvPr id="3" name="TextBox 2">
            <a:extLst>
              <a:ext uri="{FF2B5EF4-FFF2-40B4-BE49-F238E27FC236}">
                <a16:creationId xmlns:a16="http://schemas.microsoft.com/office/drawing/2014/main" id="{622D8493-59A9-CE9B-869A-9205CD496731}"/>
              </a:ext>
            </a:extLst>
          </p:cNvPr>
          <p:cNvSpPr txBox="1"/>
          <p:nvPr/>
        </p:nvSpPr>
        <p:spPr>
          <a:xfrm>
            <a:off x="258536" y="2347126"/>
            <a:ext cx="11582403" cy="646331"/>
          </a:xfrm>
          <a:prstGeom prst="rect">
            <a:avLst/>
          </a:prstGeom>
          <a:solidFill>
            <a:schemeClr val="accent1">
              <a:lumMod val="40000"/>
              <a:lumOff val="60000"/>
            </a:schemeClr>
          </a:solidFill>
        </p:spPr>
        <p:txBody>
          <a:bodyPr wrap="square" rtlCol="0">
            <a:spAutoFit/>
          </a:bodyPr>
          <a:lstStyle/>
          <a:p>
            <a:pPr>
              <a:defRPr sz="1200"/>
            </a:pPr>
            <a:r>
              <a:t>PR #373: Fix flaky focus assertion on RefusedEdit.navigation.test.tsx (E10-S01 / Issue #372).</a:t>
            </a:r>
          </a:p>
        </p:txBody>
      </p:sp>
      <p:sp>
        <p:nvSpPr>
          <p:cNvPr id="6" name="TextBox 5">
            <a:extLst>
              <a:ext uri="{FF2B5EF4-FFF2-40B4-BE49-F238E27FC236}">
                <a16:creationId xmlns:a16="http://schemas.microsoft.com/office/drawing/2014/main" id="{3504B0AF-9DB8-CF23-27C4-EEFF3D0F9145}"/>
              </a:ext>
            </a:extLst>
          </p:cNvPr>
          <p:cNvSpPr txBox="1"/>
          <p:nvPr/>
        </p:nvSpPr>
        <p:spPr>
          <a:xfrm>
            <a:off x="258535" y="2993457"/>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What failed:</a:t>
            </a:r>
            <a:br>
              <a:rPr lang="en-SG"/>
            </a:br>
            <a:r>
              <a:rPr lang="en-SG"/>
              <a:t>Which automated check or test failed?</a:t>
            </a:r>
            <a:endParaRPr lang="en-US"/>
          </a:p>
        </p:txBody>
      </p:sp>
      <p:sp>
        <p:nvSpPr>
          <p:cNvPr id="7" name="TextBox 6">
            <a:extLst>
              <a:ext uri="{FF2B5EF4-FFF2-40B4-BE49-F238E27FC236}">
                <a16:creationId xmlns:a16="http://schemas.microsoft.com/office/drawing/2014/main" id="{862A5F2D-E745-923E-2D81-E02E718EFD53}"/>
              </a:ext>
            </a:extLst>
          </p:cNvPr>
          <p:cNvSpPr txBox="1"/>
          <p:nvPr/>
        </p:nvSpPr>
        <p:spPr>
          <a:xfrm>
            <a:off x="258536" y="3639788"/>
            <a:ext cx="11582403" cy="646331"/>
          </a:xfrm>
          <a:prstGeom prst="rect">
            <a:avLst/>
          </a:prstGeom>
          <a:solidFill>
            <a:schemeClr val="accent1">
              <a:lumMod val="40000"/>
              <a:lumOff val="60000"/>
            </a:schemeClr>
          </a:solidFill>
        </p:spPr>
        <p:txBody>
          <a:bodyPr wrap="square" rtlCol="0">
            <a:spAutoFit/>
          </a:bodyPr>
          <a:lstStyle/>
          <a:p>
            <a:pPr>
              <a:defRPr sz="1200"/>
            </a:pPr>
            <a:r>
              <a:t>pr-guardrails check failed with error: 'Author bryanseah234 has 3 open PRs (limit is 2: #370, #371, #373)'.</a:t>
            </a:r>
          </a:p>
        </p:txBody>
      </p:sp>
      <p:sp>
        <p:nvSpPr>
          <p:cNvPr id="9" name="TextBox 8">
            <a:extLst>
              <a:ext uri="{FF2B5EF4-FFF2-40B4-BE49-F238E27FC236}">
                <a16:creationId xmlns:a16="http://schemas.microsoft.com/office/drawing/2014/main" id="{CA701EB7-2027-12D7-C123-E748C53388A5}"/>
              </a:ext>
            </a:extLst>
          </p:cNvPr>
          <p:cNvSpPr txBox="1"/>
          <p:nvPr/>
        </p:nvSpPr>
        <p:spPr>
          <a:xfrm>
            <a:off x="258535" y="4286119"/>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Why it failed:</a:t>
            </a:r>
            <a:br>
              <a:rPr lang="en-SG"/>
            </a:br>
            <a:r>
              <a:rPr lang="en-SG"/>
              <a:t>What problem in the implementation was detected?</a:t>
            </a:r>
            <a:endParaRPr lang="en-US"/>
          </a:p>
        </p:txBody>
      </p:sp>
      <p:sp>
        <p:nvSpPr>
          <p:cNvPr id="10" name="TextBox 9">
            <a:extLst>
              <a:ext uri="{FF2B5EF4-FFF2-40B4-BE49-F238E27FC236}">
                <a16:creationId xmlns:a16="http://schemas.microsoft.com/office/drawing/2014/main" id="{04976904-477F-29D1-6465-F8CEEADE6895}"/>
              </a:ext>
            </a:extLst>
          </p:cNvPr>
          <p:cNvSpPr txBox="1"/>
          <p:nvPr/>
        </p:nvSpPr>
        <p:spPr>
          <a:xfrm>
            <a:off x="258536" y="4932450"/>
            <a:ext cx="11582403" cy="646331"/>
          </a:xfrm>
          <a:prstGeom prst="rect">
            <a:avLst/>
          </a:prstGeom>
          <a:solidFill>
            <a:schemeClr val="accent1">
              <a:lumMod val="40000"/>
              <a:lumOff val="60000"/>
            </a:schemeClr>
          </a:solidFill>
        </p:spPr>
        <p:txBody>
          <a:bodyPr wrap="square" rtlCol="0">
            <a:spAutoFit/>
          </a:bodyPr>
          <a:lstStyle/>
          <a:p>
            <a:pPr>
              <a:defRPr sz="1200"/>
            </a:pPr>
            <a:r>
              <a:t>The automated guardrail prevented WIP overload and author bottlenecking. It ensured that developer attention was focused on reviewing and merging pending in-flight PRs (#370, #371) before introducing additional work into the pipeline.</a:t>
            </a:r>
          </a:p>
        </p:txBody>
      </p:sp>
      <p:sp>
        <p:nvSpPr>
          <p:cNvPr id="13" name="TextBox 12">
            <a:extLst>
              <a:ext uri="{FF2B5EF4-FFF2-40B4-BE49-F238E27FC236}">
                <a16:creationId xmlns:a16="http://schemas.microsoft.com/office/drawing/2014/main" id="{987675FD-A4AB-F30F-3A5D-84521B58D19B}"/>
              </a:ext>
            </a:extLst>
          </p:cNvPr>
          <p:cNvSpPr txBox="1"/>
          <p:nvPr/>
        </p:nvSpPr>
        <p:spPr>
          <a:xfrm>
            <a:off x="258535" y="5578781"/>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What the team did:</a:t>
            </a:r>
            <a:br>
              <a:rPr lang="en-SG"/>
            </a:br>
            <a:r>
              <a:rPr lang="en-SG"/>
              <a:t>How did you resolve the issue?</a:t>
            </a:r>
            <a:endParaRPr lang="en-US"/>
          </a:p>
        </p:txBody>
      </p:sp>
      <p:sp>
        <p:nvSpPr>
          <p:cNvPr id="14" name="TextBox 13">
            <a:extLst>
              <a:ext uri="{FF2B5EF4-FFF2-40B4-BE49-F238E27FC236}">
                <a16:creationId xmlns:a16="http://schemas.microsoft.com/office/drawing/2014/main" id="{D126D471-AE62-7FF7-EC20-C102327E3DB5}"/>
              </a:ext>
            </a:extLst>
          </p:cNvPr>
          <p:cNvSpPr txBox="1"/>
          <p:nvPr/>
        </p:nvSpPr>
        <p:spPr>
          <a:xfrm>
            <a:off x="258534" y="6151446"/>
            <a:ext cx="11582403" cy="646331"/>
          </a:xfrm>
          <a:prstGeom prst="rect">
            <a:avLst/>
          </a:prstGeom>
          <a:solidFill>
            <a:schemeClr val="accent1">
              <a:lumMod val="40000"/>
              <a:lumOff val="60000"/>
            </a:schemeClr>
          </a:solidFill>
        </p:spPr>
        <p:txBody>
          <a:bodyPr wrap="square" rtlCol="0">
            <a:spAutoFit/>
          </a:bodyPr>
          <a:lstStyle/>
          <a:p>
            <a:pPr>
              <a:defRPr sz="1200"/>
            </a:pPr>
            <a:r>
              <a:t>Reconciled and reviewed upstream dependencies, merged PR #368 and ready review items, unblocking the author's queue so PR #373 could cleanly merge with green CI across all 16 checks.</a:t>
            </a:r>
          </a:p>
        </p:txBody>
      </p:sp>
    </p:spTree>
    <p:extLst>
      <p:ext uri="{BB962C8B-B14F-4D97-AF65-F5344CB8AC3E}">
        <p14:creationId xmlns:p14="http://schemas.microsoft.com/office/powerpoint/2010/main" val="11797334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FE1CF-A528-972F-CEEA-6FF9160616D5}"/>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2F82C86-6955-F687-5190-8E39A7C1D2AB}"/>
              </a:ext>
            </a:extLst>
          </p:cNvPr>
          <p:cNvSpPr txBox="1">
            <a:spLocks noChangeArrowheads="1"/>
          </p:cNvSpPr>
          <p:nvPr/>
        </p:nvSpPr>
        <p:spPr>
          <a:xfrm>
            <a:off x="5191159" y="411087"/>
            <a:ext cx="7772400" cy="477569"/>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2800" b="1">
                <a:solidFill>
                  <a:schemeClr val="bg1"/>
                </a:solidFill>
              </a:rPr>
              <a:t>Team Contribution and Ownership</a:t>
            </a:r>
          </a:p>
        </p:txBody>
      </p:sp>
      <p:sp>
        <p:nvSpPr>
          <p:cNvPr id="4" name="TextBox 3">
            <a:extLst>
              <a:ext uri="{FF2B5EF4-FFF2-40B4-BE49-F238E27FC236}">
                <a16:creationId xmlns:a16="http://schemas.microsoft.com/office/drawing/2014/main" id="{20D3F257-0268-1810-733D-536EFB5B1735}"/>
              </a:ext>
            </a:extLst>
          </p:cNvPr>
          <p:cNvSpPr txBox="1"/>
          <p:nvPr/>
        </p:nvSpPr>
        <p:spPr>
          <a:xfrm>
            <a:off x="258537" y="1469963"/>
            <a:ext cx="11582402" cy="369332"/>
          </a:xfrm>
          <a:prstGeom prst="rect">
            <a:avLst/>
          </a:prstGeom>
          <a:noFill/>
        </p:spPr>
        <p:txBody>
          <a:bodyPr wrap="square">
            <a:spAutoFit/>
          </a:bodyPr>
          <a:lstStyle/>
          <a:p>
            <a:r>
              <a:rPr lang="en-SG" b="1"/>
              <a:t>Complete: (add/delete rows based on no. of team members)</a:t>
            </a:r>
          </a:p>
        </p:txBody>
      </p:sp>
      <p:graphicFrame>
        <p:nvGraphicFramePr>
          <p:cNvPr id="2" name="Table 1">
            <a:extLst>
              <a:ext uri="{FF2B5EF4-FFF2-40B4-BE49-F238E27FC236}">
                <a16:creationId xmlns:a16="http://schemas.microsoft.com/office/drawing/2014/main" id="{120B8A19-1E3B-D3CE-3C77-875832D1F7F0}"/>
              </a:ext>
            </a:extLst>
          </p:cNvPr>
          <p:cNvGraphicFramePr>
            <a:graphicFrameLocks noGrp="1"/>
          </p:cNvGraphicFramePr>
          <p:nvPr>
            <p:extLst>
              <p:ext uri="{D42A27DB-BD31-4B8C-83A1-F6EECF244321}">
                <p14:modId xmlns:p14="http://schemas.microsoft.com/office/powerpoint/2010/main" val="2346996234"/>
              </p:ext>
            </p:extLst>
          </p:nvPr>
        </p:nvGraphicFramePr>
        <p:xfrm>
          <a:off x="258537" y="1889981"/>
          <a:ext cx="11582400" cy="4540000"/>
        </p:xfrm>
        <a:graphic>
          <a:graphicData uri="http://schemas.openxmlformats.org/drawingml/2006/table">
            <a:tbl>
              <a:tblPr>
                <a:tableStyleId>{5C22544A-7EE6-4342-B048-85BDC9FD1C3A}</a:tableStyleId>
              </a:tblPr>
              <a:tblGrid>
                <a:gridCol w="2000000">
                  <a:extLst>
                    <a:ext uri="{9D8B030D-6E8A-4147-A177-3AD203B41FA5}">
                      <a16:colId xmlns:a16="http://schemas.microsoft.com/office/drawing/2014/main" val="1239423010"/>
                    </a:ext>
                  </a:extLst>
                </a:gridCol>
                <a:gridCol w="3400000">
                  <a:extLst>
                    <a:ext uri="{9D8B030D-6E8A-4147-A177-3AD203B41FA5}">
                      <a16:colId xmlns:a16="http://schemas.microsoft.com/office/drawing/2014/main" val="3703514168"/>
                    </a:ext>
                  </a:extLst>
                </a:gridCol>
                <a:gridCol w="1100000">
                  <a:extLst>
                    <a:ext uri="{9D8B030D-6E8A-4147-A177-3AD203B41FA5}">
                      <a16:colId xmlns:a16="http://schemas.microsoft.com/office/drawing/2014/main" val="576476744"/>
                    </a:ext>
                  </a:extLst>
                </a:gridCol>
                <a:gridCol w="3200000">
                  <a:extLst>
                    <a:ext uri="{9D8B030D-6E8A-4147-A177-3AD203B41FA5}">
                      <a16:colId xmlns:a16="http://schemas.microsoft.com/office/drawing/2014/main" val="3993756606"/>
                    </a:ext>
                  </a:extLst>
                </a:gridCol>
                <a:gridCol w="1882400">
                  <a:extLst>
                    <a:ext uri="{9D8B030D-6E8A-4147-A177-3AD203B41FA5}">
                      <a16:colId xmlns:a16="http://schemas.microsoft.com/office/drawing/2014/main" val="4151516255"/>
                    </a:ext>
                  </a:extLst>
                </a:gridCol>
              </a:tblGrid>
              <a:tr h="760000">
                <a:tc>
                  <a:txBody>
                    <a:bodyPr/>
                    <a:lstStyle/>
                    <a:p>
                      <a:pPr>
                        <a:buNone/>
                        <a:defRPr sz="1000"/>
                      </a:pPr>
                      <a:r>
                        <a:rPr lang="en-SG" b="1"/>
                        <a:t>Team Member</a:t>
                      </a:r>
                    </a:p>
                  </a:txBody>
                  <a:tcPr anchor="ctr"/>
                </a:tc>
                <a:tc>
                  <a:txBody>
                    <a:bodyPr/>
                    <a:lstStyle/>
                    <a:p>
                      <a:pPr>
                        <a:buNone/>
                        <a:defRPr sz="1000"/>
                      </a:pPr>
                      <a:r>
                        <a:rPr lang="en-SG" b="1"/>
                        <a:t>Main Areas Worked On</a:t>
                      </a:r>
                    </a:p>
                  </a:txBody>
                  <a:tcPr anchor="ctr"/>
                </a:tc>
                <a:tc>
                  <a:txBody>
                    <a:bodyPr/>
                    <a:lstStyle/>
                    <a:p>
                      <a:pPr>
                        <a:buNone/>
                        <a:defRPr sz="1000"/>
                      </a:pPr>
                      <a:r>
                        <a:rPr lang="en-SG" b="1"/>
                        <a:t>Contribution (share of commits)</a:t>
                      </a:r>
                    </a:p>
                  </a:txBody>
                  <a:tcPr anchor="ctr"/>
                </a:tc>
                <a:tc>
                  <a:txBody>
                    <a:bodyPr/>
                    <a:lstStyle/>
                    <a:p>
                      <a:pPr>
                        <a:buNone/>
                        <a:defRPr sz="1000"/>
                      </a:pPr>
                      <a:r>
                        <a:rPr lang="en-SG" b="1"/>
                        <a:t>Code/PR Examples</a:t>
                      </a:r>
                    </a:p>
                  </a:txBody>
                  <a:tcPr anchor="ctr"/>
                </a:tc>
                <a:tc>
                  <a:txBody>
                    <a:bodyPr/>
                    <a:lstStyle/>
                    <a:p>
                      <a:pPr>
                        <a:buNone/>
                        <a:defRPr sz="1000"/>
                      </a:pPr>
                      <a:r>
                        <a:rPr lang="en-SG" b="1"/>
                        <a:t>Other Contributions</a:t>
                      </a:r>
                    </a:p>
                  </a:txBody>
                  <a:tcPr anchor="ctr"/>
                </a:tc>
                <a:extLst>
                  <a:ext uri="{0D108BD9-81ED-4DB2-BD59-A6C34878D82A}">
                    <a16:rowId xmlns:a16="http://schemas.microsoft.com/office/drawing/2014/main" val="2577844508"/>
                  </a:ext>
                </a:extLst>
              </a:tr>
              <a:tr h="630000">
                <a:tc>
                  <a:txBody>
                    <a:bodyPr/>
                    <a:lstStyle/>
                    <a:p>
                      <a:pPr>
                        <a:defRPr sz="800"/>
                      </a:pPr>
                      <a:r>
                        <a:rPr lang="en-SG"/>
                        <a:t>Bryan Seah (bryanseah234)</a:t>
                      </a:r>
                    </a:p>
                  </a:txBody>
                  <a:tcPr anchor="ctr"/>
                </a:tc>
                <a:tc>
                  <a:txBody>
                    <a:bodyPr/>
                    <a:lstStyle/>
                    <a:p>
                      <a:pPr>
                        <a:defRPr sz="800"/>
                      </a:pPr>
                      <a:r>
                        <a:rPr lang="en-SG"/>
                        <a:t>CI/CD and tooling, Git strategy, PostPlan, architecture, cross-cutting fixes</a:t>
                      </a:r>
                    </a:p>
                  </a:txBody>
                  <a:tcPr anchor="ctr"/>
                </a:tc>
                <a:tc>
                  <a:txBody>
                    <a:bodyPr/>
                    <a:lstStyle/>
                    <a:p>
                      <a:pPr>
                        <a:defRPr sz="800"/>
                      </a:pPr>
                      <a:r>
                        <a:rPr lang="en-SG"/>
                        <a:t>49%</a:t>
                      </a:r>
                    </a:p>
                  </a:txBody>
                  <a:tcPr anchor="ctr"/>
                </a:tc>
                <a:tc>
                  <a:txBody>
                    <a:bodyPr/>
                    <a:lstStyle/>
                    <a:p>
                      <a:pPr>
                        <a:defRPr sz="800"/>
                      </a:pPr>
                      <a:r>
                        <a:rPr lang="en-SG"/>
                        <a:t>PR #96, #108, #205, #370, #371, #373</a:t>
                      </a:r>
                    </a:p>
                  </a:txBody>
                  <a:tcPr anchor="ctr"/>
                </a:tc>
                <a:tc>
                  <a:txBody>
                    <a:bodyPr/>
                    <a:lstStyle/>
                    <a:p>
                      <a:pPr>
                        <a:defRPr sz="800"/>
                      </a:pPr>
                      <a:r>
                        <a:rPr lang="en-SG"/>
                        <a:t>PostPlan dashboards, Jira reconciliation, .env generator</a:t>
                      </a:r>
                    </a:p>
                  </a:txBody>
                  <a:tcPr anchor="ctr"/>
                </a:tc>
              </a:tr>
              <a:tr h="630000">
                <a:tc>
                  <a:txBody>
                    <a:bodyPr/>
                    <a:lstStyle/>
                    <a:p>
                      <a:pPr>
                        <a:defRPr sz="800"/>
                      </a:pPr>
                      <a:r>
                        <a:rPr lang="en-SG"/>
                        <a:t>Ji Ning (jininggg)</a:t>
                      </a:r>
                    </a:p>
                  </a:txBody>
                  <a:tcPr anchor="ctr"/>
                </a:tc>
                <a:tc>
                  <a:txBody>
                    <a:bodyPr/>
                    <a:lstStyle/>
                    <a:p>
                      <a:pPr>
                        <a:defRPr sz="800"/>
                      </a:pPr>
                      <a:r>
                        <a:rPr lang="en-SG"/>
                        <a:t>Venue management, booking workflows, near-match scoring, lost-venue recovery</a:t>
                      </a:r>
                    </a:p>
                  </a:txBody>
                  <a:tcPr anchor="ctr"/>
                </a:tc>
                <a:tc>
                  <a:txBody>
                    <a:bodyPr/>
                    <a:lstStyle/>
                    <a:p>
                      <a:pPr>
                        <a:defRPr sz="800"/>
                      </a:pPr>
                      <a:r>
                        <a:rPr lang="en-SG"/>
                        <a:t>7%</a:t>
                      </a:r>
                    </a:p>
                  </a:txBody>
                  <a:tcPr anchor="ctr"/>
                </a:tc>
                <a:tc>
                  <a:txBody>
                    <a:bodyPr/>
                    <a:lstStyle/>
                    <a:p>
                      <a:pPr>
                        <a:defRPr sz="800"/>
                      </a:pPr>
                      <a:r>
                        <a:rPr lang="en-SG"/>
                        <a:t>PR #143, #242, #299, #300, #367</a:t>
                      </a:r>
                    </a:p>
                  </a:txBody>
                  <a:tcPr anchor="ctr"/>
                </a:tc>
                <a:tc>
                  <a:txBody>
                    <a:bodyPr/>
                    <a:lstStyle/>
                    <a:p>
                      <a:pPr>
                        <a:defRPr sz="800"/>
                      </a:pPr>
                      <a:r>
                        <a:rPr lang="en-SG"/>
                        <a:t>Near-match venue decision T-63, manual run records</a:t>
                      </a:r>
                    </a:p>
                  </a:txBody>
                  <a:tcPr anchor="ctr"/>
                </a:tc>
              </a:tr>
              <a:tr h="630000">
                <a:tc>
                  <a:txBody>
                    <a:bodyPr/>
                    <a:lstStyle/>
                    <a:p>
                      <a:pPr>
                        <a:defRPr sz="800"/>
                      </a:pPr>
                      <a:r>
                        <a:rPr lang="en-SG"/>
                        <a:t>Aaron Koh (aaronkwk / Bl0oper)</a:t>
                      </a:r>
                    </a:p>
                  </a:txBody>
                  <a:tcPr anchor="ctr"/>
                </a:tc>
                <a:tc>
                  <a:txBody>
                    <a:bodyPr/>
                    <a:lstStyle/>
                    <a:p>
                      <a:pPr>
                        <a:defRPr sz="800"/>
                      </a:pPr>
                      <a:r>
                        <a:rPr lang="en-SG"/>
                        <a:t>Event request approval and rejection, equipment reservation and unavailability, safety review submission, venue buffer form, registration withdrawal</a:t>
                      </a:r>
                    </a:p>
                  </a:txBody>
                  <a:tcPr anchor="ctr"/>
                </a:tc>
                <a:tc>
                  <a:txBody>
                    <a:bodyPr/>
                    <a:lstStyle/>
                    <a:p>
                      <a:pPr>
                        <a:defRPr sz="800"/>
                      </a:pPr>
                      <a:r>
                        <a:rPr lang="en-SG"/>
                        <a:t>10%</a:t>
                      </a:r>
                    </a:p>
                  </a:txBody>
                  <a:tcPr anchor="ctr"/>
                </a:tc>
                <a:tc>
                  <a:txBody>
                    <a:bodyPr/>
                    <a:lstStyle/>
                    <a:p>
                      <a:pPr>
                        <a:defRPr sz="800"/>
                      </a:pPr>
                      <a:r>
                        <a:rPr lang="en-SG"/>
                        <a:t>PR #174, #236, #283, #328, #361</a:t>
                      </a:r>
                    </a:p>
                  </a:txBody>
                  <a:tcPr anchor="ctr"/>
                </a:tc>
                <a:tc>
                  <a:txBody>
                    <a:bodyPr/>
                    <a:lstStyle/>
                    <a:p>
                      <a:pPr>
                        <a:defRPr sz="800"/>
                      </a:pPr>
                      <a:r>
                        <a:rPr lang="en-SG"/>
                        <a:t>Backend request and safety-review workflows, their manual evidence</a:t>
                      </a:r>
                    </a:p>
                  </a:txBody>
                  <a:tcPr anchor="ctr"/>
                </a:tc>
              </a:tr>
              <a:tr h="630000">
                <a:tc>
                  <a:txBody>
                    <a:bodyPr/>
                    <a:lstStyle/>
                    <a:p>
                      <a:pPr>
                        <a:defRPr sz="800"/>
                      </a:pPr>
                      <a:r>
                        <a:rPr lang="en-SG"/>
                        <a:t>Lexin Phun (lexinphun2024)</a:t>
                      </a:r>
                    </a:p>
                  </a:txBody>
                  <a:tcPr anchor="ctr"/>
                </a:tc>
                <a:tc>
                  <a:txBody>
                    <a:bodyPr/>
                    <a:lstStyle/>
                    <a:p>
                      <a:pPr>
                        <a:defRPr sz="800"/>
                      </a:pPr>
                      <a:r>
                        <a:rPr lang="en-SG"/>
                        <a:t>Venue catalogue, calendar and maintenance blocks, activity log, booking decisions, venue unavailability</a:t>
                      </a:r>
                    </a:p>
                  </a:txBody>
                  <a:tcPr anchor="ctr"/>
                </a:tc>
                <a:tc>
                  <a:txBody>
                    <a:bodyPr/>
                    <a:lstStyle/>
                    <a:p>
                      <a:pPr>
                        <a:defRPr sz="800"/>
                      </a:pPr>
                      <a:r>
                        <a:rPr lang="en-SG"/>
                        <a:t>9%</a:t>
                      </a:r>
                    </a:p>
                  </a:txBody>
                  <a:tcPr anchor="ctr"/>
                </a:tc>
                <a:tc>
                  <a:txBody>
                    <a:bodyPr/>
                    <a:lstStyle/>
                    <a:p>
                      <a:pPr>
                        <a:defRPr sz="800"/>
                      </a:pPr>
                      <a:r>
                        <a:rPr lang="en-SG"/>
                        <a:t>PR #88, #134, #151, #190, #298, #348, #349</a:t>
                      </a:r>
                    </a:p>
                  </a:txBody>
                  <a:tcPr anchor="ctr"/>
                </a:tc>
                <a:tc>
                  <a:txBody>
                    <a:bodyPr/>
                    <a:lstStyle/>
                    <a:p>
                      <a:pPr>
                        <a:defRPr sz="800"/>
                      </a:pPr>
                      <a:r>
                        <a:rPr lang="en-SG"/>
                        <a:t>Migration 0025 (venue unavailability), manual run records</a:t>
                      </a:r>
                    </a:p>
                  </a:txBody>
                  <a:tcPr anchor="ctr"/>
                </a:tc>
              </a:tr>
              <a:tr h="630000">
                <a:tc>
                  <a:txBody>
                    <a:bodyPr/>
                    <a:lstStyle/>
                    <a:p>
                      <a:pPr>
                        <a:defRPr sz="800"/>
                      </a:pPr>
                      <a:r>
                        <a:rPr lang="en-SG"/>
                        <a:t>Xiang Ying (xiangyingg)</a:t>
                      </a:r>
                    </a:p>
                  </a:txBody>
                  <a:tcPr anchor="ctr"/>
                </a:tc>
                <a:tc>
                  <a:txBody>
                    <a:bodyPr/>
                    <a:lstStyle/>
                    <a:p>
                      <a:pPr>
                        <a:defRPr sz="800"/>
                      </a:pPr>
                      <a:r>
                        <a:rPr lang="en-SG"/>
                        <a:t>Event status history, comments and updates, equipment catalogue and availability, event cancellation, automatic completion, attendance</a:t>
                      </a:r>
                    </a:p>
                  </a:txBody>
                  <a:tcPr anchor="ctr"/>
                </a:tc>
                <a:tc>
                  <a:txBody>
                    <a:bodyPr/>
                    <a:lstStyle/>
                    <a:p>
                      <a:pPr>
                        <a:defRPr sz="800"/>
                      </a:pPr>
                      <a:r>
                        <a:rPr lang="en-SG"/>
                        <a:t>8%</a:t>
                      </a:r>
                    </a:p>
                  </a:txBody>
                  <a:tcPr anchor="ctr"/>
                </a:tc>
                <a:tc>
                  <a:txBody>
                    <a:bodyPr/>
                    <a:lstStyle/>
                    <a:p>
                      <a:pPr>
                        <a:defRPr sz="800"/>
                      </a:pPr>
                      <a:r>
                        <a:rPr lang="en-SG"/>
                        <a:t>PR #214, #216, #229, #320, #324, #343, #363, #365</a:t>
                      </a:r>
                    </a:p>
                  </a:txBody>
                  <a:tcPr anchor="ctr"/>
                </a:tc>
                <a:tc>
                  <a:txBody>
                    <a:bodyPr/>
                    <a:lstStyle/>
                    <a:p>
                      <a:pPr>
                        <a:defRPr sz="800"/>
                      </a:pPr>
                      <a:r>
                        <a:rPr lang="en-SG"/>
                        <a:t>Manual screenshot records for E07-S01..S03, E10-S04, E08-S05</a:t>
                      </a:r>
                    </a:p>
                  </a:txBody>
                  <a:tcPr anchor="ctr"/>
                </a:tc>
              </a:tr>
              <a:tr h="630000">
                <a:tc>
                  <a:txBody>
                    <a:bodyPr/>
                    <a:lstStyle/>
                    <a:p>
                      <a:pPr>
                        <a:defRPr sz="800"/>
                      </a:pPr>
                      <a:r>
                        <a:rPr lang="en-SG"/>
                        <a:t>Amareet (amareetkm2024-del)</a:t>
                      </a:r>
                    </a:p>
                  </a:txBody>
                  <a:tcPr anchor="ctr"/>
                </a:tc>
                <a:tc>
                  <a:txBody>
                    <a:bodyPr/>
                    <a:lstStyle/>
                    <a:p>
                      <a:pPr>
                        <a:defRPr sz="800"/>
                      </a:pPr>
                      <a:r>
                        <a:rPr lang="en-SG"/>
                        <a:t>Frontend platform (routing, shell, templates), technical support, tentative holds, registration and capacity</a:t>
                      </a:r>
                    </a:p>
                  </a:txBody>
                  <a:tcPr anchor="ctr"/>
                </a:tc>
                <a:tc>
                  <a:txBody>
                    <a:bodyPr/>
                    <a:lstStyle/>
                    <a:p>
                      <a:pPr>
                        <a:defRPr sz="800"/>
                      </a:pPr>
                      <a:r>
                        <a:rPr lang="en-SG"/>
                        <a:t>17%</a:t>
                      </a:r>
                    </a:p>
                  </a:txBody>
                  <a:tcPr anchor="ctr"/>
                </a:tc>
                <a:tc>
                  <a:txBody>
                    <a:bodyPr/>
                    <a:lstStyle/>
                    <a:p>
                      <a:pPr>
                        <a:defRPr sz="800"/>
                      </a:pPr>
                      <a:r>
                        <a:rPr lang="en-SG"/>
                        <a:t>PR #171, #172, #173, #245, #252, #326, #327, #353, #366, #368</a:t>
                      </a:r>
                    </a:p>
                  </a:txBody>
                  <a:tcPr anchor="ctr"/>
                </a:tc>
                <a:tc>
                  <a:txBody>
                    <a:bodyPr/>
                    <a:lstStyle/>
                    <a:p>
                      <a:pPr>
                        <a:defRPr sz="800"/>
                      </a:pPr>
                      <a:r>
                        <a:rPr lang="en-SG"/>
                        <a:t>E09 manual run records and screenshots</a:t>
                      </a:r>
                    </a:p>
                  </a:txBody>
                  <a:tcPr anchor="ctr"/>
                </a:tc>
              </a:tr>
            </a:tbl>
          </a:graphicData>
        </a:graphic>
      </p:graphicFrame>
    </p:spTree>
    <p:extLst>
      <p:ext uri="{BB962C8B-B14F-4D97-AF65-F5344CB8AC3E}">
        <p14:creationId xmlns:p14="http://schemas.microsoft.com/office/powerpoint/2010/main" val="32252454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6605B-4DBE-194E-33BC-9053DA302A4A}"/>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8B08CC57-8B55-6D81-5798-9356D8FB6A9A}"/>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Anything Else?</a:t>
            </a:r>
          </a:p>
        </p:txBody>
      </p:sp>
      <p:sp>
        <p:nvSpPr>
          <p:cNvPr id="4" name="TextBox 3">
            <a:extLst>
              <a:ext uri="{FF2B5EF4-FFF2-40B4-BE49-F238E27FC236}">
                <a16:creationId xmlns:a16="http://schemas.microsoft.com/office/drawing/2014/main" id="{6313351F-AF89-CE0A-C10A-68A536A990F8}"/>
              </a:ext>
            </a:extLst>
          </p:cNvPr>
          <p:cNvSpPr txBox="1"/>
          <p:nvPr/>
        </p:nvSpPr>
        <p:spPr>
          <a:xfrm>
            <a:off x="205647" y="1514031"/>
            <a:ext cx="11582402" cy="369332"/>
          </a:xfrm>
          <a:prstGeom prst="rect">
            <a:avLst/>
          </a:prstGeom>
          <a:noFill/>
        </p:spPr>
        <p:txBody>
          <a:bodyPr wrap="square">
            <a:spAutoFit/>
          </a:bodyPr>
          <a:lstStyle/>
          <a:p>
            <a:pPr marL="285750" indent="-285750">
              <a:buFont typeface="Arial" panose="020B0604020202020204" pitchFamily="34" charset="0"/>
              <a:buChar char="•"/>
            </a:pPr>
            <a:r>
              <a:rPr lang="en-SG"/>
              <a:t>Anything else you would like us to know about your project, process, or otherwise? (It’s OK to put “N/A” here.)</a:t>
            </a:r>
          </a:p>
        </p:txBody>
      </p:sp>
      <p:sp>
        <p:nvSpPr>
          <p:cNvPr id="3" name="TextBox 2">
            <a:extLst>
              <a:ext uri="{FF2B5EF4-FFF2-40B4-BE49-F238E27FC236}">
                <a16:creationId xmlns:a16="http://schemas.microsoft.com/office/drawing/2014/main" id="{D1FA7233-CCEA-9AC1-8886-A623D9DAA8CA}"/>
              </a:ext>
            </a:extLst>
          </p:cNvPr>
          <p:cNvSpPr txBox="1"/>
          <p:nvPr/>
        </p:nvSpPr>
        <p:spPr>
          <a:xfrm>
            <a:off x="205646" y="2224898"/>
            <a:ext cx="11582403" cy="1200329"/>
          </a:xfrm>
          <a:prstGeom prst="rect">
            <a:avLst/>
          </a:prstGeom>
          <a:solidFill>
            <a:schemeClr val="accent1">
              <a:lumMod val="40000"/>
              <a:lumOff val="60000"/>
            </a:schemeClr>
          </a:solidFill>
        </p:spPr>
        <p:txBody>
          <a:bodyPr wrap="square" rtlCol="0">
            <a:spAutoFit/>
          </a:bodyPr>
          <a:lstStyle/>
          <a:p>
            <a:pPr>
              <a:defRPr sz="1200"/>
            </a:pPr>
            <a:r>
              <a:t>• Public Interactive PostPlan Dashboard: Live Sprint 1–4 burndown, velocity and scope tracking is published at https://5p9t29p9jotq.postplan.dev (Draft ID: 5p9t29p9jotq), verified by check_postplan_html.py.</a:t>
            </a:r>
          </a:p>
          <a:p>
            <a:r>
              <a:t>• Definition of Done (T-65/T-93): Done stories are never reopened and every accepted story carries a recorded manual run (739 in docs/testing/runs/). Changed code is unit-tested to the 100% rule in review; open follow-ups are tracked, not hidden.</a:t>
            </a:r>
          </a:p>
          <a:p>
            <a:r>
              <a:t>• Sustainable Velocity: Delivered 24 pts (S1), 40 pts (S2), 34 pts (S3), and 50 pts (S4 to date) of clean, robust product functionality without skipping review or compromising main branch stability.</a:t>
            </a:r>
          </a:p>
        </p:txBody>
      </p:sp>
    </p:spTree>
    <p:extLst>
      <p:ext uri="{BB962C8B-B14F-4D97-AF65-F5344CB8AC3E}">
        <p14:creationId xmlns:p14="http://schemas.microsoft.com/office/powerpoint/2010/main" val="21941794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115A7-5F7B-7945-BCFB-349D8B337F1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63DD74E-E046-BF6D-CFE2-624693B19FE6}"/>
              </a:ext>
            </a:extLst>
          </p:cNvPr>
          <p:cNvSpPr txBox="1">
            <a:spLocks noChangeArrowheads="1"/>
          </p:cNvSpPr>
          <p:nvPr/>
        </p:nvSpPr>
        <p:spPr>
          <a:xfrm>
            <a:off x="3350446" y="3242176"/>
            <a:ext cx="7772400" cy="1696364"/>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b="1">
                <a:solidFill>
                  <a:schemeClr val="accent4">
                    <a:lumMod val="75000"/>
                  </a:schemeClr>
                </a:solidFill>
                <a:cs typeface="Arial"/>
              </a:rPr>
              <a:t>End of Submission</a:t>
            </a:r>
            <a:endParaRPr lang="en-US" altLang="en-US" b="1">
              <a:solidFill>
                <a:schemeClr val="accent4">
                  <a:lumMod val="75000"/>
                </a:schemeClr>
              </a:solidFill>
            </a:endParaRPr>
          </a:p>
          <a:p>
            <a:pPr>
              <a:defRPr/>
            </a:pPr>
            <a:endParaRPr lang="en-US" altLang="en-US" b="1">
              <a:solidFill>
                <a:schemeClr val="accent4">
                  <a:lumMod val="75000"/>
                </a:schemeClr>
              </a:solidFill>
            </a:endParaRPr>
          </a:p>
          <a:p>
            <a:pPr>
              <a:defRPr/>
            </a:pPr>
            <a:r>
              <a:rPr lang="en-US" altLang="en-US" sz="2400" b="1">
                <a:solidFill>
                  <a:schemeClr val="accent4">
                    <a:lumMod val="75000"/>
                  </a:schemeClr>
                </a:solidFill>
              </a:rPr>
              <a:t>No further slides beyond this point.</a:t>
            </a:r>
            <a:endParaRPr lang="en-US" sz="2400">
              <a:solidFill>
                <a:schemeClr val="accent4">
                  <a:lumMod val="75000"/>
                </a:schemeClr>
              </a:solidFill>
              <a:cs typeface="Arial"/>
            </a:endParaRPr>
          </a:p>
        </p:txBody>
      </p:sp>
    </p:spTree>
    <p:extLst>
      <p:ext uri="{BB962C8B-B14F-4D97-AF65-F5344CB8AC3E}">
        <p14:creationId xmlns:p14="http://schemas.microsoft.com/office/powerpoint/2010/main" val="25095157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Comment xmlns="1b6a39ee-1380-4096-9882-8248104ba7f7" xsi:nil="true"/>
    <TaxCatchAll xmlns="4604cec2-e769-4190-9d56-5d48f74b6442" xsi:nil="true"/>
    <lcf76f155ced4ddcb4097134ff3c332f xmlns="1b6a39ee-1380-4096-9882-8248104ba7f7">
      <Terms xmlns="http://schemas.microsoft.com/office/infopath/2007/PartnerControls"/>
    </lcf76f155ced4ddcb4097134ff3c332f>
    <_Flow_SignoffStatus xmlns="1b6a39ee-1380-4096-9882-8248104ba7f7" xsi:nil="true"/>
    <_ip_UnifiedCompliancePolicyUIAction xmlns="http://schemas.microsoft.com/sharepoint/v3"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C6AD1B51FFACD45B62528B91A79C429" ma:contentTypeVersion="23" ma:contentTypeDescription="Create a new document." ma:contentTypeScope="" ma:versionID="97ba3a6a0b227a1012b29520f700b4dc">
  <xsd:schema xmlns:xsd="http://www.w3.org/2001/XMLSchema" xmlns:xs="http://www.w3.org/2001/XMLSchema" xmlns:p="http://schemas.microsoft.com/office/2006/metadata/properties" xmlns:ns1="http://schemas.microsoft.com/sharepoint/v3" xmlns:ns2="1b6a39ee-1380-4096-9882-8248104ba7f7" xmlns:ns3="4604cec2-e769-4190-9d56-5d48f74b6442" targetNamespace="http://schemas.microsoft.com/office/2006/metadata/properties" ma:root="true" ma:fieldsID="22b11cefbfdf0abf8862b3c24cf41bb4" ns1:_="" ns2:_="" ns3:_="">
    <xsd:import namespace="http://schemas.microsoft.com/sharepoint/v3"/>
    <xsd:import namespace="1b6a39ee-1380-4096-9882-8248104ba7f7"/>
    <xsd:import namespace="4604cec2-e769-4190-9d56-5d48f74b6442"/>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LengthInSeconds" minOccurs="0"/>
                <xsd:element ref="ns2:Comment" minOccurs="0"/>
                <xsd:element ref="ns2:lcf76f155ced4ddcb4097134ff3c332f" minOccurs="0"/>
                <xsd:element ref="ns3:TaxCatchAll" minOccurs="0"/>
                <xsd:element ref="ns2:_Flow_SignoffStatus" minOccurs="0"/>
                <xsd:element ref="ns1:_ip_UnifiedCompliancePolicyProperties" minOccurs="0"/>
                <xsd:element ref="ns1:_ip_UnifiedCompliancePolicyUIAc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6" nillable="true" ma:displayName="Unified Compliance Policy Properties" ma:hidden="true" ma:internalName="_ip_UnifiedCompliancePolicyProperties">
      <xsd:simpleType>
        <xsd:restriction base="dms:Note"/>
      </xsd:simpleType>
    </xsd:element>
    <xsd:element name="_ip_UnifiedCompliancePolicyUIAction" ma:index="2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b6a39ee-1380-4096-9882-8248104ba7f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Comment" ma:index="21" nillable="true" ma:displayName="Comment" ma:description="What was the last change about" ma:format="Dropdown" ma:internalName="Comment">
      <xsd:simpleType>
        <xsd:restriction base="dms:Text">
          <xsd:maxLength value="255"/>
        </xsd:restrictio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deec61d7-21c4-46ea-8069-5c692c33a4c8" ma:termSetId="09814cd3-568e-fe90-9814-8d621ff8fb84" ma:anchorId="fba54fb3-c3e1-fe81-a776-ca4b69148c4d" ma:open="true" ma:isKeyword="false">
      <xsd:complexType>
        <xsd:sequence>
          <xsd:element ref="pc:Terms" minOccurs="0" maxOccurs="1"/>
        </xsd:sequence>
      </xsd:complexType>
    </xsd:element>
    <xsd:element name="_Flow_SignoffStatus" ma:index="25" nillable="true" ma:displayName="Sign-off status" ma:internalName="Sign_x002d_off_x0020_status">
      <xsd:simpleType>
        <xsd:restriction base="dms:Text"/>
      </xsd:simple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604cec2-e769-4190-9d56-5d48f74b6442"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9943aed9-ec56-40d8-95cb-c4327e5e8870}" ma:internalName="TaxCatchAll" ma:showField="CatchAllData" ma:web="4604cec2-e769-4190-9d56-5d48f74b644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9BA482B-8E6A-4742-9540-4D6310874565}">
  <ds:schemaRefs>
    <ds:schemaRef ds:uri="http://schemas.microsoft.com/office/infopath/2007/PartnerControls"/>
    <ds:schemaRef ds:uri="http://www.w3.org/XML/1998/namespace"/>
    <ds:schemaRef ds:uri="http://schemas.microsoft.com/sharepoint/v3"/>
    <ds:schemaRef ds:uri="http://schemas.openxmlformats.org/package/2006/metadata/core-properties"/>
    <ds:schemaRef ds:uri="http://schemas.microsoft.com/office/2006/documentManagement/types"/>
    <ds:schemaRef ds:uri="1b6a39ee-1380-4096-9882-8248104ba7f7"/>
    <ds:schemaRef ds:uri="http://purl.org/dc/dcmitype/"/>
    <ds:schemaRef ds:uri="http://purl.org/dc/terms/"/>
    <ds:schemaRef ds:uri="4604cec2-e769-4190-9d56-5d48f74b6442"/>
    <ds:schemaRef ds:uri="http://schemas.microsoft.com/office/2006/metadata/properties"/>
    <ds:schemaRef ds:uri="http://purl.org/dc/elements/1.1/"/>
  </ds:schemaRefs>
</ds:datastoreItem>
</file>

<file path=customXml/itemProps2.xml><?xml version="1.0" encoding="utf-8"?>
<ds:datastoreItem xmlns:ds="http://schemas.openxmlformats.org/officeDocument/2006/customXml" ds:itemID="{D059D256-26B8-4B06-8428-E58DD814FD47}">
  <ds:schemaRefs>
    <ds:schemaRef ds:uri="1b6a39ee-1380-4096-9882-8248104ba7f7"/>
    <ds:schemaRef ds:uri="4604cec2-e769-4190-9d56-5d48f74b64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A3786A0-5047-42B7-BF02-BFA2F5340D8E}">
  <ds:schemaRefs>
    <ds:schemaRef ds:uri="http://schemas.microsoft.com/sharepoint/v3/contenttype/forms"/>
  </ds:schemaRefs>
</ds:datastoreItem>
</file>

<file path=docMetadata/LabelInfo.xml><?xml version="1.0" encoding="utf-8"?>
<clbl:labelList xmlns:clbl="http://schemas.microsoft.com/office/2020/mipLabelMetadata">
  <clbl:label id="{6951d41b-6b8e-4636-984f-012bff14ba18}" enabled="1" method="Standard" siteId="{c98a79ca-5a9a-4791-a243-f06afd67464d}" contentBits="1" removed="0"/>
</clbl:labelList>
</file>

<file path=docProps/app.xml><?xml version="1.0" encoding="utf-8"?>
<Properties xmlns="http://schemas.openxmlformats.org/officeDocument/2006/extended-properties" xmlns:vt="http://schemas.openxmlformats.org/officeDocument/2006/docPropsVTypes">
  <TotalTime>0</TotalTime>
  <Words>1096</Words>
  <Application>Microsoft Macintosh PowerPoint</Application>
  <PresentationFormat>Widescreen</PresentationFormat>
  <Paragraphs>166</Paragraphs>
  <Slides>17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Elvin NG Pei Xiong</dc:creator>
  <cp:lastModifiedBy>Christopher Michael POSKITT</cp:lastModifiedBy>
  <cp:revision>1</cp:revision>
  <cp:lastPrinted>2019-02-17T06:12:58Z</cp:lastPrinted>
  <dcterms:created xsi:type="dcterms:W3CDTF">2018-11-21T01:52:47Z</dcterms:created>
  <dcterms:modified xsi:type="dcterms:W3CDTF">2026-10-26T09:05:25Z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0x0101000C6AD1B51FFACD45B62528B91A79C429</vt:lpwstr>
  </property>
  <property fmtid="{D5CDD505-2E9C-101B-9397-08002B2CF9AE}" pid="3" name="MSIP_Label_6951d41b-6b8e-4636-984f-012bff14ba18_Enabled">
    <vt:lpwstr>true</vt:lpwstr>
  </property>
  <property fmtid="{D5CDD505-2E9C-101B-9397-08002B2CF9AE}" pid="4" name="MSIP_Label_6951d41b-6b8e-4636-984f-012bff14ba18_SetDate">
    <vt:lpwstr>2024-01-10T15:46:52Z</vt:lpwstr>
  </property>
  <property fmtid="{D5CDD505-2E9C-101B-9397-08002B2CF9AE}" pid="5" name="MSIP_Label_6951d41b-6b8e-4636-984f-012bff14ba18_Method">
    <vt:lpwstr>Standard</vt:lpwstr>
  </property>
  <property fmtid="{D5CDD505-2E9C-101B-9397-08002B2CF9AE}" pid="6" name="MSIP_Label_6951d41b-6b8e-4636-984f-012bff14ba18_Name">
    <vt:lpwstr>6951d41b-6b8e-4636-984f-012bff14ba18</vt:lpwstr>
  </property>
  <property fmtid="{D5CDD505-2E9C-101B-9397-08002B2CF9AE}" pid="7" name="MSIP_Label_6951d41b-6b8e-4636-984f-012bff14ba18_SiteId">
    <vt:lpwstr>c98a79ca-5a9a-4791-a243-f06afd67464d</vt:lpwstr>
  </property>
  <property fmtid="{D5CDD505-2E9C-101B-9397-08002B2CF9AE}" pid="8" name="MSIP_Label_6951d41b-6b8e-4636-984f-012bff14ba18_ActionId">
    <vt:lpwstr>b2a5d541-db84-4a2c-9bb8-f4a78a6fa8c8</vt:lpwstr>
  </property>
  <property fmtid="{D5CDD505-2E9C-101B-9397-08002B2CF9AE}" pid="9" name="MSIP_Label_6951d41b-6b8e-4636-984f-012bff14ba18_ContentBits">
    <vt:lpwstr>1</vt:lpwstr>
  </property>
  <property fmtid="{D5CDD505-2E9C-101B-9397-08002B2CF9AE}" pid="10" name="MediaServiceImageTags">
    <vt:lpwstr/>
  </property>
</Properties>
</file>